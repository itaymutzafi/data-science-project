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72" r:id="rId4"/>
    <p:sldId id="259" r:id="rId5"/>
    <p:sldId id="261" r:id="rId6"/>
    <p:sldId id="258" r:id="rId7"/>
    <p:sldId id="263" r:id="rId8"/>
    <p:sldId id="260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71" r:id="rId30"/>
    <p:sldId id="286" r:id="rId31"/>
    <p:sldId id="285" r:id="rId3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58C5E-D155-405C-B3CE-9DE3D762E471}" type="datetimeFigureOut">
              <a:rPr lang="he-IL" smtClean="0"/>
              <a:t>כ"ט/תשרי/תשפ"ו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B3B88-B285-476D-9599-8EDE777B7B8F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isi.unitn.it/~p2p/RelatedWork/Matching/JoDS-IV-2005_SurveyMatching-SE.pdf" TargetMode="External"/><Relationship Id="rId2" Type="http://schemas.openxmlformats.org/officeDocument/2006/relationships/hyperlink" Target="http://dbs.uni-leipzig.de/file/VLDBJ-Dec2001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danielde@post.tau.ac.i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://datacatalog.worldbank.or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in Data Science	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Daniel </a:t>
            </a:r>
            <a:r>
              <a:rPr lang="en-US" dirty="0" err="1"/>
              <a:t>Deutch</a:t>
            </a:r>
            <a:endParaRPr lang="en-US" dirty="0"/>
          </a:p>
          <a:p>
            <a:r>
              <a:rPr lang="en-US" dirty="0"/>
              <a:t>Omer </a:t>
            </a:r>
            <a:r>
              <a:rPr lang="en-US" dirty="0" err="1"/>
              <a:t>Abramovich</a:t>
            </a:r>
            <a:endParaRPr lang="he-I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In one sentence: gain </a:t>
            </a:r>
            <a:r>
              <a:rPr lang="en-US" dirty="0">
                <a:solidFill>
                  <a:srgbClr val="FF0000"/>
                </a:solidFill>
              </a:rPr>
              <a:t>insights</a:t>
            </a:r>
            <a:r>
              <a:rPr lang="en-US" dirty="0"/>
              <a:t> from data</a:t>
            </a:r>
          </a:p>
          <a:p>
            <a:pPr algn="l" rtl="0"/>
            <a:r>
              <a:rPr lang="en-US" dirty="0"/>
              <a:t>Either </a:t>
            </a:r>
            <a:r>
              <a:rPr lang="en-US" dirty="0">
                <a:solidFill>
                  <a:srgbClr val="FF0000"/>
                </a:solidFill>
              </a:rPr>
              <a:t>explain </a:t>
            </a:r>
            <a:r>
              <a:rPr lang="en-US" dirty="0"/>
              <a:t>a phenomenon or trend or </a:t>
            </a:r>
            <a:r>
              <a:rPr lang="en-US" dirty="0">
                <a:solidFill>
                  <a:srgbClr val="FF0000"/>
                </a:solidFill>
              </a:rPr>
              <a:t>predict </a:t>
            </a:r>
            <a:r>
              <a:rPr lang="en-US" dirty="0"/>
              <a:t>them</a:t>
            </a:r>
          </a:p>
          <a:p>
            <a:pPr lvl="1" algn="l" rtl="0"/>
            <a:r>
              <a:rPr lang="en-US" dirty="0"/>
              <a:t>Typically</a:t>
            </a:r>
            <a:r>
              <a:rPr lang="en-US" dirty="0">
                <a:solidFill>
                  <a:srgbClr val="FF0000"/>
                </a:solidFill>
              </a:rPr>
              <a:t> both</a:t>
            </a:r>
          </a:p>
          <a:p>
            <a:pPr algn="l" rtl="0"/>
            <a:r>
              <a:rPr lang="en-US" dirty="0"/>
              <a:t>Techniques include a mix from databases/data mining, Machine Learning and statistics</a:t>
            </a:r>
          </a:p>
          <a:p>
            <a:pPr lvl="1" algn="l" rtl="0"/>
            <a:r>
              <a:rPr lang="en-US" dirty="0"/>
              <a:t>Considered an interdisciplinary profession</a:t>
            </a:r>
          </a:p>
          <a:p>
            <a:pPr algn="l" rtl="0"/>
            <a:r>
              <a:rPr lang="en-US" dirty="0"/>
              <a:t>Somewhat of a buzz word, but one that is very hot in industry</a:t>
            </a:r>
          </a:p>
          <a:p>
            <a:pPr lvl="1" algn="l" rtl="0"/>
            <a:endParaRPr lang="he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 Workshop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sz="2400" dirty="0"/>
              <a:t>The idea is to give you a taste of this important area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Unlike a regular course, you learn ``hands-on”  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Requires a lot of work, a lot of self-teaching</a:t>
            </a:r>
          </a:p>
          <a:p>
            <a:pPr lvl="1" algn="l" rtl="0"/>
            <a:r>
              <a:rPr lang="en-US" sz="2400" dirty="0"/>
              <a:t>We are here to guide you</a:t>
            </a:r>
          </a:p>
          <a:p>
            <a:pPr lvl="1" algn="l" rtl="0"/>
            <a:r>
              <a:rPr lang="en-US" sz="2400" dirty="0"/>
              <a:t>But it is your responsibility to push things forward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We have some checkpoints in the schedule, but do not rely only on them!</a:t>
            </a:r>
          </a:p>
          <a:p>
            <a:pPr lvl="1" algn="l" rtl="0"/>
            <a:r>
              <a:rPr lang="en-US" sz="2400" dirty="0"/>
              <a:t>Make sure to have a viable plan and get our advice  </a:t>
            </a:r>
            <a:endParaRPr lang="he-IL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components</a:t>
            </a:r>
            <a:endParaRPr lang="he-I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75" y="2060847"/>
            <a:ext cx="5429250" cy="400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9552" y="6237312"/>
            <a:ext cx="2376264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1200" dirty="0"/>
              <a:t>Source: Wikipedia</a:t>
            </a:r>
            <a:endParaRPr lang="he-IL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400" dirty="0"/>
              <a:t>Business understanding, goal identification</a:t>
            </a:r>
          </a:p>
          <a:p>
            <a:pPr algn="l" rtl="0"/>
            <a:r>
              <a:rPr lang="en-US" sz="2400" dirty="0"/>
              <a:t>Getting and understanding the data</a:t>
            </a:r>
          </a:p>
          <a:p>
            <a:pPr algn="l" rtl="0"/>
            <a:r>
              <a:rPr lang="en-US" sz="2400" dirty="0"/>
              <a:t>Data preparation</a:t>
            </a:r>
          </a:p>
          <a:p>
            <a:pPr algn="l" rtl="0"/>
            <a:r>
              <a:rPr lang="en-US" sz="2400" dirty="0"/>
              <a:t>Visualization (optional, yet often useful)</a:t>
            </a:r>
          </a:p>
          <a:p>
            <a:pPr algn="l" rtl="0"/>
            <a:r>
              <a:rPr lang="en-US" sz="2400" dirty="0"/>
              <a:t>Modeling </a:t>
            </a:r>
          </a:p>
          <a:p>
            <a:pPr lvl="1" algn="l" rtl="0"/>
            <a:r>
              <a:rPr lang="en-US" sz="2400" dirty="0"/>
              <a:t>Feature Engineering</a:t>
            </a:r>
          </a:p>
          <a:p>
            <a:pPr lvl="1" algn="l" rtl="0"/>
            <a:r>
              <a:rPr lang="en-US" sz="2400" dirty="0"/>
              <a:t>Choice of (ML) Algorithms</a:t>
            </a:r>
          </a:p>
          <a:p>
            <a:pPr lvl="1" algn="l" rtl="0"/>
            <a:r>
              <a:rPr lang="en-US" sz="2400" dirty="0"/>
              <a:t>Initial Parameter Choice</a:t>
            </a:r>
          </a:p>
          <a:p>
            <a:pPr algn="l" rtl="0"/>
            <a:r>
              <a:rPr lang="en-US" sz="2400" dirty="0"/>
              <a:t>Model Training</a:t>
            </a:r>
          </a:p>
          <a:p>
            <a:pPr algn="l" rtl="0"/>
            <a:r>
              <a:rPr lang="en-US" sz="2400" dirty="0"/>
              <a:t>Evaluation</a:t>
            </a:r>
          </a:p>
          <a:p>
            <a:pPr lvl="1" algn="l" rtl="0"/>
            <a:endParaRPr lang="en-US" sz="2400" dirty="0"/>
          </a:p>
          <a:p>
            <a:pPr lvl="1" algn="l" rtl="0"/>
            <a:endParaRPr lang="he-IL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l" rtl="0">
              <a:buNone/>
            </a:pPr>
            <a:r>
              <a:rPr lang="en-US" dirty="0"/>
              <a:t>Identify a </a:t>
            </a:r>
            <a:r>
              <a:rPr lang="en-US" dirty="0">
                <a:solidFill>
                  <a:srgbClr val="FF0000"/>
                </a:solidFill>
              </a:rPr>
              <a:t>“Business” goal</a:t>
            </a:r>
          </a:p>
          <a:p>
            <a:pPr marL="914400" lvl="1" indent="-514350" algn="l" rtl="0">
              <a:buNone/>
            </a:pPr>
            <a:r>
              <a:rPr lang="en-US" dirty="0"/>
              <a:t>In companies: something that can bring value, </a:t>
            </a:r>
          </a:p>
          <a:p>
            <a:pPr marL="914400" lvl="1" indent="-514350" algn="l" rtl="0">
              <a:buNone/>
            </a:pPr>
            <a:r>
              <a:rPr lang="en-US" dirty="0"/>
              <a:t>usually monetary, to the company</a:t>
            </a:r>
          </a:p>
          <a:p>
            <a:pPr marL="1314450" lvl="2" indent="-514350" algn="l" rtl="0">
              <a:buNone/>
            </a:pPr>
            <a:r>
              <a:rPr lang="en-US" dirty="0"/>
              <a:t>Forecasting demand</a:t>
            </a:r>
          </a:p>
          <a:p>
            <a:pPr marL="1314450" lvl="2" indent="-514350" algn="l" rtl="0">
              <a:buNone/>
            </a:pPr>
            <a:r>
              <a:rPr lang="en-US" dirty="0"/>
              <a:t>Identifying fraud</a:t>
            </a:r>
          </a:p>
          <a:p>
            <a:pPr marL="1314450" lvl="2" indent="-514350" algn="l" rtl="0">
              <a:buNone/>
            </a:pPr>
            <a:r>
              <a:rPr lang="en-US" dirty="0"/>
              <a:t>Explaining server failure</a:t>
            </a:r>
          </a:p>
          <a:p>
            <a:pPr marL="1314450" lvl="2" indent="-514350" algn="l" rtl="0">
              <a:buNone/>
            </a:pPr>
            <a:r>
              <a:rPr lang="en-US" dirty="0"/>
              <a:t>Forecasting user clicks</a:t>
            </a:r>
          </a:p>
          <a:p>
            <a:pPr marL="914400" lvl="1" indent="-514350" algn="l" rtl="0">
              <a:buNone/>
            </a:pPr>
            <a:endParaRPr lang="en-US" dirty="0"/>
          </a:p>
          <a:p>
            <a:pPr marL="914400" lvl="1" indent="-514350" algn="l" rtl="0">
              <a:buNone/>
            </a:pPr>
            <a:r>
              <a:rPr lang="en-US" dirty="0"/>
              <a:t>In this workshop: something that </a:t>
            </a:r>
            <a:r>
              <a:rPr lang="en-US" dirty="0">
                <a:solidFill>
                  <a:srgbClr val="FF0000"/>
                </a:solidFill>
              </a:rPr>
              <a:t>you</a:t>
            </a:r>
            <a:r>
              <a:rPr lang="en-US" dirty="0"/>
              <a:t> find interesting!</a:t>
            </a:r>
          </a:p>
          <a:p>
            <a:pPr marL="514350" indent="-514350" algn="l" rtl="0">
              <a:buNone/>
            </a:pPr>
            <a:endParaRPr lang="en-US" dirty="0"/>
          </a:p>
          <a:p>
            <a:pPr marL="914400" lvl="1" indent="-514350" algn="l" rtl="0">
              <a:buNone/>
            </a:pPr>
            <a:endParaRPr lang="en-US" dirty="0"/>
          </a:p>
          <a:p>
            <a:pPr marL="914400" lvl="1" indent="-514350" algn="l" rtl="0">
              <a:buNone/>
            </a:pPr>
            <a:endParaRPr lang="en-US" dirty="0"/>
          </a:p>
          <a:p>
            <a:pPr marL="914400" lvl="1" indent="-514350" algn="l" rtl="0">
              <a:buNone/>
            </a:pPr>
            <a:endParaRPr lang="en-US" dirty="0"/>
          </a:p>
          <a:p>
            <a:pPr marL="914400" lvl="1" indent="-514350" algn="l" rt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 algn="l" rtl="0"/>
            <a:r>
              <a:rPr lang="en-US" dirty="0"/>
              <a:t>Find an appropriate dataset and explore it </a:t>
            </a:r>
          </a:p>
          <a:p>
            <a:pPr marL="514350" indent="-514350" algn="l" rtl="0"/>
            <a:r>
              <a:rPr lang="en-US" dirty="0"/>
              <a:t>Start by “looking” at it (e.g. open a portion in Excel)</a:t>
            </a:r>
          </a:p>
          <a:p>
            <a:pPr marL="914400" lvl="1" indent="-514350" algn="l" rtl="0"/>
            <a:r>
              <a:rPr lang="en-US" dirty="0"/>
              <a:t>Schema</a:t>
            </a:r>
          </a:p>
          <a:p>
            <a:pPr marL="914400" lvl="1" indent="-514350" algn="l" rtl="0"/>
            <a:r>
              <a:rPr lang="en-US" dirty="0"/>
              <a:t>Data quality</a:t>
            </a:r>
          </a:p>
          <a:p>
            <a:pPr marL="914400" lvl="1" indent="-514350" algn="l" rtl="0"/>
            <a:r>
              <a:rPr lang="en-US" dirty="0"/>
              <a:t>Availability</a:t>
            </a:r>
          </a:p>
          <a:p>
            <a:pPr marL="914400" lvl="1" indent="-514350" algn="l" rtl="0"/>
            <a:r>
              <a:rPr lang="en-US" dirty="0"/>
              <a:t>Need for integration</a:t>
            </a:r>
          </a:p>
          <a:p>
            <a:pPr marL="514350" indent="-514350" algn="l" rtl="0"/>
            <a:r>
              <a:rPr lang="en-US" dirty="0"/>
              <a:t>Apply some basic analysis </a:t>
            </a:r>
          </a:p>
          <a:p>
            <a:pPr marL="914400" lvl="1" indent="-514350" algn="l" rtl="0"/>
            <a:r>
              <a:rPr lang="en-US" dirty="0"/>
              <a:t>In particular, basic </a:t>
            </a:r>
            <a:r>
              <a:rPr lang="en-US" dirty="0">
                <a:solidFill>
                  <a:srgbClr val="FF0000"/>
                </a:solidFill>
              </a:rPr>
              <a:t>feature extraction</a:t>
            </a:r>
          </a:p>
          <a:p>
            <a:pPr marL="914400" lvl="1" indent="-514350" algn="l" rtl="0"/>
            <a:r>
              <a:rPr lang="en-US" dirty="0"/>
              <a:t>Represent each data item as a vector of features</a:t>
            </a:r>
          </a:p>
          <a:p>
            <a:pPr marL="1314450" lvl="2" indent="-514350" algn="l" rtl="0"/>
            <a:r>
              <a:rPr lang="en-US" dirty="0"/>
              <a:t>To begin with, features can simply be the basic table columns</a:t>
            </a:r>
          </a:p>
          <a:p>
            <a:pPr marL="1314450" lvl="2" indent="-514350" algn="l" rtl="0"/>
            <a:r>
              <a:rPr lang="en-US" dirty="0"/>
              <a:t>Visualization helps!</a:t>
            </a:r>
          </a:p>
          <a:p>
            <a:endParaRPr lang="he-I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r>
              <a:rPr lang="en-US" dirty="0"/>
              <a:t>Types, format</a:t>
            </a:r>
          </a:p>
          <a:p>
            <a:pPr algn="l" rtl="0"/>
            <a:r>
              <a:rPr lang="en-US" dirty="0"/>
              <a:t>Data Integration (if needed)</a:t>
            </a:r>
          </a:p>
          <a:p>
            <a:pPr algn="l" rtl="0"/>
            <a:r>
              <a:rPr lang="en-US" dirty="0"/>
              <a:t>Data Distribution</a:t>
            </a:r>
          </a:p>
          <a:p>
            <a:pPr lvl="1" algn="l" rtl="0"/>
            <a:r>
              <a:rPr lang="en-US" dirty="0"/>
              <a:t>Correlations</a:t>
            </a:r>
          </a:p>
          <a:p>
            <a:pPr lvl="1" algn="l" rtl="0"/>
            <a:r>
              <a:rPr lang="en-US" dirty="0"/>
              <a:t>Outlier Detection </a:t>
            </a:r>
          </a:p>
          <a:p>
            <a:pPr algn="l" rtl="0"/>
            <a:r>
              <a:rPr lang="en-US" dirty="0"/>
              <a:t>Data Cleaning</a:t>
            </a:r>
          </a:p>
          <a:p>
            <a:pPr lvl="1" algn="l" rtl="0"/>
            <a:r>
              <a:rPr lang="en-US" dirty="0"/>
              <a:t>Missing values (NULLs), outliers/errors</a:t>
            </a:r>
          </a:p>
          <a:p>
            <a:pPr algn="l" rtl="0"/>
            <a:r>
              <a:rPr lang="en-US" dirty="0"/>
              <a:t>Normalization (scaling)</a:t>
            </a:r>
          </a:p>
          <a:p>
            <a:pPr algn="l" rtl="0"/>
            <a:endParaRPr lang="en-US" dirty="0"/>
          </a:p>
          <a:p>
            <a:pPr algn="l" rtl="0">
              <a:buNone/>
            </a:pPr>
            <a:r>
              <a:rPr lang="en-US" dirty="0"/>
              <a:t>Time consumable, not great fun, but </a:t>
            </a:r>
            <a:r>
              <a:rPr lang="en-US" dirty="0">
                <a:solidFill>
                  <a:srgbClr val="FF0000"/>
                </a:solidFill>
              </a:rPr>
              <a:t>highly important</a:t>
            </a:r>
            <a:r>
              <a:rPr lang="en-US" dirty="0"/>
              <a:t>!</a:t>
            </a:r>
          </a:p>
          <a:p>
            <a:pPr algn="l" rtl="0">
              <a:buNone/>
            </a:pPr>
            <a:r>
              <a:rPr lang="en-US" dirty="0"/>
              <a:t>        Claimed to consume 80% of data scientists time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lvl="1" algn="l" rtl="0"/>
            <a:endParaRPr lang="he-I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dirty="0"/>
              <a:t>If data originates in multiple sources, it will probably not be aligned</a:t>
            </a:r>
          </a:p>
          <a:p>
            <a:pPr lvl="1" algn="l" rtl="0"/>
            <a:r>
              <a:rPr lang="en-US" dirty="0"/>
              <a:t>Attribute names may be different </a:t>
            </a:r>
          </a:p>
          <a:p>
            <a:pPr lvl="1" algn="l" rtl="0">
              <a:buNone/>
            </a:pPr>
            <a:r>
              <a:rPr lang="en-US" dirty="0"/>
              <a:t>   (</a:t>
            </a:r>
            <a:r>
              <a:rPr lang="en-US" dirty="0" err="1"/>
              <a:t>pname</a:t>
            </a:r>
            <a:r>
              <a:rPr lang="en-US" dirty="0"/>
              <a:t> vs. </a:t>
            </a:r>
            <a:r>
              <a:rPr lang="en-US" dirty="0" err="1"/>
              <a:t>personname</a:t>
            </a:r>
            <a:r>
              <a:rPr lang="en-US" dirty="0"/>
              <a:t>, </a:t>
            </a:r>
            <a:r>
              <a:rPr lang="en-US" dirty="0" err="1"/>
              <a:t>pid</a:t>
            </a:r>
            <a:r>
              <a:rPr lang="en-US" dirty="0"/>
              <a:t> vs. </a:t>
            </a:r>
            <a:r>
              <a:rPr lang="en-US" dirty="0" err="1"/>
              <a:t>personid</a:t>
            </a:r>
            <a:r>
              <a:rPr lang="en-US" dirty="0"/>
              <a:t>)</a:t>
            </a:r>
          </a:p>
          <a:p>
            <a:pPr lvl="1" algn="l" rtl="0"/>
            <a:r>
              <a:rPr lang="en-US" dirty="0"/>
              <a:t>Format may be different (DD/MM/YY vs. DD/YY/MM)</a:t>
            </a:r>
          </a:p>
          <a:p>
            <a:pPr lvl="1" algn="l" rtl="0"/>
            <a:r>
              <a:rPr lang="en-US" dirty="0"/>
              <a:t>Structure may be different (by id vs. by name) </a:t>
            </a:r>
          </a:p>
          <a:p>
            <a:pPr algn="l" rtl="0"/>
            <a:r>
              <a:rPr lang="en-US" dirty="0">
                <a:solidFill>
                  <a:srgbClr val="FF0000"/>
                </a:solidFill>
              </a:rPr>
              <a:t>Schema matching</a:t>
            </a:r>
          </a:p>
          <a:p>
            <a:pPr lvl="2" algn="l" rtl="0"/>
            <a:r>
              <a:rPr lang="en-US" dirty="0"/>
              <a:t>Some old but good surveys of basic techniques:</a:t>
            </a:r>
            <a:endParaRPr lang="en-US" dirty="0">
              <a:solidFill>
                <a:srgbClr val="FF0000"/>
              </a:solidFill>
              <a:hlinkClick r:id="rId2"/>
            </a:endParaRPr>
          </a:p>
          <a:p>
            <a:pPr lvl="3" algn="l" rtl="0"/>
            <a:r>
              <a:rPr lang="en-US" dirty="0">
                <a:solidFill>
                  <a:srgbClr val="FF0000"/>
                </a:solidFill>
                <a:hlinkClick r:id="rId2"/>
              </a:rPr>
              <a:t>http://dbs.uni-leipzig.de/file/VLDBJ-Dec2001.pdf</a:t>
            </a:r>
            <a:endParaRPr lang="en-US" dirty="0">
              <a:solidFill>
                <a:srgbClr val="FF0000"/>
              </a:solidFill>
            </a:endParaRPr>
          </a:p>
          <a:p>
            <a:pPr lvl="3" algn="l" rtl="0"/>
            <a:r>
              <a:rPr lang="en-US" dirty="0">
                <a:solidFill>
                  <a:srgbClr val="FF0000"/>
                </a:solidFill>
                <a:hlinkClick r:id="rId3"/>
              </a:rPr>
              <a:t>http://disi.unitn.it/~p2p/RelatedWork/Matching/JoDS-IV-2005_SurveyMatching-SE.pdf</a:t>
            </a:r>
            <a:endParaRPr lang="en-US" dirty="0">
              <a:solidFill>
                <a:srgbClr val="FF0000"/>
              </a:solidFill>
            </a:endParaRPr>
          </a:p>
          <a:p>
            <a:pPr lvl="3" algn="l" rtl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3" algn="l" rtl="0"/>
            <a:endParaRPr lang="he-I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rtl="0"/>
            <a:r>
              <a:rPr lang="en-US" dirty="0"/>
              <a:t>Apply </a:t>
            </a:r>
            <a:r>
              <a:rPr lang="en-US" dirty="0">
                <a:solidFill>
                  <a:srgbClr val="FF0000"/>
                </a:solidFill>
              </a:rPr>
              <a:t>statistical tools </a:t>
            </a:r>
            <a:r>
              <a:rPr lang="en-US" dirty="0"/>
              <a:t>to the data to identify its </a:t>
            </a:r>
            <a:r>
              <a:rPr lang="en-US" dirty="0">
                <a:solidFill>
                  <a:srgbClr val="FF0000"/>
                </a:solidFill>
              </a:rPr>
              <a:t>distribution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correlations</a:t>
            </a:r>
            <a:r>
              <a:rPr lang="en-US" dirty="0"/>
              <a:t> between items</a:t>
            </a:r>
          </a:p>
          <a:p>
            <a:pPr algn="l" rtl="0"/>
            <a:r>
              <a:rPr lang="en-US" dirty="0"/>
              <a:t>An important case is that of </a:t>
            </a:r>
            <a:r>
              <a:rPr lang="en-US" dirty="0">
                <a:solidFill>
                  <a:srgbClr val="FF0000"/>
                </a:solidFill>
              </a:rPr>
              <a:t>time-series data</a:t>
            </a:r>
          </a:p>
          <a:p>
            <a:pPr lvl="1" algn="l" rtl="0"/>
            <a:r>
              <a:rPr lang="en-US" dirty="0"/>
              <a:t>Show how data </a:t>
            </a:r>
            <a:r>
              <a:rPr lang="en-US" dirty="0">
                <a:solidFill>
                  <a:srgbClr val="FF0000"/>
                </a:solidFill>
              </a:rPr>
              <a:t>evolves over time</a:t>
            </a:r>
          </a:p>
          <a:p>
            <a:pPr lvl="1" algn="l" rtl="0"/>
            <a:r>
              <a:rPr lang="en-US" dirty="0">
                <a:solidFill>
                  <a:srgbClr val="FF0000"/>
                </a:solidFill>
              </a:rPr>
              <a:t>Seasonality</a:t>
            </a:r>
            <a:r>
              <a:rPr lang="en-US" dirty="0"/>
              <a:t> is common, needs to be accounted for</a:t>
            </a:r>
          </a:p>
          <a:p>
            <a:pPr algn="l" rtl="0"/>
            <a:r>
              <a:rPr lang="en-US" dirty="0"/>
              <a:t>In general, knowing the distribution is important </a:t>
            </a:r>
          </a:p>
          <a:p>
            <a:pPr lvl="1" algn="l" rtl="0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prediction</a:t>
            </a:r>
            <a:r>
              <a:rPr lang="en-US" dirty="0"/>
              <a:t> of new data points</a:t>
            </a:r>
          </a:p>
          <a:p>
            <a:pPr lvl="1" algn="l" rtl="0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outlier detection</a:t>
            </a:r>
          </a:p>
          <a:p>
            <a:pPr algn="l" rtl="0"/>
            <a:r>
              <a:rPr lang="en-US" dirty="0"/>
              <a:t>Types of correlations</a:t>
            </a:r>
          </a:p>
          <a:p>
            <a:pPr lvl="1" algn="l" rtl="0"/>
            <a:r>
              <a:rPr lang="en-US" dirty="0"/>
              <a:t>Pearson, Spearman, Kendall’s tau, </a:t>
            </a:r>
          </a:p>
          <a:p>
            <a:pPr lvl="1" algn="l" rtl="0"/>
            <a:r>
              <a:rPr lang="en-US" dirty="0"/>
              <a:t>Important to identify correlation between features (e.g. based on Mutual Information - entropy)</a:t>
            </a:r>
          </a:p>
          <a:p>
            <a:pPr lvl="2" algn="l" rtl="0"/>
            <a:r>
              <a:rPr lang="en-US" dirty="0"/>
              <a:t>Will be highly useful for the model generation phase</a:t>
            </a:r>
          </a:p>
          <a:p>
            <a:pPr lvl="1" algn="l" rtl="0"/>
            <a:endParaRPr lang="en-US" dirty="0"/>
          </a:p>
          <a:p>
            <a:pPr lvl="1" algn="l" rtl="0"/>
            <a:endParaRPr lang="en-US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400" dirty="0"/>
              <a:t>Mean, median, most common value 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 err="1"/>
              <a:t>Skewness</a:t>
            </a:r>
            <a:r>
              <a:rPr lang="en-US" sz="2400" dirty="0"/>
              <a:t> and Kurtosis</a:t>
            </a:r>
          </a:p>
          <a:p>
            <a:pPr lvl="1" algn="l" rtl="0"/>
            <a:r>
              <a:rPr lang="en-US" sz="2400" dirty="0"/>
              <a:t>Respectively, how </a:t>
            </a:r>
            <a:r>
              <a:rPr lang="en-US" sz="2400" dirty="0" err="1"/>
              <a:t>assymetric</a:t>
            </a:r>
            <a:r>
              <a:rPr lang="en-US" sz="2400" dirty="0"/>
              <a:t> or peaked relative to the normal distribution is the given distribution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Testing the distribution</a:t>
            </a:r>
          </a:p>
          <a:p>
            <a:pPr lvl="1" algn="l" rtl="0"/>
            <a:r>
              <a:rPr lang="en-US" sz="2400" dirty="0">
                <a:latin typeface="Neo Sans Intel" panose="020B0504020202020204" pitchFamily="34" charset="0"/>
              </a:rPr>
              <a:t>Q-Q plot, </a:t>
            </a:r>
            <a:r>
              <a:rPr lang="en-US" sz="2400" dirty="0" err="1">
                <a:latin typeface="Neo Sans Intel" panose="020B0504020202020204" pitchFamily="34" charset="0"/>
              </a:rPr>
              <a:t>Kolmogorov</a:t>
            </a:r>
            <a:r>
              <a:rPr lang="en-US" sz="2400" dirty="0">
                <a:latin typeface="Neo Sans Intel" panose="020B0504020202020204" pitchFamily="34" charset="0"/>
              </a:rPr>
              <a:t>–Smirnov test, others</a:t>
            </a:r>
          </a:p>
          <a:p>
            <a:pPr algn="l" rtl="0"/>
            <a:endParaRPr lang="en-US" sz="2400" dirty="0">
              <a:latin typeface="Neo Sans Intel" panose="020B0504020202020204" pitchFamily="34" charset="0"/>
            </a:endParaRPr>
          </a:p>
          <a:p>
            <a:pPr algn="l" rtl="0"/>
            <a:r>
              <a:rPr lang="en-US" sz="2400" dirty="0">
                <a:latin typeface="Neo Sans Intel" panose="020B0504020202020204" pitchFamily="34" charset="0"/>
              </a:rPr>
              <a:t>Other methods you have learned in Intro to Statistics</a:t>
            </a:r>
          </a:p>
          <a:p>
            <a:pPr algn="l" rtl="0"/>
            <a:endParaRPr lang="en-US" sz="2400" dirty="0">
              <a:latin typeface="Neo Sans Intel" panose="020B0504020202020204" pitchFamily="34" charset="0"/>
            </a:endParaRPr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he-IL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en-US" dirty="0"/>
              <a:t>NULLs)</a:t>
            </a:r>
            <a:r>
              <a:rPr lang="he-IL" dirty="0"/>
              <a:t>) </a:t>
            </a:r>
            <a:r>
              <a:rPr lang="en-US" dirty="0"/>
              <a:t>Data Cleaning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 rtl="0"/>
            <a:r>
              <a:rPr lang="en-US" dirty="0"/>
              <a:t>Nulls are not uncommon</a:t>
            </a:r>
          </a:p>
          <a:p>
            <a:pPr lvl="1" algn="l" rtl="0"/>
            <a:r>
              <a:rPr lang="en-US" dirty="0"/>
              <a:t>Indicate missing information</a:t>
            </a:r>
          </a:p>
          <a:p>
            <a:pPr lvl="1" algn="l" rtl="0"/>
            <a:r>
              <a:rPr lang="en-US" dirty="0"/>
              <a:t>Trivial to identify</a:t>
            </a:r>
          </a:p>
          <a:p>
            <a:pPr algn="l" rtl="0"/>
            <a:r>
              <a:rPr lang="en-US" dirty="0"/>
              <a:t>How to handle?</a:t>
            </a:r>
          </a:p>
          <a:p>
            <a:pPr lvl="1" algn="l" rtl="0"/>
            <a:r>
              <a:rPr lang="en-US" dirty="0"/>
              <a:t>Remove/ignore the entire entry </a:t>
            </a:r>
          </a:p>
          <a:p>
            <a:pPr lvl="2" algn="l" rtl="0"/>
            <a:r>
              <a:rPr lang="en-US" dirty="0"/>
              <a:t>Sometimes OK, sometimes too brutal, depends on how many NULLs there are and on whether their distribution is skewed</a:t>
            </a:r>
          </a:p>
          <a:p>
            <a:pPr lvl="1" algn="l" rtl="0"/>
            <a:r>
              <a:rPr lang="en-US" dirty="0"/>
              <a:t>Complete based on:</a:t>
            </a:r>
          </a:p>
          <a:p>
            <a:pPr lvl="2" algn="l" rtl="0"/>
            <a:r>
              <a:rPr lang="en-US" dirty="0"/>
              <a:t>Correlations with other attributes (in turn learned for data items where the value is not NULL)</a:t>
            </a:r>
          </a:p>
          <a:p>
            <a:pPr lvl="2" algn="l" rtl="0"/>
            <a:r>
              <a:rPr lang="en-US" dirty="0"/>
              <a:t>Interpolation based on the distribution or similar records</a:t>
            </a:r>
          </a:p>
          <a:p>
            <a:pPr lvl="2" algn="l" rtl="0"/>
            <a:r>
              <a:rPr lang="en-US" dirty="0"/>
              <a:t>Sample based on the distribution</a:t>
            </a:r>
          </a:p>
          <a:p>
            <a:pPr lvl="1" algn="l" rtl="0"/>
            <a:endParaRPr lang="en-US" dirty="0"/>
          </a:p>
          <a:p>
            <a:pPr lvl="1" algn="l" rtl="0"/>
            <a:endParaRPr lang="he-I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(outliers)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Much harder to identify, or even formally define</a:t>
            </a:r>
          </a:p>
          <a:p>
            <a:pPr lvl="1" algn="l" rtl="0"/>
            <a:r>
              <a:rPr lang="en-US" dirty="0"/>
              <a:t>Generally, look for points deviating from the data’s general distribution</a:t>
            </a:r>
          </a:p>
          <a:p>
            <a:pPr lvl="1" algn="l" rtl="0"/>
            <a:r>
              <a:rPr lang="en-US" dirty="0"/>
              <a:t>Multiple outlier tests</a:t>
            </a:r>
          </a:p>
          <a:p>
            <a:pPr lvl="2" algn="l" rtl="0"/>
            <a:r>
              <a:rPr lang="en-US" dirty="0"/>
              <a:t>Grubbs, Dixon’s Q-test, </a:t>
            </a:r>
            <a:r>
              <a:rPr lang="en-US" dirty="0" err="1"/>
              <a:t>Rosners</a:t>
            </a:r>
            <a:r>
              <a:rPr lang="en-US" dirty="0"/>
              <a:t> (look it up)</a:t>
            </a:r>
          </a:p>
          <a:p>
            <a:pPr lvl="2" algn="l" rtl="0"/>
            <a:r>
              <a:rPr lang="en-US" dirty="0"/>
              <a:t>Clustering-based</a:t>
            </a:r>
          </a:p>
          <a:p>
            <a:pPr lvl="2" algn="l" rtl="0"/>
            <a:r>
              <a:rPr lang="en-US" dirty="0"/>
              <a:t>Single vs. multiple outlier detection, </a:t>
            </a:r>
            <a:r>
              <a:rPr lang="en-US" dirty="0" err="1"/>
              <a:t>univariate</a:t>
            </a:r>
            <a:r>
              <a:rPr lang="en-US" dirty="0"/>
              <a:t> vs. multivariate distribution</a:t>
            </a:r>
          </a:p>
          <a:p>
            <a:pPr lvl="2" algn="l" rtl="0"/>
            <a:r>
              <a:rPr lang="en-US" dirty="0"/>
              <a:t>Many tools for R, Python, and others</a:t>
            </a:r>
          </a:p>
          <a:p>
            <a:pPr lvl="1" algn="l" rtl="0"/>
            <a:endParaRPr lang="en-US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(outliers, cont.)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Once identified, what to do with outliers?</a:t>
            </a:r>
          </a:p>
          <a:p>
            <a:pPr algn="l" rtl="0"/>
            <a:r>
              <a:rPr lang="en-US" dirty="0"/>
              <a:t>If there are few, check them (if very few, do it manually)</a:t>
            </a:r>
          </a:p>
          <a:p>
            <a:pPr lvl="1" algn="l" rtl="0"/>
            <a:r>
              <a:rPr lang="en-US" dirty="0"/>
              <a:t>If seem like errors, simply discard</a:t>
            </a:r>
          </a:p>
          <a:p>
            <a:pPr lvl="1" algn="l" rtl="0"/>
            <a:r>
              <a:rPr lang="en-US" dirty="0"/>
              <a:t>Otherwise may need a special treatment or adapting the distribution</a:t>
            </a:r>
          </a:p>
          <a:p>
            <a:pPr algn="l" rtl="0"/>
            <a:r>
              <a:rPr lang="en-US" dirty="0"/>
              <a:t>If there are many, perhaps the inferred distribution was not correct </a:t>
            </a:r>
          </a:p>
          <a:p>
            <a:pPr lvl="1" algn="l" rtl="0"/>
            <a:r>
              <a:rPr lang="en-US" dirty="0"/>
              <a:t>Apply tests</a:t>
            </a:r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For many ML algorithms to work properly, need to have a uniform scale for all attributes </a:t>
            </a:r>
          </a:p>
          <a:p>
            <a:pPr algn="l" rtl="0"/>
            <a:r>
              <a:rPr lang="en-US" dirty="0"/>
              <a:t>Simple methods</a:t>
            </a:r>
          </a:p>
          <a:p>
            <a:pPr lvl="1" algn="l" rtl="0"/>
            <a:r>
              <a:rPr lang="en-US" dirty="0"/>
              <a:t>Normalization to [0,1]     (x-min) / (max-min) </a:t>
            </a:r>
          </a:p>
          <a:p>
            <a:pPr lvl="1" algn="l" rtl="0"/>
            <a:r>
              <a:rPr lang="en-US" dirty="0"/>
              <a:t>Normalization to [-1,1]   (2x-min-max) / (max-min)</a:t>
            </a:r>
          </a:p>
          <a:p>
            <a:pPr algn="l" rtl="0"/>
            <a:r>
              <a:rPr lang="en-US" dirty="0"/>
              <a:t>Statistical methods</a:t>
            </a:r>
          </a:p>
          <a:p>
            <a:pPr lvl="1" algn="l" rtl="0"/>
            <a:r>
              <a:rPr lang="en-US" dirty="0"/>
              <a:t>Z-normalization</a:t>
            </a:r>
          </a:p>
          <a:p>
            <a:pPr algn="l" rtl="0"/>
            <a:r>
              <a:rPr lang="en-US" dirty="0"/>
              <a:t>log-normalization</a:t>
            </a:r>
            <a:endParaRPr lang="he-I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Discretization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Some algorithms require discrete values</a:t>
            </a:r>
          </a:p>
          <a:p>
            <a:pPr algn="l" rtl="0"/>
            <a:r>
              <a:rPr lang="en-US" dirty="0"/>
              <a:t>The actual data may be non-numeric, or numeric but </a:t>
            </a:r>
            <a:r>
              <a:rPr lang="en-US" dirty="0" err="1"/>
              <a:t>continous</a:t>
            </a:r>
            <a:endParaRPr lang="en-US" dirty="0"/>
          </a:p>
          <a:p>
            <a:pPr algn="l" rtl="0"/>
            <a:r>
              <a:rPr lang="en-US" dirty="0"/>
              <a:t>Also called </a:t>
            </a:r>
            <a:r>
              <a:rPr lang="en-US" dirty="0">
                <a:solidFill>
                  <a:srgbClr val="FF0000"/>
                </a:solidFill>
              </a:rPr>
              <a:t>binning</a:t>
            </a:r>
            <a:r>
              <a:rPr lang="en-US" dirty="0"/>
              <a:t> sometimes</a:t>
            </a:r>
          </a:p>
          <a:p>
            <a:pPr lvl="1" algn="l" rtl="0"/>
            <a:r>
              <a:rPr lang="en-US" dirty="0"/>
              <a:t>Equal-length</a:t>
            </a:r>
          </a:p>
          <a:p>
            <a:pPr lvl="1" algn="l" rtl="0"/>
            <a:r>
              <a:rPr lang="en-US" dirty="0"/>
              <a:t>Based on the distribution</a:t>
            </a:r>
          </a:p>
          <a:p>
            <a:pPr lvl="1" algn="l" rtl="0"/>
            <a:r>
              <a:rPr lang="en-US" dirty="0"/>
              <a:t>Entropy-based (for non-numeric)</a:t>
            </a:r>
          </a:p>
          <a:p>
            <a:pPr lvl="1" algn="l" rtl="0"/>
            <a:endParaRPr lang="he-I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 rtl="0"/>
            <a:r>
              <a:rPr lang="en-US" sz="2400" dirty="0"/>
              <a:t>It is recommended to plot the data before, during and after preparation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Use R, </a:t>
            </a:r>
            <a:r>
              <a:rPr lang="en-US" sz="2400" dirty="0" err="1"/>
              <a:t>Matlab</a:t>
            </a:r>
            <a:r>
              <a:rPr lang="en-US" sz="2400" dirty="0"/>
              <a:t>, Excel, Python libraries, or any other tool for that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Useful to get a sense of what’s going on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For instance, you may see remaining outliers just by looking at the data!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Eventually, also highly useful for your customers</a:t>
            </a:r>
            <a:endParaRPr lang="he-IL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endParaRPr lang="en-US" sz="2400" dirty="0"/>
          </a:p>
          <a:p>
            <a:pPr algn="l" rtl="0"/>
            <a:r>
              <a:rPr lang="en-US" dirty="0"/>
              <a:t>Feature Engineering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Choice of (ML) Algorithms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 Initial Parameter Choice</a:t>
            </a:r>
          </a:p>
          <a:p>
            <a:endParaRPr lang="he-I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and Engineering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Feature selection</a:t>
            </a:r>
          </a:p>
          <a:p>
            <a:pPr lvl="1" algn="l" rtl="0"/>
            <a:r>
              <a:rPr lang="en-US" dirty="0"/>
              <a:t>Goal: choose a subset of the features/attributes of the data</a:t>
            </a:r>
          </a:p>
          <a:p>
            <a:pPr lvl="2" algn="l" rtl="0"/>
            <a:r>
              <a:rPr lang="en-US" dirty="0"/>
              <a:t>Which of the attributes of the input are important for your goal?</a:t>
            </a:r>
          </a:p>
          <a:p>
            <a:pPr lvl="2" algn="l" rtl="0"/>
            <a:r>
              <a:rPr lang="en-US" dirty="0"/>
              <a:t>Which of the attributes have discriminatory power?</a:t>
            </a:r>
          </a:p>
          <a:p>
            <a:pPr algn="l" rtl="0"/>
            <a:r>
              <a:rPr lang="en-US" dirty="0"/>
              <a:t>Feature Engineering</a:t>
            </a:r>
          </a:p>
          <a:p>
            <a:pPr lvl="1" algn="l" rtl="0"/>
            <a:r>
              <a:rPr lang="en-US" sz="2200" dirty="0"/>
              <a:t>Generation of new features through transformations on the data</a:t>
            </a:r>
          </a:p>
          <a:p>
            <a:pPr lvl="1" algn="l" rtl="0"/>
            <a:endParaRPr lang="en-US" sz="2200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Training, Validation and Test set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Common practice to divide the data to training , validation and test set </a:t>
            </a:r>
          </a:p>
          <a:p>
            <a:pPr algn="l" rtl="0"/>
            <a:r>
              <a:rPr lang="en-US" dirty="0"/>
              <a:t>Training data is used for feature engineering (and later model parameter inference)</a:t>
            </a:r>
          </a:p>
          <a:p>
            <a:pPr algn="l" rtl="0"/>
            <a:r>
              <a:rPr lang="en-US" dirty="0"/>
              <a:t>Validation set is for parameter tuning</a:t>
            </a:r>
          </a:p>
          <a:p>
            <a:pPr algn="l" rtl="0"/>
            <a:r>
              <a:rPr lang="en-US" dirty="0"/>
              <a:t>Test set is only for testing (no further model changes, in principle)</a:t>
            </a:r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400" dirty="0"/>
              <a:t>Can roughly be divided to methods that:</a:t>
            </a:r>
          </a:p>
          <a:p>
            <a:pPr lvl="1" algn="l" rtl="0"/>
            <a:r>
              <a:rPr lang="en-US" sz="2000" dirty="0"/>
              <a:t>Look only at the data, and agnostic to the learning algorithm, and </a:t>
            </a:r>
          </a:p>
          <a:p>
            <a:pPr lvl="1" algn="l" rtl="0"/>
            <a:r>
              <a:rPr lang="en-US" sz="2000" dirty="0"/>
              <a:t>Those that look also at the learning algorithm</a:t>
            </a:r>
            <a:r>
              <a:rPr lang="en-US" sz="2400" dirty="0"/>
              <a:t> </a:t>
            </a:r>
          </a:p>
          <a:p>
            <a:pPr algn="l" rtl="0">
              <a:buNone/>
            </a:pPr>
            <a:endParaRPr lang="en-US" sz="2400" dirty="0"/>
          </a:p>
          <a:p>
            <a:pPr algn="l" rtl="0"/>
            <a:r>
              <a:rPr lang="en-US" sz="2400" dirty="0"/>
              <a:t>Filter Method</a:t>
            </a:r>
          </a:p>
          <a:p>
            <a:pPr lvl="1" algn="l" rtl="0"/>
            <a:r>
              <a:rPr lang="en-US" sz="2000" dirty="0"/>
              <a:t>Example: Look for correlations between features and the output in the training set</a:t>
            </a:r>
          </a:p>
          <a:p>
            <a:pPr lvl="1" algn="l" rtl="0">
              <a:buNone/>
            </a:pPr>
            <a:endParaRPr lang="en-US" sz="2000" dirty="0"/>
          </a:p>
          <a:p>
            <a:pPr algn="l" rtl="0"/>
            <a:r>
              <a:rPr lang="en-US" sz="2400" dirty="0"/>
              <a:t>Wrapper Method</a:t>
            </a:r>
          </a:p>
          <a:p>
            <a:pPr lvl="1" algn="l" rtl="0"/>
            <a:r>
              <a:rPr lang="en-US" sz="2000" dirty="0"/>
              <a:t>A ``wrapper” over the learning process</a:t>
            </a:r>
          </a:p>
          <a:p>
            <a:pPr lvl="1" algn="l" rtl="0"/>
            <a:r>
              <a:rPr lang="en-US" sz="2000" dirty="0"/>
              <a:t>Keep attributes that have a significant impact on the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Transform the features into “meta-features” that better reflect some properties of the data </a:t>
            </a:r>
          </a:p>
          <a:p>
            <a:pPr algn="l" rtl="0"/>
            <a:r>
              <a:rPr lang="en-US" dirty="0"/>
              <a:t>Examples</a:t>
            </a:r>
          </a:p>
          <a:p>
            <a:pPr lvl="1" algn="l" rtl="0"/>
            <a:r>
              <a:rPr lang="en-US" dirty="0"/>
              <a:t> Very simple: pair features together</a:t>
            </a:r>
          </a:p>
          <a:p>
            <a:pPr lvl="1" algn="l" rtl="0"/>
            <a:r>
              <a:rPr lang="en-US" dirty="0"/>
              <a:t> Complex (and much more useful): </a:t>
            </a:r>
          </a:p>
          <a:p>
            <a:pPr lvl="1" algn="l" rtl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Principle Component Analysis (PCA)</a:t>
            </a:r>
          </a:p>
          <a:p>
            <a:pPr lvl="1" algn="l" rtl="0"/>
            <a:r>
              <a:rPr lang="en-US" dirty="0"/>
              <a:t>High level idea:</a:t>
            </a:r>
          </a:p>
          <a:p>
            <a:pPr lvl="2" algn="l" rtl="0"/>
            <a:r>
              <a:rPr lang="en-US" dirty="0"/>
              <a:t>Convert a set of observations into uncorrelated “Principal Components”</a:t>
            </a:r>
          </a:p>
          <a:p>
            <a:pPr lvl="1" algn="l" rtl="0">
              <a:buNone/>
            </a:pPr>
            <a:endParaRPr lang="he-IL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rtl="0"/>
            <a:r>
              <a:rPr lang="en-US" dirty="0"/>
              <a:t>Applying algorithms, mainly from ML, to generate a model </a:t>
            </a:r>
          </a:p>
          <a:p>
            <a:pPr algn="l" rtl="0"/>
            <a:r>
              <a:rPr lang="en-US" dirty="0"/>
              <a:t>You have, or will, learn many ML methods in the ML course, e.g.</a:t>
            </a:r>
          </a:p>
          <a:p>
            <a:pPr lvl="1" algn="l" rtl="0"/>
            <a:r>
              <a:rPr lang="en-US" dirty="0"/>
              <a:t>Clustering</a:t>
            </a:r>
          </a:p>
          <a:p>
            <a:pPr lvl="1" algn="l" rtl="0"/>
            <a:r>
              <a:rPr lang="en-US" dirty="0"/>
              <a:t>SVM</a:t>
            </a:r>
          </a:p>
          <a:p>
            <a:pPr lvl="1" algn="l" rtl="0"/>
            <a:r>
              <a:rPr lang="en-US" dirty="0"/>
              <a:t>Kernels</a:t>
            </a:r>
          </a:p>
          <a:p>
            <a:pPr lvl="1" algn="l" rtl="0"/>
            <a:r>
              <a:rPr lang="en-US" dirty="0"/>
              <a:t>PCA</a:t>
            </a:r>
          </a:p>
          <a:p>
            <a:pPr lvl="1" algn="l" rtl="0"/>
            <a:r>
              <a:rPr lang="en-US" dirty="0"/>
              <a:t>Regression</a:t>
            </a:r>
          </a:p>
          <a:p>
            <a:pPr lvl="1" algn="l" rtl="0"/>
            <a:r>
              <a:rPr lang="en-US" dirty="0"/>
              <a:t>Decision Trees</a:t>
            </a:r>
          </a:p>
          <a:p>
            <a:pPr lvl="1" algn="l" rtl="0"/>
            <a:r>
              <a:rPr lang="en-US" dirty="0"/>
              <a:t>Propbabilistic Models</a:t>
            </a:r>
          </a:p>
          <a:p>
            <a:pPr algn="l" rtl="0"/>
            <a:r>
              <a:rPr lang="en-US" dirty="0"/>
              <a:t>All have some explanatory nature, but (expect for clustering) are geared towards prediction</a:t>
            </a:r>
          </a:p>
          <a:p>
            <a:pPr algn="l" rtl="0"/>
            <a:r>
              <a:rPr lang="en-US" dirty="0"/>
              <a:t>Important type of predictors: </a:t>
            </a:r>
            <a:r>
              <a:rPr lang="en-US" dirty="0">
                <a:solidFill>
                  <a:srgbClr val="FF0000"/>
                </a:solidFill>
              </a:rPr>
              <a:t>classifiers</a:t>
            </a:r>
          </a:p>
          <a:p>
            <a:pPr lvl="1" algn="l" rtl="0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and this workshop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 rtl="0"/>
            <a:r>
              <a:rPr lang="en-US" dirty="0"/>
              <a:t>In the ML class you will learn the internals of these methods and algorithms</a:t>
            </a:r>
          </a:p>
          <a:p>
            <a:pPr algn="l" rtl="0"/>
            <a:r>
              <a:rPr lang="en-US" dirty="0"/>
              <a:t>Here you only need to use them as black boxes (tons of available implementations), </a:t>
            </a:r>
            <a:r>
              <a:rPr lang="en-US" dirty="0">
                <a:solidFill>
                  <a:srgbClr val="FF0000"/>
                </a:solidFill>
              </a:rPr>
              <a:t>BUT</a:t>
            </a:r>
          </a:p>
          <a:p>
            <a:pPr algn="l" rtl="0"/>
            <a:r>
              <a:rPr lang="en-US" dirty="0"/>
              <a:t>You DO need to know what they do, so you can choose what to use</a:t>
            </a:r>
          </a:p>
          <a:p>
            <a:pPr algn="l" rtl="0"/>
            <a:r>
              <a:rPr lang="en-US" dirty="0"/>
              <a:t>Omer will overview some methods </a:t>
            </a:r>
          </a:p>
          <a:p>
            <a:pPr lvl="1" algn="l" rtl="0"/>
            <a:r>
              <a:rPr lang="en-US" dirty="0"/>
              <a:t>You will need to go deeper on your own</a:t>
            </a:r>
          </a:p>
          <a:p>
            <a:pPr lvl="1" algn="l" rtl="0"/>
            <a:r>
              <a:rPr lang="en-US" dirty="0"/>
              <a:t>We’re here to support you</a:t>
            </a:r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en-US" dirty="0"/>
              <a:t> Validation and testing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endParaRPr lang="en-US" dirty="0"/>
          </a:p>
          <a:p>
            <a:pPr algn="l" rtl="0"/>
            <a:r>
              <a:rPr lang="en-US" dirty="0"/>
              <a:t>Extremely important!</a:t>
            </a:r>
          </a:p>
          <a:p>
            <a:pPr algn="l" rtl="0"/>
            <a:r>
              <a:rPr lang="en-US" dirty="0"/>
              <a:t>Hold-out validation:  training-validation-test method</a:t>
            </a:r>
          </a:p>
          <a:p>
            <a:pPr algn="l" rtl="0"/>
            <a:r>
              <a:rPr lang="en-US" dirty="0"/>
              <a:t>How to split into these 3 sets?</a:t>
            </a:r>
          </a:p>
          <a:p>
            <a:pPr algn="l" rtl="0"/>
            <a:r>
              <a:rPr lang="en-US" dirty="0"/>
              <a:t>Split may be random, but beware of bias</a:t>
            </a:r>
          </a:p>
          <a:p>
            <a:pPr lvl="1" algn="l" rtl="0"/>
            <a:r>
              <a:rPr lang="en-US" dirty="0"/>
              <a:t>Example: Seasonality</a:t>
            </a:r>
          </a:p>
          <a:p>
            <a:pPr algn="l" rtl="0">
              <a:buNone/>
            </a:pPr>
            <a:endParaRPr lang="en-US" dirty="0"/>
          </a:p>
          <a:p>
            <a:pPr lvl="1" algn="l" rtl="0">
              <a:buNone/>
            </a:pPr>
            <a:endParaRPr lang="en-US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Partition the data to k parts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In the </a:t>
            </a:r>
            <a:r>
              <a:rPr lang="en-US" dirty="0" err="1"/>
              <a:t>i’th</a:t>
            </a:r>
            <a:r>
              <a:rPr lang="en-US" dirty="0"/>
              <a:t> iteration, train on all except for the </a:t>
            </a:r>
            <a:r>
              <a:rPr lang="en-US" dirty="0" err="1"/>
              <a:t>i’th</a:t>
            </a:r>
            <a:r>
              <a:rPr lang="en-US" dirty="0"/>
              <a:t> part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Advantage: we do not “lose” data for the learning phase</a:t>
            </a:r>
            <a:endParaRPr lang="he-IL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Models)</a:t>
            </a:r>
            <a:r>
              <a:rPr lang="he-IL" dirty="0"/>
              <a:t>) </a:t>
            </a:r>
            <a:r>
              <a:rPr lang="en-US" dirty="0"/>
              <a:t>Measures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dirty="0"/>
              <a:t>True Positives (TP), False Positives (FP), True Negatives (TN), False Negatives (FN)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Precision = TP/(TP+FP)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Recall = TP/(TP+FN)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Need to balance between the two, e.g. optimize the </a:t>
            </a:r>
            <a:r>
              <a:rPr lang="en-US" dirty="0">
                <a:solidFill>
                  <a:srgbClr val="FF0000"/>
                </a:solidFill>
              </a:rPr>
              <a:t>F-measure</a:t>
            </a:r>
            <a:endParaRPr lang="he-I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Subtle Pitfalls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Unbalanced data</a:t>
            </a:r>
          </a:p>
          <a:p>
            <a:pPr lvl="1" algn="l" rtl="0"/>
            <a:r>
              <a:rPr lang="en-US" dirty="0"/>
              <a:t>Trying to predict if a patient has a very rare disease, 99% can be achieved by saying “NO”</a:t>
            </a:r>
          </a:p>
          <a:p>
            <a:pPr algn="l" rtl="0"/>
            <a:r>
              <a:rPr lang="en-US" dirty="0"/>
              <a:t>“Curse of dimensionality”</a:t>
            </a:r>
          </a:p>
          <a:p>
            <a:pPr lvl="1" algn="l" rtl="0"/>
            <a:r>
              <a:rPr lang="en-US" dirty="0"/>
              <a:t>High-dimensional data tends to be very sparse</a:t>
            </a:r>
          </a:p>
          <a:p>
            <a:pPr lvl="1" algn="l" rtl="0"/>
            <a:r>
              <a:rPr lang="en-US" dirty="0"/>
              <a:t>Typical solution: Dimension reduction through feature engineering</a:t>
            </a:r>
          </a:p>
          <a:p>
            <a:pPr algn="l" rtl="0"/>
            <a:r>
              <a:rPr lang="en-US" dirty="0"/>
              <a:t>Seasonality</a:t>
            </a:r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endParaRPr lang="en-US" dirty="0"/>
          </a:p>
          <a:p>
            <a:pPr algn="l" rtl="0"/>
            <a:r>
              <a:rPr lang="en-US" dirty="0"/>
              <a:t>Course website in </a:t>
            </a:r>
            <a:r>
              <a:rPr lang="en-US" dirty="0" err="1"/>
              <a:t>moodle</a:t>
            </a:r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dirty="0"/>
              <a:t>Forum in </a:t>
            </a:r>
            <a:r>
              <a:rPr lang="en-US" dirty="0" err="1"/>
              <a:t>moodle</a:t>
            </a:r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Projects in groups of 2/3, group size</a:t>
            </a:r>
          </a:p>
          <a:p>
            <a:pPr algn="l" rtl="0"/>
            <a:endParaRPr lang="en-US"/>
          </a:p>
          <a:p>
            <a:pPr algn="l" rtl="0"/>
            <a:r>
              <a:rPr lang="en-US"/>
              <a:t>Office </a:t>
            </a:r>
            <a:r>
              <a:rPr lang="en-US" dirty="0"/>
              <a:t>Hours: Omer Monday 11-12, Daniel Sunday 10-11, must email first:</a:t>
            </a:r>
          </a:p>
          <a:p>
            <a:pPr lvl="1" algn="l" rtl="0"/>
            <a:r>
              <a:rPr lang="en-US" dirty="0"/>
              <a:t>Daniel: </a:t>
            </a:r>
            <a:r>
              <a:rPr lang="en-US" dirty="0">
                <a:hlinkClick r:id="rId2"/>
              </a:rPr>
              <a:t>danielde@post.tau.ac.il</a:t>
            </a:r>
            <a:endParaRPr lang="en-US" dirty="0"/>
          </a:p>
          <a:p>
            <a:pPr lvl="1" algn="l" rtl="0"/>
            <a:r>
              <a:rPr lang="en-US" dirty="0"/>
              <a:t>Omer: omera1@mail.tau.ac.il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 rtl="0"/>
            <a:r>
              <a:rPr lang="en-US" dirty="0"/>
              <a:t>First task: form a group of 2 or 3 and register the group by upcoming Sunday</a:t>
            </a:r>
          </a:p>
          <a:p>
            <a:pPr lvl="1" algn="l" rtl="0"/>
            <a:r>
              <a:rPr lang="en-US" dirty="0"/>
              <a:t>Submission of group member </a:t>
            </a:r>
            <a:r>
              <a:rPr lang="en-US" dirty="0" err="1"/>
              <a:t>names+id</a:t>
            </a:r>
            <a:r>
              <a:rPr lang="en-US" dirty="0"/>
              <a:t> in text file via </a:t>
            </a:r>
            <a:r>
              <a:rPr lang="en-US" dirty="0" err="1"/>
              <a:t>moodle</a:t>
            </a:r>
            <a:r>
              <a:rPr lang="en-US" dirty="0"/>
              <a:t> (only one group member)</a:t>
            </a:r>
          </a:p>
          <a:p>
            <a:pPr algn="l" rtl="0"/>
            <a:r>
              <a:rPr lang="en-US" dirty="0"/>
              <a:t>First, highly nontrivial real task: define the project goal</a:t>
            </a:r>
          </a:p>
          <a:p>
            <a:pPr lvl="1" algn="l" rtl="0"/>
            <a:r>
              <a:rPr lang="en-US" dirty="0"/>
              <a:t>Choose tabular dataset from either</a:t>
            </a:r>
          </a:p>
          <a:p>
            <a:pPr lvl="2" algn="l" rtl="0"/>
            <a:r>
              <a:rPr lang="en-US" dirty="0"/>
              <a:t>World data bank </a:t>
            </a:r>
            <a:r>
              <a:rPr lang="en-US" dirty="0">
                <a:hlinkClick r:id="rId2"/>
              </a:rPr>
              <a:t>http://datacatalog.worldbank.org/</a:t>
            </a:r>
            <a:endParaRPr lang="en-US" dirty="0"/>
          </a:p>
          <a:p>
            <a:pPr lvl="2" algn="l" rtl="0"/>
            <a:r>
              <a:rPr lang="en-US" dirty="0" err="1"/>
              <a:t>Kaggle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https://www.kaggle.com/datasets</a:t>
            </a:r>
            <a:endParaRPr lang="en-US" dirty="0"/>
          </a:p>
          <a:p>
            <a:pPr lvl="1" algn="l" rtl="0"/>
            <a:endParaRPr lang="en-US" dirty="0"/>
          </a:p>
          <a:p>
            <a:pPr lvl="1" algn="l" rtl="0"/>
            <a:r>
              <a:rPr lang="en-US" dirty="0"/>
              <a:t>Look for datasets that is potentially extensible by other web sources, possibly non tabular</a:t>
            </a:r>
          </a:p>
          <a:p>
            <a:pPr lvl="1" algn="l" rtl="0"/>
            <a:endParaRPr lang="en-US" dirty="0"/>
          </a:p>
          <a:p>
            <a:pPr lvl="1" algn="l" rtl="0"/>
            <a:r>
              <a:rPr lang="en-US" dirty="0"/>
              <a:t>Overall: at least 4K records</a:t>
            </a:r>
          </a:p>
          <a:p>
            <a:pPr lvl="1" algn="l" rtl="0"/>
            <a:endParaRPr lang="en-US" dirty="0"/>
          </a:p>
          <a:p>
            <a:pPr lvl="1" algn="l" rtl="0"/>
            <a:r>
              <a:rPr lang="en-US" dirty="0"/>
              <a:t>Define a task: if you use the </a:t>
            </a:r>
            <a:r>
              <a:rPr lang="en-US" dirty="0" err="1"/>
              <a:t>kaggle</a:t>
            </a:r>
            <a:r>
              <a:rPr lang="en-US" dirty="0"/>
              <a:t> dataset, your task should be a </a:t>
            </a:r>
            <a:r>
              <a:rPr lang="en-US" i="1" dirty="0"/>
              <a:t>variant</a:t>
            </a:r>
            <a:r>
              <a:rPr lang="en-US" dirty="0"/>
              <a:t> of the </a:t>
            </a:r>
            <a:r>
              <a:rPr lang="en-US" dirty="0" err="1"/>
              <a:t>kaggle</a:t>
            </a:r>
            <a:r>
              <a:rPr lang="en-US" dirty="0"/>
              <a:t> task, not precisely the same one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Your project must include </a:t>
            </a:r>
            <a:r>
              <a:rPr lang="en-US" u="sng" dirty="0">
                <a:solidFill>
                  <a:srgbClr val="FF0000"/>
                </a:solidFill>
              </a:rPr>
              <a:t>a significant component of at least two areas out of data analysis/cleaning/integration, plus smart use of ML models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You will need to show iterations of improvements</a:t>
            </a:r>
          </a:p>
          <a:p>
            <a:pPr algn="l" rtl="0"/>
            <a:endParaRPr lang="en-US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Tentative Timeline: may change, and attendance will </a:t>
            </a:r>
            <a:r>
              <a:rPr lang="en-US"/>
              <a:t>still be mandatory</a:t>
            </a:r>
            <a:r>
              <a:rPr lang="en-US" dirty="0"/>
              <a:t>!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 rtl="0"/>
            <a:r>
              <a:rPr lang="en-US" dirty="0"/>
              <a:t>Attendance is mandatory up to </a:t>
            </a:r>
            <a:r>
              <a:rPr lang="en-US" dirty="0" err="1"/>
              <a:t>Miluim</a:t>
            </a:r>
            <a:r>
              <a:rPr lang="en-US" dirty="0"/>
              <a:t>, doctor’s note, etc.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Next two meetings (3.11,10.11): we teach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17.11,24.11: you present (well thought) ideas </a:t>
            </a:r>
          </a:p>
          <a:p>
            <a:pPr lvl="1" algn="l" rtl="0"/>
            <a:r>
              <a:rPr lang="en-US" dirty="0"/>
              <a:t>Including feasibility assessment, expected timeline, work plan, etc.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Then you work on the approved idea, ask for our advice as needed</a:t>
            </a:r>
          </a:p>
          <a:p>
            <a:pPr marL="457200" lvl="1" indent="0" algn="l" rtl="0">
              <a:buNone/>
            </a:pPr>
            <a:r>
              <a:rPr lang="en-US" dirty="0"/>
              <a:t> </a:t>
            </a:r>
          </a:p>
          <a:p>
            <a:pPr algn="l" rtl="0"/>
            <a:r>
              <a:rPr lang="en-US" dirty="0"/>
              <a:t>15.12,22.12:you present (checkpoint)</a:t>
            </a:r>
          </a:p>
          <a:p>
            <a:pPr lvl="1" algn="l" rtl="0"/>
            <a:r>
              <a:rPr lang="en-US" dirty="0"/>
              <a:t>By then we expect to see a significant working component</a:t>
            </a:r>
          </a:p>
          <a:p>
            <a:pPr marL="457200" lvl="1" indent="0" algn="l" rtl="0">
              <a:buNone/>
            </a:pPr>
            <a:endParaRPr lang="en-US" dirty="0"/>
          </a:p>
          <a:p>
            <a:pPr algn="l" rtl="0"/>
            <a:r>
              <a:rPr lang="he-IL" dirty="0"/>
              <a:t>19</a:t>
            </a:r>
            <a:r>
              <a:rPr lang="en-US" dirty="0"/>
              <a:t>.1 and/or 22.1: you present (final up to debugging)</a:t>
            </a:r>
          </a:p>
          <a:p>
            <a:pPr lvl="1" algn="l" rtl="0"/>
            <a:r>
              <a:rPr lang="en-US" dirty="0"/>
              <a:t>At least some use cases that work well and you can present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>
                <a:solidFill>
                  <a:srgbClr val="FF0000"/>
                </a:solidFill>
              </a:rPr>
              <a:t>15.3: project submission</a:t>
            </a:r>
          </a:p>
          <a:p>
            <a:pPr lvl="1" algn="l" rtl="0"/>
            <a:r>
              <a:rPr lang="en-US" dirty="0">
                <a:solidFill>
                  <a:srgbClr val="FF0000"/>
                </a:solidFill>
              </a:rPr>
              <a:t>Full fledged, working and debugged project</a:t>
            </a:r>
            <a:endParaRPr lang="he-IL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1809</Words>
  <Application>Microsoft Office PowerPoint</Application>
  <PresentationFormat>On-screen Show (4:3)</PresentationFormat>
  <Paragraphs>293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Neo Sans Intel</vt:lpstr>
      <vt:lpstr>Office Theme</vt:lpstr>
      <vt:lpstr>Workshop in Data Science </vt:lpstr>
      <vt:lpstr>Data Science</vt:lpstr>
      <vt:lpstr>DS Workshop</vt:lpstr>
      <vt:lpstr>Basic components</vt:lpstr>
      <vt:lpstr>Basic Components</vt:lpstr>
      <vt:lpstr>More details</vt:lpstr>
      <vt:lpstr>Exploring data</vt:lpstr>
      <vt:lpstr>Data Preparation</vt:lpstr>
      <vt:lpstr>Data Integration</vt:lpstr>
      <vt:lpstr>Data Distribution</vt:lpstr>
      <vt:lpstr>Distribution</vt:lpstr>
      <vt:lpstr> NULLs)) Data Cleaning</vt:lpstr>
      <vt:lpstr>Data Cleaning (outliers)</vt:lpstr>
      <vt:lpstr>Data Cleaning (outliers, cont.)</vt:lpstr>
      <vt:lpstr>Normalization</vt:lpstr>
      <vt:lpstr>Discretization</vt:lpstr>
      <vt:lpstr>Visualization</vt:lpstr>
      <vt:lpstr>Modeling</vt:lpstr>
      <vt:lpstr>Feature Selection and Engineering</vt:lpstr>
      <vt:lpstr>Training, Validation and Test set</vt:lpstr>
      <vt:lpstr>Feature selection</vt:lpstr>
      <vt:lpstr>Feature Engineering</vt:lpstr>
      <vt:lpstr>Modeling</vt:lpstr>
      <vt:lpstr>ML and this workshop</vt:lpstr>
      <vt:lpstr>  Validation and testing</vt:lpstr>
      <vt:lpstr>Cross-validation</vt:lpstr>
      <vt:lpstr>Predictive Models)) Measures</vt:lpstr>
      <vt:lpstr>Subtle Pitfalls</vt:lpstr>
      <vt:lpstr>Workshop</vt:lpstr>
      <vt:lpstr>Projects</vt:lpstr>
      <vt:lpstr>Tentative Timeline: may change, and attendance will still be mandatory!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danielde</dc:creator>
  <cp:lastModifiedBy>Daniel Deutch</cp:lastModifiedBy>
  <cp:revision>311</cp:revision>
  <dcterms:created xsi:type="dcterms:W3CDTF">2016-10-26T07:40:08Z</dcterms:created>
  <dcterms:modified xsi:type="dcterms:W3CDTF">2025-10-21T07:44:12Z</dcterms:modified>
</cp:coreProperties>
</file>