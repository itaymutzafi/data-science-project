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76" r:id="rId6"/>
    <p:sldId id="260" r:id="rId7"/>
    <p:sldId id="261" r:id="rId8"/>
    <p:sldId id="262" r:id="rId9"/>
    <p:sldId id="263" r:id="rId10"/>
    <p:sldId id="264" r:id="rId11"/>
    <p:sldId id="266" r:id="rId12"/>
    <p:sldId id="278" r:id="rId13"/>
    <p:sldId id="267" r:id="rId14"/>
    <p:sldId id="268" r:id="rId15"/>
    <p:sldId id="282" r:id="rId16"/>
    <p:sldId id="283" r:id="rId17"/>
    <p:sldId id="284" r:id="rId18"/>
    <p:sldId id="285" r:id="rId19"/>
    <p:sldId id="280" r:id="rId20"/>
    <p:sldId id="281" r:id="rId21"/>
    <p:sldId id="286" r:id="rId2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7" autoAdjust="0"/>
    <p:restoredTop sz="94660"/>
  </p:normalViewPr>
  <p:slideViewPr>
    <p:cSldViewPr snapToGrid="0">
      <p:cViewPr varScale="1">
        <p:scale>
          <a:sx n="96" d="100"/>
          <a:sy n="96" d="100"/>
        </p:scale>
        <p:origin x="249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3E445-233B-6023-A40A-06C8A7439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BD4E4-0157-7B48-E04B-1851E6032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5879D-9225-45E8-07E6-02F27E788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1B27-7414-410C-8E9A-67937A99BD26}" type="datetimeFigureOut">
              <a:rPr lang="en-IL" smtClean="0"/>
              <a:t>03/11/2025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996FF-A7C1-DAB8-01AF-C0058A434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76475-AA56-DEC6-1C91-4E95BA24E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86A41-67FD-4B11-951C-00B3857F03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7073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D6C9-D573-A35E-7267-8F59616C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DFEED-0925-7479-24D8-34C133DE4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D33D9-97CF-F5AD-5561-16F8B0B75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1B27-7414-410C-8E9A-67937A99BD26}" type="datetimeFigureOut">
              <a:rPr lang="en-IL" smtClean="0"/>
              <a:t>03/11/2025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B55CA-CC1E-1901-4442-36092FC1B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F4BCA-DB25-695F-8763-8B46AB026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86A41-67FD-4B11-951C-00B3857F03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25139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B81C3-A7CB-5EAB-9008-FFCD52F0D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CE45A-8C98-5105-AAAB-EB3929643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3810B-0B6A-9D30-7356-CC06990C3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1B27-7414-410C-8E9A-67937A99BD26}" type="datetimeFigureOut">
              <a:rPr lang="en-IL" smtClean="0"/>
              <a:t>03/11/2025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28797-9D9B-4926-C773-ECF80680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A1CFC-EAAA-CA64-29A4-6C7BA946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86A41-67FD-4B11-951C-00B3857F03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6160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3FC03-7624-B26B-CAAD-65CA427F0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D03BB-86FC-225B-8ADE-1F420E57A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6C65F-A9EA-154D-4BFC-86EE4407A4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D37CA-32E3-0835-8BC0-400D0BABA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1B27-7414-410C-8E9A-67937A99BD26}" type="datetimeFigureOut">
              <a:rPr lang="en-IL" smtClean="0"/>
              <a:t>03/11/2025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A12B6-DF77-3F35-7045-6D1CA341A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D0F41-5821-305D-A33A-E208DDBC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86A41-67FD-4B11-951C-00B3857F03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410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7BB18-C5AB-A033-2830-AB7C7376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18178-235A-2EFE-B30D-C714E9F66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74156-FE92-A9A3-A382-935668340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48E506-83DC-B905-F6D3-35B5B15D5E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67C0C-A1A8-2290-A40F-04F46BE3C9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F068D2-7C49-ECED-ED94-9E6D488A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1B27-7414-410C-8E9A-67937A99BD26}" type="datetimeFigureOut">
              <a:rPr lang="en-IL" smtClean="0"/>
              <a:t>03/11/2025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632160-08EE-51F5-8136-3B9F1BF1F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15716A-2222-EBC4-39D0-B7D8E9E96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86A41-67FD-4B11-951C-00B3857F03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27594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757AC-FD96-F54B-78AD-E18AB7F73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8AA9ED-D730-EC5E-6B91-8782DEE6A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1B27-7414-410C-8E9A-67937A99BD26}" type="datetimeFigureOut">
              <a:rPr lang="en-IL" smtClean="0"/>
              <a:t>03/11/2025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356339-19D9-1FAF-40E5-1A75579F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C8F768-FFAA-211E-18A5-C01E48123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86A41-67FD-4B11-951C-00B3857F03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10519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A1AD2A-7367-1706-29F5-35A298CA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1B27-7414-410C-8E9A-67937A99BD26}" type="datetimeFigureOut">
              <a:rPr lang="en-IL" smtClean="0"/>
              <a:t>03/11/2025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AD822B-004A-2610-755F-FC6EA910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BEB1D-C766-CB9B-D399-A3E44878D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86A41-67FD-4B11-951C-00B3857F03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20344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05158-DCE4-2BF4-55FC-836317B53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B0E3F-7487-4285-051F-0F078124D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723A4A-8F7B-BEB6-5A81-AB3C25CD6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F2AB6-D646-C46C-D3AA-DD9903834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1B27-7414-410C-8E9A-67937A99BD26}" type="datetimeFigureOut">
              <a:rPr lang="en-IL" smtClean="0"/>
              <a:t>03/11/2025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BA49A-2F65-5179-DC12-D218DC68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86097-12A3-7A1F-ED09-552129B2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86A41-67FD-4B11-951C-00B3857F03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64650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8FF92-D9F0-CF5B-2B31-DFA5D2822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F20832-2D93-3F82-64AB-6B60F32888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CDB46B-114B-3D22-6EAD-5E9C4F5D3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99E45-5122-B3C0-C570-FAFB025F7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1B27-7414-410C-8E9A-67937A99BD26}" type="datetimeFigureOut">
              <a:rPr lang="en-IL" smtClean="0"/>
              <a:t>03/11/2025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F4E56-110B-DABA-67C4-9E9A4817F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94C2B-2256-168B-B06B-7C6DF8F4A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86A41-67FD-4B11-951C-00B3857F03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31624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CD05D-129D-B1BC-ADDE-9D0526D7C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D67686-5B9E-24BF-F660-FD2EA0A02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4C0A7-75D3-3501-A066-382A1B3BC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1B27-7414-410C-8E9A-67937A99BD26}" type="datetimeFigureOut">
              <a:rPr lang="en-IL" smtClean="0"/>
              <a:t>03/11/2025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53432-2341-456A-E9C3-69E9CD2C2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BB577-F898-94D4-8C95-E05FCD18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86A41-67FD-4B11-951C-00B3857F03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3112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13BA9F-C32F-36E1-3538-122E771029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045D0-864B-6D7B-8238-4F739AD3C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5A116-4D2E-8FBD-65E5-2F982582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41B27-7414-410C-8E9A-67937A99BD26}" type="datetimeFigureOut">
              <a:rPr lang="en-IL" smtClean="0"/>
              <a:t>03/11/2025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C7E6C-D27C-FB87-97EC-A7049491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3355E-C751-0A0D-2615-2D042BB96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86A41-67FD-4B11-951C-00B3857F03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04533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E71F5C-7D20-29DB-E9A6-22A468CD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9F8AD-7CF4-6850-8994-9F992FE26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839BE-A744-2251-B4FD-0D1139F897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41B27-7414-410C-8E9A-67937A99BD26}" type="datetimeFigureOut">
              <a:rPr lang="en-IL" smtClean="0"/>
              <a:t>03/11/2025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94BD7-2F13-44A5-C7D8-DA5AF62EA6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A8B03-3174-534A-43FE-BC890D0086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C86A41-67FD-4B11-951C-00B3857F03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1081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omera1@mail.tau.ac.i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CA5C1-EADA-AAE9-7FCF-B242599023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Workshop in Data Science</a:t>
            </a:r>
            <a:br>
              <a:rPr lang="en-US" dirty="0"/>
            </a:br>
            <a:r>
              <a:rPr lang="en-US" dirty="0"/>
              <a:t>Tutorial 1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222AD-C274-FADE-7235-1962E54E98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03/11/2025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19313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A0BD2-2079-C6E4-26DB-8F275DFC0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 and Administration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40BAA-C893-4528-066B-7DF0E0AF8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Form groups of 2-3 until EOW (In Moodle).</a:t>
            </a:r>
          </a:p>
          <a:p>
            <a:r>
              <a:rPr lang="en-US" dirty="0"/>
              <a:t>My email - </a:t>
            </a:r>
            <a:r>
              <a:rPr lang="en-US" dirty="0">
                <a:hlinkClick r:id="rId2"/>
              </a:rPr>
              <a:t>omera1@mail.tau.ac.il</a:t>
            </a:r>
            <a:r>
              <a:rPr lang="en-US" dirty="0"/>
              <a:t> – contact for meeting. (Monday 11-12)</a:t>
            </a:r>
          </a:p>
          <a:p>
            <a:endParaRPr lang="en-US" dirty="0"/>
          </a:p>
          <a:p>
            <a:endParaRPr lang="en-I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0F4B7F-38A9-246E-62C4-A18C79AE5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251034"/>
              </p:ext>
            </p:extLst>
          </p:nvPr>
        </p:nvGraphicFramePr>
        <p:xfrm>
          <a:off x="2702891" y="3798542"/>
          <a:ext cx="595906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9531">
                  <a:extLst>
                    <a:ext uri="{9D8B030D-6E8A-4147-A177-3AD203B41FA5}">
                      <a16:colId xmlns:a16="http://schemas.microsoft.com/office/drawing/2014/main" val="133799473"/>
                    </a:ext>
                  </a:extLst>
                </a:gridCol>
                <a:gridCol w="2979531">
                  <a:extLst>
                    <a:ext uri="{9D8B030D-6E8A-4147-A177-3AD203B41FA5}">
                      <a16:colId xmlns:a16="http://schemas.microsoft.com/office/drawing/2014/main" val="1474312498"/>
                    </a:ext>
                  </a:extLst>
                </a:gridCol>
              </a:tblGrid>
              <a:tr h="29253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Schedule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350070"/>
                  </a:ext>
                </a:extLst>
              </a:tr>
              <a:tr h="292530">
                <a:tc>
                  <a:txBody>
                    <a:bodyPr/>
                    <a:lstStyle/>
                    <a:p>
                      <a:r>
                        <a:rPr lang="en-US" dirty="0"/>
                        <a:t>10.11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Tutorial 2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7410"/>
                  </a:ext>
                </a:extLst>
              </a:tr>
              <a:tr h="292530">
                <a:tc>
                  <a:txBody>
                    <a:bodyPr/>
                    <a:lstStyle/>
                    <a:p>
                      <a:r>
                        <a:rPr lang="en-US" dirty="0"/>
                        <a:t>17.11, 24.11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Initial idea presentation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09833"/>
                  </a:ext>
                </a:extLst>
              </a:tr>
              <a:tr h="292530">
                <a:tc>
                  <a:txBody>
                    <a:bodyPr/>
                    <a:lstStyle/>
                    <a:p>
                      <a:r>
                        <a:rPr lang="en-US" dirty="0"/>
                        <a:t>15.12, 22.12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Checkpoint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401499"/>
                  </a:ext>
                </a:extLst>
              </a:tr>
              <a:tr h="292530">
                <a:tc>
                  <a:txBody>
                    <a:bodyPr/>
                    <a:lstStyle/>
                    <a:p>
                      <a:r>
                        <a:rPr lang="en-US" dirty="0"/>
                        <a:t>19.01, 22.01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 presentation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311063"/>
                  </a:ext>
                </a:extLst>
              </a:tr>
              <a:tr h="292530">
                <a:tc>
                  <a:txBody>
                    <a:bodyPr/>
                    <a:lstStyle/>
                    <a:p>
                      <a:r>
                        <a:rPr lang="en-US" dirty="0"/>
                        <a:t>15.03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 Submission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164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054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C756D-B779-A159-1C14-F860123C5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Pipeline</a:t>
            </a:r>
            <a:endParaRPr lang="en-IL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014D0E-4134-67AB-7F44-57F2A7AC8A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26756" y="1738083"/>
            <a:ext cx="4477008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45538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384B6-A32C-6454-D9B5-220A9EF86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68423-BAB7-7F6F-2927-B239610AB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Exploration</a:t>
            </a:r>
          </a:p>
          <a:p>
            <a:r>
              <a:rPr lang="en-US" dirty="0"/>
              <a:t>Data Cleaning</a:t>
            </a:r>
            <a:endParaRPr lang="en-GB" dirty="0"/>
          </a:p>
          <a:p>
            <a:r>
              <a:rPr lang="en-GB" dirty="0"/>
              <a:t>Some Visualization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87307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12A2-C76D-0D6A-368B-4808B3F2D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your data (EDA)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C8978-B9A1-A1C6-C8CA-C620E92DA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a “feel” of the data</a:t>
            </a:r>
          </a:p>
          <a:p>
            <a:r>
              <a:rPr lang="en-US" dirty="0"/>
              <a:t>Understand data quality</a:t>
            </a:r>
          </a:p>
          <a:p>
            <a:r>
              <a:rPr lang="en-US" dirty="0"/>
              <a:t>Do we need more data? </a:t>
            </a:r>
          </a:p>
          <a:p>
            <a:r>
              <a:rPr lang="en-US" dirty="0"/>
              <a:t>What features can we take from the data?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93651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B2AC5-5693-5AD6-A8CD-D63289229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read data?</a:t>
            </a:r>
            <a:endParaRPr lang="en-I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4F6161-8FEB-728A-43B6-5110DF52CE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8259613"/>
              </p:ext>
            </p:extLst>
          </p:nvPr>
        </p:nvGraphicFramePr>
        <p:xfrm>
          <a:off x="1215889" y="2476639"/>
          <a:ext cx="4310271" cy="2185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757">
                  <a:extLst>
                    <a:ext uri="{9D8B030D-6E8A-4147-A177-3AD203B41FA5}">
                      <a16:colId xmlns:a16="http://schemas.microsoft.com/office/drawing/2014/main" val="261995375"/>
                    </a:ext>
                  </a:extLst>
                </a:gridCol>
                <a:gridCol w="1436757">
                  <a:extLst>
                    <a:ext uri="{9D8B030D-6E8A-4147-A177-3AD203B41FA5}">
                      <a16:colId xmlns:a16="http://schemas.microsoft.com/office/drawing/2014/main" val="768749606"/>
                    </a:ext>
                  </a:extLst>
                </a:gridCol>
                <a:gridCol w="1436757">
                  <a:extLst>
                    <a:ext uri="{9D8B030D-6E8A-4147-A177-3AD203B41FA5}">
                      <a16:colId xmlns:a16="http://schemas.microsoft.com/office/drawing/2014/main" val="918808202"/>
                    </a:ext>
                  </a:extLst>
                </a:gridCol>
              </a:tblGrid>
              <a:tr h="437023">
                <a:tc>
                  <a:txBody>
                    <a:bodyPr/>
                    <a:lstStyle/>
                    <a:p>
                      <a:r>
                        <a:rPr lang="en-US" dirty="0"/>
                        <a:t>Cat Color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Length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Height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501516"/>
                  </a:ext>
                </a:extLst>
              </a:tr>
              <a:tr h="437023">
                <a:tc>
                  <a:txBody>
                    <a:bodyPr/>
                    <a:lstStyle/>
                    <a:p>
                      <a:r>
                        <a:rPr lang="en-US" dirty="0"/>
                        <a:t>Orange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115245"/>
                  </a:ext>
                </a:extLst>
              </a:tr>
              <a:tr h="437023">
                <a:tc>
                  <a:txBody>
                    <a:bodyPr/>
                    <a:lstStyle/>
                    <a:p>
                      <a:r>
                        <a:rPr lang="en-US" dirty="0"/>
                        <a:t>White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495394"/>
                  </a:ext>
                </a:extLst>
              </a:tr>
              <a:tr h="437023">
                <a:tc>
                  <a:txBody>
                    <a:bodyPr/>
                    <a:lstStyle/>
                    <a:p>
                      <a:r>
                        <a:rPr lang="en-US" dirty="0"/>
                        <a:t>Tabby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268625"/>
                  </a:ext>
                </a:extLst>
              </a:tr>
              <a:tr h="437023">
                <a:tc>
                  <a:txBody>
                    <a:bodyPr/>
                    <a:lstStyle/>
                    <a:p>
                      <a:r>
                        <a:rPr lang="en-US" dirty="0"/>
                        <a:t>Black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94295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637825E-0CD2-19F8-B390-DF79598DACDD}"/>
              </a:ext>
            </a:extLst>
          </p:cNvPr>
          <p:cNvSpPr txBox="1"/>
          <p:nvPr/>
        </p:nvSpPr>
        <p:spPr>
          <a:xfrm>
            <a:off x="948088" y="1809549"/>
            <a:ext cx="4490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Cats Dataset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69240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89E6F-6854-660A-427B-4621C0F8D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3013A-EECE-6755-28BE-AE893D8C8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read data?</a:t>
            </a:r>
            <a:endParaRPr lang="en-I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32ACC7-C193-9432-7535-867D62734E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9830407"/>
              </p:ext>
            </p:extLst>
          </p:nvPr>
        </p:nvGraphicFramePr>
        <p:xfrm>
          <a:off x="1210919" y="2476639"/>
          <a:ext cx="4310271" cy="2185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757">
                  <a:extLst>
                    <a:ext uri="{9D8B030D-6E8A-4147-A177-3AD203B41FA5}">
                      <a16:colId xmlns:a16="http://schemas.microsoft.com/office/drawing/2014/main" val="261995375"/>
                    </a:ext>
                  </a:extLst>
                </a:gridCol>
                <a:gridCol w="1436757">
                  <a:extLst>
                    <a:ext uri="{9D8B030D-6E8A-4147-A177-3AD203B41FA5}">
                      <a16:colId xmlns:a16="http://schemas.microsoft.com/office/drawing/2014/main" val="768749606"/>
                    </a:ext>
                  </a:extLst>
                </a:gridCol>
                <a:gridCol w="1436757">
                  <a:extLst>
                    <a:ext uri="{9D8B030D-6E8A-4147-A177-3AD203B41FA5}">
                      <a16:colId xmlns:a16="http://schemas.microsoft.com/office/drawing/2014/main" val="918808202"/>
                    </a:ext>
                  </a:extLst>
                </a:gridCol>
              </a:tblGrid>
              <a:tr h="437023">
                <a:tc>
                  <a:txBody>
                    <a:bodyPr/>
                    <a:lstStyle/>
                    <a:p>
                      <a:r>
                        <a:rPr lang="en-US" dirty="0"/>
                        <a:t>Cat Color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Length(cm)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Height(cm)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501516"/>
                  </a:ext>
                </a:extLst>
              </a:tr>
              <a:tr h="437023">
                <a:tc>
                  <a:txBody>
                    <a:bodyPr/>
                    <a:lstStyle/>
                    <a:p>
                      <a:r>
                        <a:rPr lang="en-US" dirty="0"/>
                        <a:t>Orange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115245"/>
                  </a:ext>
                </a:extLst>
              </a:tr>
              <a:tr h="437023">
                <a:tc>
                  <a:txBody>
                    <a:bodyPr/>
                    <a:lstStyle/>
                    <a:p>
                      <a:r>
                        <a:rPr lang="en-US" dirty="0"/>
                        <a:t>White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495394"/>
                  </a:ext>
                </a:extLst>
              </a:tr>
              <a:tr h="437023">
                <a:tc>
                  <a:txBody>
                    <a:bodyPr/>
                    <a:lstStyle/>
                    <a:p>
                      <a:r>
                        <a:rPr lang="en-US" dirty="0"/>
                        <a:t>Tabby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268625"/>
                  </a:ext>
                </a:extLst>
              </a:tr>
              <a:tr h="437023">
                <a:tc>
                  <a:txBody>
                    <a:bodyPr/>
                    <a:lstStyle/>
                    <a:p>
                      <a:r>
                        <a:rPr lang="en-US" dirty="0"/>
                        <a:t>Black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94295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21E92C0-25F3-30B0-04D6-B786D1514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130" y="1822011"/>
            <a:ext cx="5582305" cy="37215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2A9F3B-0FC6-65FB-9017-FA5B4537CA2E}"/>
              </a:ext>
            </a:extLst>
          </p:cNvPr>
          <p:cNvSpPr txBox="1"/>
          <p:nvPr/>
        </p:nvSpPr>
        <p:spPr>
          <a:xfrm>
            <a:off x="948088" y="1809549"/>
            <a:ext cx="4490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Cats Dataset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73963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31E43-33B6-4EEB-0A35-134507FED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5A5B8-A624-83F3-E271-9DF5868A0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read data?</a:t>
            </a:r>
            <a:endParaRPr lang="en-I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A51445-C024-6989-AF7A-9F39F5EF4F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3325700"/>
              </p:ext>
            </p:extLst>
          </p:nvPr>
        </p:nvGraphicFramePr>
        <p:xfrm>
          <a:off x="1210919" y="2476639"/>
          <a:ext cx="4310271" cy="2185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757">
                  <a:extLst>
                    <a:ext uri="{9D8B030D-6E8A-4147-A177-3AD203B41FA5}">
                      <a16:colId xmlns:a16="http://schemas.microsoft.com/office/drawing/2014/main" val="261995375"/>
                    </a:ext>
                  </a:extLst>
                </a:gridCol>
                <a:gridCol w="1436757">
                  <a:extLst>
                    <a:ext uri="{9D8B030D-6E8A-4147-A177-3AD203B41FA5}">
                      <a16:colId xmlns:a16="http://schemas.microsoft.com/office/drawing/2014/main" val="768749606"/>
                    </a:ext>
                  </a:extLst>
                </a:gridCol>
                <a:gridCol w="1436757">
                  <a:extLst>
                    <a:ext uri="{9D8B030D-6E8A-4147-A177-3AD203B41FA5}">
                      <a16:colId xmlns:a16="http://schemas.microsoft.com/office/drawing/2014/main" val="918808202"/>
                    </a:ext>
                  </a:extLst>
                </a:gridCol>
              </a:tblGrid>
              <a:tr h="437023">
                <a:tc>
                  <a:txBody>
                    <a:bodyPr/>
                    <a:lstStyle/>
                    <a:p>
                      <a:r>
                        <a:rPr lang="en-US" dirty="0"/>
                        <a:t>Cat Color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Length(m)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Height(m)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501516"/>
                  </a:ext>
                </a:extLst>
              </a:tr>
              <a:tr h="437023">
                <a:tc>
                  <a:txBody>
                    <a:bodyPr/>
                    <a:lstStyle/>
                    <a:p>
                      <a:r>
                        <a:rPr lang="en-US" dirty="0"/>
                        <a:t>Orange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115245"/>
                  </a:ext>
                </a:extLst>
              </a:tr>
              <a:tr h="437023">
                <a:tc>
                  <a:txBody>
                    <a:bodyPr/>
                    <a:lstStyle/>
                    <a:p>
                      <a:r>
                        <a:rPr lang="en-US" dirty="0"/>
                        <a:t>White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495394"/>
                  </a:ext>
                </a:extLst>
              </a:tr>
              <a:tr h="437023">
                <a:tc>
                  <a:txBody>
                    <a:bodyPr/>
                    <a:lstStyle/>
                    <a:p>
                      <a:r>
                        <a:rPr lang="en-US" dirty="0"/>
                        <a:t>Tabby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268625"/>
                  </a:ext>
                </a:extLst>
              </a:tr>
              <a:tr h="437023">
                <a:tc>
                  <a:txBody>
                    <a:bodyPr/>
                    <a:lstStyle/>
                    <a:p>
                      <a:r>
                        <a:rPr lang="en-US" dirty="0"/>
                        <a:t>Black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9429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E2F8050-A3F5-EDA4-EA29-41E7C64BA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299" y="1831354"/>
            <a:ext cx="5504936" cy="36699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C31058-64F1-FD27-5FF9-06622C6CB54F}"/>
              </a:ext>
            </a:extLst>
          </p:cNvPr>
          <p:cNvSpPr txBox="1"/>
          <p:nvPr/>
        </p:nvSpPr>
        <p:spPr>
          <a:xfrm>
            <a:off x="948088" y="1809549"/>
            <a:ext cx="4490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Cats Dataset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28246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53C08-89BF-D02E-B6F0-BD6A979F6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F34A2-6CC3-21F7-3BE4-BA93FA878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read data?</a:t>
            </a:r>
            <a:endParaRPr lang="en-I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0CCA29-2BED-349E-0415-D831ED82B4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5581661"/>
              </p:ext>
            </p:extLst>
          </p:nvPr>
        </p:nvGraphicFramePr>
        <p:xfrm>
          <a:off x="1210919" y="2476639"/>
          <a:ext cx="4310271" cy="2185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757">
                  <a:extLst>
                    <a:ext uri="{9D8B030D-6E8A-4147-A177-3AD203B41FA5}">
                      <a16:colId xmlns:a16="http://schemas.microsoft.com/office/drawing/2014/main" val="261995375"/>
                    </a:ext>
                  </a:extLst>
                </a:gridCol>
                <a:gridCol w="1436757">
                  <a:extLst>
                    <a:ext uri="{9D8B030D-6E8A-4147-A177-3AD203B41FA5}">
                      <a16:colId xmlns:a16="http://schemas.microsoft.com/office/drawing/2014/main" val="768749606"/>
                    </a:ext>
                  </a:extLst>
                </a:gridCol>
                <a:gridCol w="1436757">
                  <a:extLst>
                    <a:ext uri="{9D8B030D-6E8A-4147-A177-3AD203B41FA5}">
                      <a16:colId xmlns:a16="http://schemas.microsoft.com/office/drawing/2014/main" val="918808202"/>
                    </a:ext>
                  </a:extLst>
                </a:gridCol>
              </a:tblGrid>
              <a:tr h="437023">
                <a:tc>
                  <a:txBody>
                    <a:bodyPr/>
                    <a:lstStyle/>
                    <a:p>
                      <a:r>
                        <a:rPr lang="en-US" dirty="0"/>
                        <a:t>Cat Color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Length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Height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501516"/>
                  </a:ext>
                </a:extLst>
              </a:tr>
              <a:tr h="437023">
                <a:tc>
                  <a:txBody>
                    <a:bodyPr/>
                    <a:lstStyle/>
                    <a:p>
                      <a:r>
                        <a:rPr lang="en-US" dirty="0"/>
                        <a:t>Orange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115245"/>
                  </a:ext>
                </a:extLst>
              </a:tr>
              <a:tr h="437023">
                <a:tc>
                  <a:txBody>
                    <a:bodyPr/>
                    <a:lstStyle/>
                    <a:p>
                      <a:r>
                        <a:rPr lang="en-US" dirty="0"/>
                        <a:t>White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495394"/>
                  </a:ext>
                </a:extLst>
              </a:tr>
              <a:tr h="437023">
                <a:tc>
                  <a:txBody>
                    <a:bodyPr/>
                    <a:lstStyle/>
                    <a:p>
                      <a:r>
                        <a:rPr lang="en-US" dirty="0"/>
                        <a:t>Tabby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268625"/>
                  </a:ext>
                </a:extLst>
              </a:tr>
              <a:tr h="437023">
                <a:tc>
                  <a:txBody>
                    <a:bodyPr/>
                    <a:lstStyle/>
                    <a:p>
                      <a:r>
                        <a:rPr lang="en-US" dirty="0"/>
                        <a:t>Black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94295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759DDC9-F927-991F-D36D-1D117AEFC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28743"/>
            <a:ext cx="5649569" cy="37663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0701B8-1861-AFE5-A1BC-C2541B967301}"/>
              </a:ext>
            </a:extLst>
          </p:cNvPr>
          <p:cNvSpPr txBox="1"/>
          <p:nvPr/>
        </p:nvSpPr>
        <p:spPr>
          <a:xfrm>
            <a:off x="680830" y="5287617"/>
            <a:ext cx="17145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Length: </a:t>
            </a:r>
            <a:br>
              <a:rPr lang="en-US" dirty="0"/>
            </a:br>
            <a:r>
              <a:rPr lang="en-US" dirty="0"/>
              <a:t>40 – short</a:t>
            </a:r>
          </a:p>
          <a:p>
            <a:r>
              <a:rPr lang="en-US" dirty="0"/>
              <a:t>35 – medium</a:t>
            </a:r>
          </a:p>
          <a:p>
            <a:r>
              <a:rPr lang="en-US" dirty="0"/>
              <a:t>10 – Long</a:t>
            </a:r>
          </a:p>
          <a:p>
            <a:r>
              <a:rPr lang="en-US" dirty="0"/>
              <a:t>20 – Very Long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3A399C-05D3-E4B0-DCB1-DFED5D3FCDDC}"/>
              </a:ext>
            </a:extLst>
          </p:cNvPr>
          <p:cNvSpPr txBox="1"/>
          <p:nvPr/>
        </p:nvSpPr>
        <p:spPr>
          <a:xfrm>
            <a:off x="2862059" y="5287617"/>
            <a:ext cx="60951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Height:</a:t>
            </a:r>
          </a:p>
          <a:p>
            <a:r>
              <a:rPr lang="en-US" dirty="0"/>
              <a:t>10 -Short </a:t>
            </a:r>
            <a:br>
              <a:rPr lang="en-US" dirty="0"/>
            </a:br>
            <a:r>
              <a:rPr lang="en-US" dirty="0"/>
              <a:t>40 – Medium</a:t>
            </a:r>
          </a:p>
          <a:p>
            <a:r>
              <a:rPr lang="en-US" dirty="0"/>
              <a:t>50 – Tall</a:t>
            </a:r>
          </a:p>
          <a:p>
            <a:r>
              <a:rPr lang="en-US" dirty="0"/>
              <a:t>20 – Very Tall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46FE07-EAF1-B408-92F7-1DDD729EF5FB}"/>
              </a:ext>
            </a:extLst>
          </p:cNvPr>
          <p:cNvSpPr txBox="1"/>
          <p:nvPr/>
        </p:nvSpPr>
        <p:spPr>
          <a:xfrm>
            <a:off x="948088" y="1809549"/>
            <a:ext cx="4490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Cats Dataset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082258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A592D-EE54-EE82-04F4-0DC33F15D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continue?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FC659-9C76-43DB-B910-982D2A50C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at the data</a:t>
            </a:r>
          </a:p>
          <a:p>
            <a:r>
              <a:rPr lang="en-US" dirty="0"/>
              <a:t>Perform basic analysis</a:t>
            </a:r>
          </a:p>
          <a:p>
            <a:pPr lvl="1"/>
            <a:r>
              <a:rPr lang="en-US" dirty="0"/>
              <a:t>What type of features do we have? </a:t>
            </a:r>
          </a:p>
          <a:p>
            <a:pPr lvl="1"/>
            <a:r>
              <a:rPr lang="en-US" dirty="0"/>
              <a:t>How do features behave?</a:t>
            </a:r>
          </a:p>
          <a:p>
            <a:pPr lvl="1"/>
            <a:r>
              <a:rPr lang="en-US" dirty="0"/>
              <a:t>Ho do different features correlate? </a:t>
            </a:r>
          </a:p>
          <a:p>
            <a:pPr lvl="1"/>
            <a:r>
              <a:rPr lang="en-US" dirty="0"/>
              <a:t>D</a:t>
            </a:r>
            <a:r>
              <a:rPr lang="en-GB" dirty="0"/>
              <a:t>o we have enough data? </a:t>
            </a:r>
            <a:endParaRPr lang="en-US" dirty="0"/>
          </a:p>
          <a:p>
            <a:pPr lvl="1"/>
            <a:r>
              <a:rPr lang="en-US" dirty="0"/>
              <a:t>What is the distribution of data?</a:t>
            </a:r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95355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78F6C-6DF4-5F0A-AE31-F4C570F8A4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  <a:endParaRPr lang="en-IL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8C78F45-0895-CB0B-5BC6-09622AD00B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4233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A36A3-4D99-6CC5-7185-A45B8741D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Missing Values – Why is it missing?</a:t>
            </a:r>
            <a:endParaRPr lang="en-IL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B49463-29B1-F2E2-B235-0DA6104D437D}"/>
              </a:ext>
            </a:extLst>
          </p:cNvPr>
          <p:cNvSpPr/>
          <p:nvPr/>
        </p:nvSpPr>
        <p:spPr>
          <a:xfrm>
            <a:off x="1373595" y="2006865"/>
            <a:ext cx="2146434" cy="11502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Missing Completely At Random</a:t>
            </a:r>
          </a:p>
          <a:p>
            <a:pPr algn="ctr"/>
            <a:r>
              <a:rPr lang="en-GB" dirty="0"/>
              <a:t>(MCAR)</a:t>
            </a:r>
            <a:endParaRPr lang="en-IL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C92E96C-D1D0-DDBC-5975-A94D15D3A3BF}"/>
              </a:ext>
            </a:extLst>
          </p:cNvPr>
          <p:cNvSpPr/>
          <p:nvPr/>
        </p:nvSpPr>
        <p:spPr>
          <a:xfrm>
            <a:off x="5262733" y="2006864"/>
            <a:ext cx="2146434" cy="11502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Missing At Random</a:t>
            </a:r>
          </a:p>
          <a:p>
            <a:pPr algn="ctr"/>
            <a:r>
              <a:rPr lang="en-GB" dirty="0"/>
              <a:t>(MAR)</a:t>
            </a:r>
            <a:endParaRPr lang="en-IL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503ACA-0019-82BF-FA6D-3B325942D895}"/>
              </a:ext>
            </a:extLst>
          </p:cNvPr>
          <p:cNvSpPr/>
          <p:nvPr/>
        </p:nvSpPr>
        <p:spPr>
          <a:xfrm>
            <a:off x="8827417" y="2006865"/>
            <a:ext cx="2146434" cy="11502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Missing Not At Random</a:t>
            </a:r>
          </a:p>
          <a:p>
            <a:pPr algn="ctr"/>
            <a:r>
              <a:rPr lang="en-GB" dirty="0"/>
              <a:t>(MNAR)</a:t>
            </a:r>
            <a:endParaRPr lang="en-IL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BCFB47-0408-EFAA-77D4-963238577A18}"/>
              </a:ext>
            </a:extLst>
          </p:cNvPr>
          <p:cNvSpPr/>
          <p:nvPr/>
        </p:nvSpPr>
        <p:spPr>
          <a:xfrm>
            <a:off x="838200" y="3623907"/>
            <a:ext cx="3217224" cy="23767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 data are MCAR when the chance that a value for a certain variable is missing is not linked to the value of other observed variables and not linked to the variable with the missing value itself.</a:t>
            </a:r>
            <a:endParaRPr lang="en-IL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8BAB83-103D-5339-E021-8D71B3D58532}"/>
              </a:ext>
            </a:extLst>
          </p:cNvPr>
          <p:cNvSpPr/>
          <p:nvPr/>
        </p:nvSpPr>
        <p:spPr>
          <a:xfrm>
            <a:off x="4727338" y="3623450"/>
            <a:ext cx="3217224" cy="23767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 data are MCAR when the chance that a value for a certain variable is missing is linked to the value of other observed variables but not linked to the variable with the missing value itself.</a:t>
            </a:r>
            <a:endParaRPr lang="en-IL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A8B4FB0-0C2F-A629-4C02-0B85AD0420C3}"/>
              </a:ext>
            </a:extLst>
          </p:cNvPr>
          <p:cNvSpPr/>
          <p:nvPr/>
        </p:nvSpPr>
        <p:spPr>
          <a:xfrm>
            <a:off x="8292022" y="3623450"/>
            <a:ext cx="3217224" cy="23767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 data are MNAR when the chance that a value for a certain variable is missing is linked to the value of that variable.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48141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Outliers are data points that are significantly different from most of the other observations.</a:t>
            </a:r>
          </a:p>
          <a:p>
            <a:pPr lvl="1"/>
            <a:r>
              <a:rPr lang="en-US" dirty="0"/>
              <a:t>Error in data measurement/preprocessing?  (999$ instead of 9.99$)</a:t>
            </a:r>
          </a:p>
          <a:p>
            <a:pPr lvl="1"/>
            <a:r>
              <a:rPr lang="en-US" dirty="0"/>
              <a:t>Natural variability? (a rare but real event)</a:t>
            </a:r>
          </a:p>
          <a:p>
            <a:pPr lvl="1"/>
            <a:r>
              <a:rPr lang="en-US" dirty="0"/>
              <a:t>Sampling bias? (outliers are relative to the sample, not to reality)</a:t>
            </a:r>
          </a:p>
          <a:p>
            <a:r>
              <a:rPr lang="en-US" dirty="0"/>
              <a:t>Outliers can damage the performance of certain algorithms.</a:t>
            </a:r>
            <a:br>
              <a:rPr lang="en-US" dirty="0"/>
            </a:br>
            <a:endParaRPr lang="en-US" dirty="0"/>
          </a:p>
          <a:p>
            <a:pPr algn="l" rtl="0"/>
            <a:endParaRPr lang="he-IL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dirty="0"/>
              <a:t>If there are few, check them (if very few, do it manually)</a:t>
            </a:r>
          </a:p>
          <a:p>
            <a:pPr lvl="1" algn="l" rtl="0"/>
            <a:r>
              <a:rPr lang="en-US" dirty="0"/>
              <a:t>If seem like errors, simply discard</a:t>
            </a:r>
          </a:p>
          <a:p>
            <a:pPr lvl="1" algn="l" rtl="0"/>
            <a:r>
              <a:rPr lang="en-US" dirty="0"/>
              <a:t>Otherwise, may need a special treatment or adapting the distribution </a:t>
            </a:r>
          </a:p>
          <a:p>
            <a:pPr algn="l" rtl="0"/>
            <a:r>
              <a:rPr lang="en-US" dirty="0"/>
              <a:t>If there are many, perhaps the inferred distribution was not correct </a:t>
            </a:r>
          </a:p>
          <a:p>
            <a:pPr lvl="1" algn="l" rtl="0"/>
            <a:r>
              <a:rPr lang="en-US" dirty="0"/>
              <a:t>Apply tests</a:t>
            </a:r>
          </a:p>
          <a:p>
            <a:pPr algn="l" rtl="0"/>
            <a:endParaRPr lang="he-IL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1382E-CF71-509E-D45C-5483A4BF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Normalization – Why?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343A3-FCDD-B0B8-009B-3E4EEE7B1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Some algorithms require normalization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4407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562B6-2960-63ED-C78E-AE471348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8C895-4BE1-1DBC-8399-0AD631DEB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Normalization – Why?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D8347-242F-D24D-12CB-46933BEE0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Some algorithms require normalization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B83AEF-4179-D9B9-CB6D-7DA7E7EEA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87" y="2799713"/>
            <a:ext cx="3819957" cy="27107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8C64EA-93C2-84C3-D120-48F06E7FE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070" y="2799713"/>
            <a:ext cx="3840161" cy="27107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64CBF0-0DF9-FFD1-5EC7-A4D430467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042" y="2799713"/>
            <a:ext cx="3752719" cy="271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423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1748E-450E-4924-99FB-84CDDB414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EAB0-893F-BC1E-D8EA-C637BD022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Normalization – Why?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BA2A3-1460-2FBF-3E8D-2CD5BBB3E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Some algorithms require normalization</a:t>
            </a:r>
          </a:p>
          <a:p>
            <a:r>
              <a:rPr lang="en-GB" dirty="0"/>
              <a:t>Some algorithms are faster with normalization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8A1121-C7D7-6993-C896-7941C36AB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37" y="3111996"/>
            <a:ext cx="7411926" cy="338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774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34091-8CB0-4A42-FC72-18313BFC5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2655D-57B3-5C8F-2272-429AF44E2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Normalization – Why?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FF11B-0CE4-4A40-E49C-F2250F523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Some algorithms require normalization</a:t>
            </a:r>
          </a:p>
          <a:p>
            <a:r>
              <a:rPr lang="en-GB" dirty="0"/>
              <a:t>Some algorithms are faster with normalization</a:t>
            </a:r>
          </a:p>
          <a:p>
            <a:r>
              <a:rPr lang="en-GB" dirty="0"/>
              <a:t>Normalized data is often more </a:t>
            </a:r>
            <a:r>
              <a:rPr lang="en-US" dirty="0"/>
              <a:t>“explainable”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6502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B31E4-BC76-27A8-EC06-C932AC9C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Normalization – basic methods</a:t>
            </a:r>
            <a:endParaRPr lang="en-IL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337D81-E22F-D2EA-33F9-31FBCED212B6}"/>
              </a:ext>
            </a:extLst>
          </p:cNvPr>
          <p:cNvSpPr/>
          <p:nvPr/>
        </p:nvSpPr>
        <p:spPr>
          <a:xfrm>
            <a:off x="1756980" y="1594386"/>
            <a:ext cx="2660967" cy="11502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Simple Normalization to [0,1]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825E19F5-53BC-8BAE-33C8-9C2CBF20C20D}"/>
                  </a:ext>
                </a:extLst>
              </p:cNvPr>
              <p:cNvSpPr/>
              <p:nvPr/>
            </p:nvSpPr>
            <p:spPr>
              <a:xfrm>
                <a:off x="7460397" y="1594385"/>
                <a:ext cx="3090007" cy="115021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825E19F5-53BC-8BAE-33C8-9C2CBF20C2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397" y="1594385"/>
                <a:ext cx="3090007" cy="115021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AF30EE-10F5-413F-6409-AF182CACB3A4}"/>
              </a:ext>
            </a:extLst>
          </p:cNvPr>
          <p:cNvSpPr/>
          <p:nvPr/>
        </p:nvSpPr>
        <p:spPr>
          <a:xfrm>
            <a:off x="1740413" y="2924575"/>
            <a:ext cx="2660967" cy="11502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Simple Normalization to [-1,1]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6D5D18F2-D9E5-3751-7968-C70F7FF08B43}"/>
                  </a:ext>
                </a:extLst>
              </p:cNvPr>
              <p:cNvSpPr/>
              <p:nvPr/>
            </p:nvSpPr>
            <p:spPr>
              <a:xfrm>
                <a:off x="7443830" y="2924574"/>
                <a:ext cx="3106574" cy="115021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6D5D18F2-D9E5-3751-7968-C70F7FF08B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3830" y="2924574"/>
                <a:ext cx="3106574" cy="115021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219272CE-29D3-8656-DB16-32A14F23A115}"/>
                  </a:ext>
                </a:extLst>
              </p:cNvPr>
              <p:cNvSpPr/>
              <p:nvPr/>
            </p:nvSpPr>
            <p:spPr>
              <a:xfrm>
                <a:off x="1756980" y="4237226"/>
                <a:ext cx="2660967" cy="115021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dirty="0"/>
                  <a:t>Normalization</a:t>
                </a: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219272CE-29D3-8656-DB16-32A14F23A1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980" y="4237226"/>
                <a:ext cx="2660967" cy="1150219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C6F4B16A-98B7-62CA-2B14-7E38048DF4B5}"/>
                  </a:ext>
                </a:extLst>
              </p:cNvPr>
              <p:cNvSpPr/>
              <p:nvPr/>
            </p:nvSpPr>
            <p:spPr>
              <a:xfrm>
                <a:off x="7460397" y="4237225"/>
                <a:ext cx="3106574" cy="115021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C6F4B16A-98B7-62CA-2B14-7E38048DF4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397" y="4237225"/>
                <a:ext cx="3106574" cy="115021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2910C35D-7F54-B0E3-29C4-A4161EAA8701}"/>
                  </a:ext>
                </a:extLst>
              </p:cNvPr>
              <p:cNvSpPr/>
              <p:nvPr/>
            </p:nvSpPr>
            <p:spPr>
              <a:xfrm>
                <a:off x="1760289" y="5557480"/>
                <a:ext cx="2660967" cy="115021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𝐿𝑜𝑔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dirty="0"/>
                  <a:t>Normalization</a:t>
                </a:r>
              </a:p>
            </p:txBody>
          </p:sp>
        </mc:Choice>
        <mc:Fallback xmlns="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2910C35D-7F54-B0E3-29C4-A4161EAA87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289" y="5557480"/>
                <a:ext cx="2660967" cy="1150219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EABD14A2-CC79-3151-BD67-A97C448F9348}"/>
                  </a:ext>
                </a:extLst>
              </p:cNvPr>
              <p:cNvSpPr/>
              <p:nvPr/>
            </p:nvSpPr>
            <p:spPr>
              <a:xfrm>
                <a:off x="7463706" y="5557479"/>
                <a:ext cx="3106574" cy="115021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EABD14A2-CC79-3151-BD67-A97C448F93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706" y="5557479"/>
                <a:ext cx="3106574" cy="1150219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9066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01DEF-BE06-7AFF-E1B6-47A7B610B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DABD1-A6A4-25E5-0176-E20624E70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it Simple!</a:t>
            </a:r>
          </a:p>
          <a:p>
            <a:r>
              <a:rPr lang="en-US" dirty="0"/>
              <a:t>Choose the right chart for the message</a:t>
            </a:r>
          </a:p>
          <a:p>
            <a:r>
              <a:rPr lang="en-US" dirty="0"/>
              <a:t>Use color purposely</a:t>
            </a:r>
          </a:p>
          <a:p>
            <a:r>
              <a:rPr lang="en-US" dirty="0"/>
              <a:t>Always label axes and units </a:t>
            </a:r>
          </a:p>
          <a:p>
            <a:r>
              <a:rPr lang="en-US" dirty="0"/>
              <a:t>Choose the right Scale for the message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0D7A3E-C522-0030-33D9-BE73B9F27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66" y="4644349"/>
            <a:ext cx="3743425" cy="19746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055C33-2371-949A-FDCB-7A349E942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3075" y="181100"/>
            <a:ext cx="2925044" cy="35597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186E07-DEAD-2EFA-08A7-F1A6A5DB6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573" y="3924898"/>
            <a:ext cx="2974791" cy="27518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596A2C-F884-239B-B003-08A162F769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5394" y="4535607"/>
            <a:ext cx="2619677" cy="214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968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953C20-E9AF-C58A-573F-F74E004592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en-IL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2239289-89BA-FAAC-0EEE-7F006E1171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8062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10526</TotalTime>
  <Words>653</Words>
  <Application>Microsoft Office PowerPoint</Application>
  <PresentationFormat>Widescreen</PresentationFormat>
  <Paragraphs>161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Office Theme</vt:lpstr>
      <vt:lpstr>Workshop in Data Science Tutorial 1</vt:lpstr>
      <vt:lpstr>Schedule and Administration</vt:lpstr>
      <vt:lpstr>Data Science Pipeline</vt:lpstr>
      <vt:lpstr>Today</vt:lpstr>
      <vt:lpstr>Exploring your data (EDA)</vt:lpstr>
      <vt:lpstr>How to read data?</vt:lpstr>
      <vt:lpstr>How to read data?</vt:lpstr>
      <vt:lpstr>How to read data?</vt:lpstr>
      <vt:lpstr>How to read data?</vt:lpstr>
      <vt:lpstr>How to continue? </vt:lpstr>
      <vt:lpstr>Data Cleaning</vt:lpstr>
      <vt:lpstr>Handling Missing Values – Why is it missing?</vt:lpstr>
      <vt:lpstr>Outliers</vt:lpstr>
      <vt:lpstr>Outliers</vt:lpstr>
      <vt:lpstr>Normalization – Why?</vt:lpstr>
      <vt:lpstr>Normalization – Why?</vt:lpstr>
      <vt:lpstr>Normalization – Why?</vt:lpstr>
      <vt:lpstr>Normalization – Why?</vt:lpstr>
      <vt:lpstr>Normalization – basic methods</vt:lpstr>
      <vt:lpstr>Visualization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Omer Ab</dc:creator>
  <cp:lastModifiedBy>Omer Ab</cp:lastModifiedBy>
  <cp:revision>42</cp:revision>
  <dcterms:created xsi:type="dcterms:W3CDTF">2025-10-25T13:51:14Z</dcterms:created>
  <dcterms:modified xsi:type="dcterms:W3CDTF">2025-11-03T15:52:02Z</dcterms:modified>
</cp:coreProperties>
</file>