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89" r:id="rId4"/>
    <p:sldId id="290" r:id="rId5"/>
    <p:sldId id="292" r:id="rId6"/>
    <p:sldId id="291" r:id="rId7"/>
    <p:sldId id="294" r:id="rId8"/>
    <p:sldId id="295" r:id="rId9"/>
    <p:sldId id="293" r:id="rId10"/>
    <p:sldId id="298" r:id="rId11"/>
    <p:sldId id="257" r:id="rId12"/>
    <p:sldId id="266" r:id="rId13"/>
    <p:sldId id="313" r:id="rId14"/>
    <p:sldId id="314" r:id="rId15"/>
    <p:sldId id="268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62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280" r:id="rId34"/>
    <p:sldId id="281" r:id="rId35"/>
    <p:sldId id="269" r:id="rId36"/>
    <p:sldId id="263" r:id="rId37"/>
    <p:sldId id="284" r:id="rId38"/>
    <p:sldId id="285" r:id="rId39"/>
    <p:sldId id="286" r:id="rId40"/>
    <p:sldId id="265" r:id="rId41"/>
    <p:sldId id="288" r:id="rId42"/>
    <p:sldId id="299" r:id="rId43"/>
    <p:sldId id="300" r:id="rId44"/>
    <p:sldId id="287" r:id="rId45"/>
    <p:sldId id="301" r:id="rId46"/>
    <p:sldId id="302" r:id="rId47"/>
    <p:sldId id="303" r:id="rId48"/>
    <p:sldId id="270" r:id="rId49"/>
    <p:sldId id="264" r:id="rId50"/>
    <p:sldId id="271" r:id="rId51"/>
    <p:sldId id="316" r:id="rId52"/>
    <p:sldId id="315" r:id="rId5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1595-997C-46E7-E537-50559693B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F9402-D32C-591E-A1BD-C8AC58463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8A250-F6DC-1DF3-BECE-2C8B1FF3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21D6C-7859-C7E5-7D36-22132C24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F44BC-CC09-A084-0AFD-359D0E87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2062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7058-DE66-115D-2851-A141B22E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9B4A1-66C4-FFA5-E427-022DA222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F2E4E-F3D3-C9CC-FE1B-49246CD0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7DF9B-A35A-DFE2-AF01-3501BA58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25B02-198C-BE9C-6EE5-0161E11A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692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5F5A-A45F-3DD5-043D-57AFB5E3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1AFC8-A28E-3FCE-4EAC-D00A385F1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66E64-0DCD-4613-1D50-17DD80D5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C200E-81DC-85D6-AB72-2698394D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C52A8-BAAC-4927-F58E-75819A08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099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DADA-40C7-6840-6FC3-9F5B3E84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5D287-27D0-7C13-CEE8-130CB4123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C1DF2-858C-23E1-844F-6C598DC90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6F26-557F-DF98-A2B7-D73221552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3F185-3526-1646-409C-21253BB0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841EB-BC22-D3FD-91F8-D16576BB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0395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BD6A-8A70-B250-7D43-75BB40BE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352EC-4D03-8541-7652-3E4028F76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BF8F5-B027-2C4A-431B-0983FC2F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F14B8-1DDB-3349-1E5F-4559B0A2D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91815D-FDBA-F361-04D7-F717FC096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F9D2F-1D88-C896-AF68-8A498DE1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525FF-A6F9-8C08-8F9D-E5371F144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E273D-27A0-DCFD-37F8-A85F974F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047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B8F13-4577-5C4E-96AB-F41F3D81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BB08C-2004-98DF-6340-23F6DE03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E786C-53B2-FD7C-A6DF-87DF84DF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B4F71-124E-9F71-0E95-7BFC640F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240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C27EA-2847-6664-6793-9AC4D563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D3DAC-BF92-A5C5-72D7-C606F81E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7164-FD22-BCF7-F999-A5ED03A0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209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2087-A250-EAF1-E1A6-852DB480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716D-48B1-A63B-AFD2-FE8A51928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C5940-7B82-9C54-5C13-67DA91C70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6E37-A456-1ABE-C4FF-8266FEF4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A121F-F26B-0B76-2A4C-2FE33449F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03D2B-AD4C-0DAB-12AC-3CB4329B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037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D12C-6C23-1021-9AB9-914FA359A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18B796-652E-0E59-6AA6-C93B01095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3134A-256A-8FF9-86C1-3E8ED0C1B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A45E5-CDB0-5A69-AC1D-2591280C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98B25-2CE4-9593-0F96-B3986DC4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A699C-0E17-8D8C-AD3E-5D26EFE7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580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69D8-4351-EB69-9D6A-077A44E2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E5A5C-4442-0321-EC2E-1558CF5DF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F7A18-6E45-0AE2-5488-94D1F14C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A63DD-195B-7B5B-E1F8-94D44F1E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7A56A-7150-075C-8665-2110959A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1173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E7A1F4-DE0E-21FD-8B77-E71E65413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3EC5C-4720-32BA-1DE7-390591C4C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27AD2-24BC-E038-4C23-0684E25C3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E0491-6185-8E9C-9DF6-D0911AB0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F9790-B1B8-FA60-5784-CFBAD08B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458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3E60F-FA8E-79E0-06BB-66A4576F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226-2D4A-6690-0DF5-5D1FBF234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E8C3D-2626-1DD1-FE4F-4190B8900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5467C-8AD4-4587-BB05-05B1BC584454}" type="datetimeFigureOut">
              <a:rPr lang="en-IL" smtClean="0"/>
              <a:t>10/11/2025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AE691-21B3-ACC1-A719-265A1771A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21A20-7A6E-1E56-4039-D1EFEE56E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DD347-5CF0-4AC5-B539-C2574269EB7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269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8FB6-8FF8-AD7F-FB2A-E2627DEA6F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Workshop in Data Science – Tutorial 2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4794A-5079-42B6-058F-56025CA2B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10/11/2025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4010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0BD2-2079-C6E4-26DB-8F275DFC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Tentative Schedule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40BAA-C893-4528-066B-7DF0E0AF8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0F4B7F-38A9-246E-62C4-A18C79AE5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040478"/>
              </p:ext>
            </p:extLst>
          </p:nvPr>
        </p:nvGraphicFramePr>
        <p:xfrm>
          <a:off x="2660361" y="2410993"/>
          <a:ext cx="595906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531">
                  <a:extLst>
                    <a:ext uri="{9D8B030D-6E8A-4147-A177-3AD203B41FA5}">
                      <a16:colId xmlns:a16="http://schemas.microsoft.com/office/drawing/2014/main" val="133799473"/>
                    </a:ext>
                  </a:extLst>
                </a:gridCol>
                <a:gridCol w="2979531">
                  <a:extLst>
                    <a:ext uri="{9D8B030D-6E8A-4147-A177-3AD203B41FA5}">
                      <a16:colId xmlns:a16="http://schemas.microsoft.com/office/drawing/2014/main" val="1474312498"/>
                    </a:ext>
                  </a:extLst>
                </a:gridCol>
              </a:tblGrid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Schedule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350070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10.11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Tutorial 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7410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17.11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 1X1 help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09833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24.11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Initial idea presentation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263225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15.12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Checkpoint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160415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19.01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presentation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212006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15.03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Submission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03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05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8CF7-1F13-90FB-17A0-FADD4233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Initial Presentation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D8A1-D851-2BF2-27CB-A799CCEC3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12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28BD7-57F1-BBDD-9BC5-10684C70E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64DE-641C-28F8-BA7E-2185A8E9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4C09-6165-2BC2-9764-9ECEBE2F6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Put here: </a:t>
            </a:r>
          </a:p>
          <a:p>
            <a:pPr lvl="1"/>
            <a:r>
              <a:rPr lang="en-US" dirty="0"/>
              <a:t>Main dataset you’ve chosen from Kaggle/UN</a:t>
            </a:r>
          </a:p>
          <a:p>
            <a:pPr lvl="1"/>
            <a:r>
              <a:rPr lang="en-US" dirty="0"/>
              <a:t>Task/s</a:t>
            </a:r>
          </a:p>
          <a:p>
            <a:pPr lvl="1"/>
            <a:r>
              <a:rPr lang="en-US" dirty="0"/>
              <a:t>Motivation for this task</a:t>
            </a:r>
          </a:p>
          <a:p>
            <a:pPr lvl="1"/>
            <a:r>
              <a:rPr lang="en-US" dirty="0"/>
              <a:t>If from Kaggle – what was the original task and what did you change</a:t>
            </a:r>
          </a:p>
        </p:txBody>
      </p:sp>
    </p:spTree>
    <p:extLst>
      <p:ext uri="{BB962C8B-B14F-4D97-AF65-F5344CB8AC3E}">
        <p14:creationId xmlns:p14="http://schemas.microsoft.com/office/powerpoint/2010/main" val="17553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DDF3-30BD-DDB0-2F0C-D0A26A2A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Analysis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786E-59B3-1617-C912-8F25772B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exploration of the data</a:t>
            </a:r>
          </a:p>
          <a:p>
            <a:pPr lvl="1"/>
            <a:r>
              <a:rPr lang="en-US" dirty="0"/>
              <a:t>Features</a:t>
            </a:r>
          </a:p>
          <a:p>
            <a:pPr lvl="1"/>
            <a:r>
              <a:rPr lang="en-US" dirty="0"/>
              <a:t>Correlations/Signal </a:t>
            </a:r>
          </a:p>
          <a:p>
            <a:r>
              <a:rPr lang="en-US" dirty="0"/>
              <a:t>Supporting datasets</a:t>
            </a:r>
          </a:p>
          <a:p>
            <a:r>
              <a:rPr lang="en-US" dirty="0"/>
              <a:t>Convince us that you can do the task give good enough modelling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8985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376D-2F75-2711-C760-A26767A7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F970-8A85-90A4-965C-DD21A6CD2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approach – doesn’t need to be implemented</a:t>
            </a:r>
          </a:p>
          <a:p>
            <a:r>
              <a:rPr lang="en-US" dirty="0"/>
              <a:t>Work plan</a:t>
            </a:r>
          </a:p>
          <a:p>
            <a:pPr lvl="1"/>
            <a:r>
              <a:rPr lang="en-US" dirty="0"/>
              <a:t>Work Packages</a:t>
            </a:r>
          </a:p>
          <a:p>
            <a:pPr lvl="1"/>
            <a:r>
              <a:rPr lang="en-US" dirty="0"/>
              <a:t>Milestones</a:t>
            </a:r>
          </a:p>
          <a:p>
            <a:pPr lvl="1"/>
            <a:r>
              <a:rPr lang="en-US" dirty="0"/>
              <a:t>What would be a success? Evaluation ideas</a:t>
            </a:r>
          </a:p>
        </p:txBody>
      </p:sp>
    </p:spTree>
    <p:extLst>
      <p:ext uri="{BB962C8B-B14F-4D97-AF65-F5344CB8AC3E}">
        <p14:creationId xmlns:p14="http://schemas.microsoft.com/office/powerpoint/2010/main" val="408398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EA15E-C114-EC58-7ECE-34750E8D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for another topic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B3AB7-DDB6-F554-9DB8-07865E7E4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slides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97830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7E3B-8B95-AE32-5305-BC3A94CF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2F696-1F65-8EA1-F6AD-BEB3AEEFA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Either say what you prefer</a:t>
            </a:r>
          </a:p>
          <a:p>
            <a:r>
              <a:rPr lang="en-US" dirty="0"/>
              <a:t>Pros/Cons for each topic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371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FDEC-3510-3E9C-E439-A41DCFEB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time for both topics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1920A-AC71-13D0-D462-6F8A7DB11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Around 15 minutes for both topics + 5-10 minutes of questions.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009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C632-E288-A2D2-6241-A9473148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Grade guidelines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4C2E-9383-BF8D-F80B-609735A3A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Complexity – task</a:t>
            </a:r>
          </a:p>
          <a:p>
            <a:r>
              <a:rPr lang="en-US" dirty="0"/>
              <a:t>Document and Analysis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Versatility</a:t>
            </a:r>
          </a:p>
          <a:p>
            <a:r>
              <a:rPr lang="en-US" dirty="0"/>
              <a:t>Originality – method</a:t>
            </a:r>
          </a:p>
          <a:p>
            <a:r>
              <a:rPr lang="en-US"/>
              <a:t>Presentation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2258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DF78-E296-11B3-1D9F-94B9AEC7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9E027-FEE0-9F68-5D06-0348FB12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Selection/Engineering</a:t>
            </a:r>
          </a:p>
          <a:p>
            <a:r>
              <a:rPr lang="en-US" dirty="0"/>
              <a:t>Predictive Modelling</a:t>
            </a:r>
          </a:p>
          <a:p>
            <a:r>
              <a:rPr lang="en-US" dirty="0"/>
              <a:t>Evaluation</a:t>
            </a:r>
          </a:p>
          <a:p>
            <a:r>
              <a:rPr lang="en-US" dirty="0"/>
              <a:t>Explainability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7594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06AE4-2BF2-7F70-CEEC-D0F50D305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E08D-1B2C-3D7F-621A-E19C21A6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just throw in all of your data at the model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6BC20-119B-098A-621B-B723534C3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always possible (Models expect certain inputs)</a:t>
            </a:r>
          </a:p>
          <a:p>
            <a:r>
              <a:rPr lang="en-US" dirty="0"/>
              <a:t>Curse of dimensionality</a:t>
            </a:r>
          </a:p>
          <a:p>
            <a:r>
              <a:rPr lang="en-US" dirty="0"/>
              <a:t>Simplicity sometimes is more important than accuracy</a:t>
            </a:r>
          </a:p>
          <a:p>
            <a:r>
              <a:rPr lang="en-US" dirty="0"/>
              <a:t>Learning noise instead of signal - overfitting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7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F836-2690-2D1E-A38C-45E890B3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E562-091A-C68C-6C0E-4AD92636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FFFBCD-7601-8F93-6D93-D2DF713D0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Goal: Find a subset of features that maximizes model performance </a:t>
                </a:r>
              </a:p>
              <a:p>
                <a:r>
                  <a:rPr lang="en-US" dirty="0"/>
                  <a:t>Problem: Can’t test all subsets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huge)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FFFBCD-7601-8F93-6D93-D2DF713D0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180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8D27-51F1-6555-1257-8760F0BB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B76C-C581-989D-3500-17A392AB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623B4-A4F4-8190-7BEF-1B3C6A83C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/>
              <a:t>Wrapper methods</a:t>
            </a:r>
            <a:r>
              <a:rPr lang="en-US" dirty="0"/>
              <a:t>: search subsets, train &amp; evaluate each </a:t>
            </a:r>
          </a:p>
          <a:p>
            <a:pPr lvl="1"/>
            <a:r>
              <a:rPr lang="en-US" dirty="0"/>
              <a:t>Forward selection – start empty, add “strongest” features </a:t>
            </a:r>
          </a:p>
          <a:p>
            <a:pPr lvl="1"/>
            <a:r>
              <a:rPr lang="en-US" dirty="0"/>
              <a:t>Backward selection – start full, remove “weakest” features </a:t>
            </a:r>
          </a:p>
          <a:p>
            <a:r>
              <a:rPr lang="en-US" dirty="0"/>
              <a:t>Pros: Usually more accurate Cons: Computationally expensive</a:t>
            </a:r>
          </a:p>
          <a:p>
            <a:r>
              <a:rPr lang="en-US" u="sng" dirty="0"/>
              <a:t>Filter methods</a:t>
            </a:r>
            <a:r>
              <a:rPr lang="en-US" dirty="0"/>
              <a:t>: rank features by a proxy measure, then take top-N</a:t>
            </a:r>
          </a:p>
          <a:p>
            <a:pPr lvl="1"/>
            <a:r>
              <a:rPr lang="en-US" dirty="0"/>
              <a:t>Mutual information (feature ↔ target)</a:t>
            </a:r>
          </a:p>
          <a:p>
            <a:pPr lvl="1"/>
            <a:r>
              <a:rPr lang="en-US" dirty="0"/>
              <a:t> Correlation coefficient </a:t>
            </a:r>
          </a:p>
          <a:p>
            <a:r>
              <a:rPr lang="en-US" dirty="0"/>
              <a:t>Pros: Fast, model-agnostic Cons: Ignores feature interactions</a:t>
            </a:r>
          </a:p>
          <a:p>
            <a:r>
              <a:rPr lang="en-US" u="sng" dirty="0"/>
              <a:t>Embedded methods</a:t>
            </a:r>
            <a:r>
              <a:rPr lang="en-US" dirty="0"/>
              <a:t>: feature selection occurs during training (e.g., Lasso, Regularization) </a:t>
            </a:r>
          </a:p>
        </p:txBody>
      </p:sp>
    </p:spTree>
    <p:extLst>
      <p:ext uri="{BB962C8B-B14F-4D97-AF65-F5344CB8AC3E}">
        <p14:creationId xmlns:p14="http://schemas.microsoft.com/office/powerpoint/2010/main" val="383833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87D4-7B02-1E76-F8F5-682B1BF3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EAA4C-984F-40A9-B3D5-3394F8E70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Manipulate current features to create new better ones.</a:t>
            </a:r>
          </a:p>
          <a:p>
            <a:r>
              <a:rPr lang="en-US" dirty="0"/>
              <a:t>Transformations</a:t>
            </a:r>
          </a:p>
          <a:p>
            <a:r>
              <a:rPr lang="en-US" dirty="0"/>
              <a:t>Discretization (Binning)</a:t>
            </a:r>
          </a:p>
          <a:p>
            <a:r>
              <a:rPr lang="en-US" dirty="0"/>
              <a:t>One hot encoding</a:t>
            </a:r>
          </a:p>
          <a:p>
            <a:r>
              <a:rPr lang="en-US" dirty="0"/>
              <a:t>Dimensionality reduction (PCA, T-SNE)</a:t>
            </a:r>
          </a:p>
          <a:p>
            <a:r>
              <a:rPr lang="en-US" dirty="0"/>
              <a:t>Could require some expert knowledge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05529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0121-9E8C-2A79-A873-3F1B5809F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types of prediction tasks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2F1B8-5A35-0C53-C595-D14156856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endParaRPr lang="en-IL" dirty="0"/>
          </a:p>
        </p:txBody>
      </p:sp>
      <p:pic>
        <p:nvPicPr>
          <p:cNvPr id="1028" name="Picture 4" descr="Best Explain Multi-Class Classification in Machine Learning | by Shriyansh  Tiwari | Medium">
            <a:extLst>
              <a:ext uri="{FF2B5EF4-FFF2-40B4-BE49-F238E27FC236}">
                <a16:creationId xmlns:a16="http://schemas.microsoft.com/office/drawing/2014/main" id="{821639C4-783E-2989-0390-7676ED56C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189" y="2111948"/>
            <a:ext cx="6488300" cy="271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593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A627C-3F25-689D-1DEC-C038B9AE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23F-FC4F-25EE-3826-9C31A244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types of prediction tasks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E84A3-88E4-CF3C-E32D-D17D00169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  <a:p>
            <a:endParaRPr lang="en-IL" dirty="0"/>
          </a:p>
        </p:txBody>
      </p:sp>
      <p:pic>
        <p:nvPicPr>
          <p:cNvPr id="3074" name="Picture 2" descr="Difference between Linear vs Logistic Regression | by Nova | Medium">
            <a:extLst>
              <a:ext uri="{FF2B5EF4-FFF2-40B4-BE49-F238E27FC236}">
                <a16:creationId xmlns:a16="http://schemas.microsoft.com/office/drawing/2014/main" id="{E733F910-296B-DB72-40BF-BD2E44EFE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048" y="2145553"/>
            <a:ext cx="2698376" cy="269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gression-Based Models | SpringerLink">
            <a:extLst>
              <a:ext uri="{FF2B5EF4-FFF2-40B4-BE49-F238E27FC236}">
                <a16:creationId xmlns:a16="http://schemas.microsoft.com/office/drawing/2014/main" id="{44360C2A-0060-3FD4-82A2-AFDDC2BB1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799" y="2172011"/>
            <a:ext cx="3058459" cy="242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748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F26D7-6D0D-A4F6-7D41-91EDD41B7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CEC76-C554-47C0-C1F0-63D62C18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types of prediction tasks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9601A-DF00-D984-A11D-51E1AD7DC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Clustering</a:t>
            </a:r>
          </a:p>
          <a:p>
            <a:endParaRPr lang="en-IL" dirty="0"/>
          </a:p>
        </p:txBody>
      </p:sp>
      <p:pic>
        <p:nvPicPr>
          <p:cNvPr id="2050" name="Picture 2" descr="What is clustering? | Machine Learning | Google for Developers">
            <a:extLst>
              <a:ext uri="{FF2B5EF4-FFF2-40B4-BE49-F238E27FC236}">
                <a16:creationId xmlns:a16="http://schemas.microsoft.com/office/drawing/2014/main" id="{746BFD80-A409-D60C-97FE-802D512B6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413" y="2042479"/>
            <a:ext cx="4878387" cy="277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176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C3714-D4B1-3112-CA51-0598A9BC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4CD5-D599-FB1C-459F-4DAFE926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types of prediction tasks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DF606-E048-8DFD-C3D4-3CB72DDB2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Ranking/Recommendation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18966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1497D-3A5C-50B1-4750-34DD8B20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3103-1C6D-07D1-0D6B-596445295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types of prediction tasks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2BFFD-5D04-0250-F794-FA6FC3C8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Ranking/Recommendation</a:t>
            </a:r>
          </a:p>
          <a:p>
            <a:r>
              <a:rPr lang="en-US" dirty="0"/>
              <a:t>Time Series Forecasting</a:t>
            </a:r>
          </a:p>
          <a:p>
            <a:endParaRPr lang="en-IL" dirty="0"/>
          </a:p>
        </p:txBody>
      </p:sp>
      <p:pic>
        <p:nvPicPr>
          <p:cNvPr id="5122" name="Picture 2" descr="time series - Forecasting several periods with machine learning - Cross  Validated">
            <a:extLst>
              <a:ext uri="{FF2B5EF4-FFF2-40B4-BE49-F238E27FC236}">
                <a16:creationId xmlns:a16="http://schemas.microsoft.com/office/drawing/2014/main" id="{5E50E8A9-BFC4-BF4B-DCD3-092948054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850" y="1980986"/>
            <a:ext cx="4851774" cy="311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868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5037-7BE5-1B4A-F6E5-65010BC8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54AB9-4BC4-5AF0-A6B4-6167EBC4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types of prediction tasks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2316-3261-A060-4015-3F4C284C1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Ranking/Recommendation</a:t>
            </a:r>
          </a:p>
          <a:p>
            <a:r>
              <a:rPr lang="en-US" dirty="0"/>
              <a:t>Time Series Forecasting</a:t>
            </a:r>
          </a:p>
          <a:p>
            <a:r>
              <a:rPr lang="en-US" dirty="0"/>
              <a:t>Anomaly Detection</a:t>
            </a:r>
          </a:p>
          <a:p>
            <a:endParaRPr lang="en-IL" dirty="0"/>
          </a:p>
        </p:txBody>
      </p:sp>
      <p:pic>
        <p:nvPicPr>
          <p:cNvPr id="4098" name="Picture 2" descr="Machine Learning Algorithms Explained: Anomaly Detection - StrataScratch">
            <a:extLst>
              <a:ext uri="{FF2B5EF4-FFF2-40B4-BE49-F238E27FC236}">
                <a16:creationId xmlns:a16="http://schemas.microsoft.com/office/drawing/2014/main" id="{8004717E-7EDF-4264-218E-60AC3186C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084" y="2111968"/>
            <a:ext cx="4454339" cy="3048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214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C580-9807-2DCA-87B5-453E2384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CBB8-005E-968A-E936-3E9F6271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types of prediction tasks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2775-33BC-F068-F668-951D47F85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Ranking/Recommendation</a:t>
            </a:r>
          </a:p>
          <a:p>
            <a:r>
              <a:rPr lang="en-US" dirty="0"/>
              <a:t>Time Series Forecasting</a:t>
            </a:r>
          </a:p>
          <a:p>
            <a:r>
              <a:rPr lang="en-US" dirty="0"/>
              <a:t>Anomaly Detection</a:t>
            </a:r>
          </a:p>
          <a:p>
            <a:r>
              <a:rPr lang="en-US" dirty="0"/>
              <a:t>Generative Tasks</a:t>
            </a:r>
          </a:p>
          <a:p>
            <a:endParaRPr lang="en-IL" dirty="0"/>
          </a:p>
        </p:txBody>
      </p:sp>
      <p:pic>
        <p:nvPicPr>
          <p:cNvPr id="7170" name="Picture 2" descr="Generative AI Models: Explained | Mission Cloud">
            <a:extLst>
              <a:ext uri="{FF2B5EF4-FFF2-40B4-BE49-F238E27FC236}">
                <a16:creationId xmlns:a16="http://schemas.microsoft.com/office/drawing/2014/main" id="{833DA0F2-CCE3-C56E-F964-7693A2406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348" y="2224134"/>
            <a:ext cx="6094251" cy="276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975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3F9B-B13A-7CA4-7B8F-70003218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models “in a nutshell”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E9C1B-0636-1210-DEF0-A99C8ADD9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29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991CD-4A56-F921-D7C3-8185BA6D7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Classify a point based on the average of its K nearest neighbors</a:t>
            </a:r>
          </a:p>
          <a:p>
            <a:r>
              <a:rPr lang="en-US" dirty="0"/>
              <a:t>Simple, requires no training</a:t>
            </a:r>
            <a:endParaRPr lang="en-I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0EC3CB-7712-4BB8-EDC1-0D6D6011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 (K-NN)</a:t>
            </a:r>
            <a:endParaRPr lang="en-IL" dirty="0"/>
          </a:p>
        </p:txBody>
      </p:sp>
      <p:pic>
        <p:nvPicPr>
          <p:cNvPr id="13316" name="Picture 4" descr="use k nearest neighbours to find the class for a new data point">
            <a:extLst>
              <a:ext uri="{FF2B5EF4-FFF2-40B4-BE49-F238E27FC236}">
                <a16:creationId xmlns:a16="http://schemas.microsoft.com/office/drawing/2014/main" id="{098093DC-732E-255E-BC53-DB11DB663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565" y="3225386"/>
            <a:ext cx="5808870" cy="326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214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14CE-7FAA-B66E-63CF-7B757D5CB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DB2D7A-9774-9EC4-2940-C67C44F64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Assumes linear relationship between variables.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work with multiple features</a:t>
                </a: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DB2D7A-9774-9EC4-2940-C67C44F64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38" name="Picture 2" descr="‪What is Linear Regression in Machine Learning? | DigitalOcean‬‏">
            <a:extLst>
              <a:ext uri="{FF2B5EF4-FFF2-40B4-BE49-F238E27FC236}">
                <a16:creationId xmlns:a16="http://schemas.microsoft.com/office/drawing/2014/main" id="{2F464728-B231-0C9C-BD41-200BBD404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145" y="3161090"/>
            <a:ext cx="4408208" cy="333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057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C861-3153-5E9D-0A3B-0BDD2D9D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E7212-7AB5-DB75-F139-ABF4C9CA4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Regression for a variable between 0 and 1.</a:t>
                </a:r>
              </a:p>
              <a:p>
                <a:r>
                  <a:rPr lang="en-US" dirty="0"/>
                  <a:t>Often describes probabilities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E7212-7AB5-DB75-F139-ABF4C9CA4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4" name="Picture 4">
            <a:extLst>
              <a:ext uri="{FF2B5EF4-FFF2-40B4-BE49-F238E27FC236}">
                <a16:creationId xmlns:a16="http://schemas.microsoft.com/office/drawing/2014/main" id="{F3375AF1-599E-32B9-D49B-2C6D94819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859" y="3451314"/>
            <a:ext cx="4395320" cy="304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714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ABA8-7218-6483-72A0-58FAF77B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6B1DC-4B51-78BD-1A5B-5384F5FCF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Recursively splits the dataset into smaller, more homogeneous subsets based on the features.</a:t>
            </a:r>
          </a:p>
          <a:p>
            <a:r>
              <a:rPr lang="en-US" dirty="0"/>
              <a:t>Interpretable and versatile </a:t>
            </a:r>
          </a:p>
          <a:p>
            <a:r>
              <a:rPr lang="en-US" dirty="0"/>
              <a:t>Can lead to overfitting</a:t>
            </a:r>
          </a:p>
          <a:p>
            <a:r>
              <a:rPr lang="en-US" dirty="0"/>
              <a:t>Small changes in the data can affect the tree</a:t>
            </a:r>
            <a:endParaRPr lang="en-IL" dirty="0"/>
          </a:p>
        </p:txBody>
      </p:sp>
      <p:pic>
        <p:nvPicPr>
          <p:cNvPr id="16386" name="Picture 2" descr="Decision Tree in Machine Learning - Dot Net Tutorials">
            <a:extLst>
              <a:ext uri="{FF2B5EF4-FFF2-40B4-BE49-F238E27FC236}">
                <a16:creationId xmlns:a16="http://schemas.microsoft.com/office/drawing/2014/main" id="{EFD00468-077A-9BF0-C47E-D2DC9D235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9814" y="4001294"/>
            <a:ext cx="3985882" cy="257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904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16FF3-AE70-58A2-CD49-792328849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2A0A-FE29-64AC-892F-9E04BC358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multiple decision trees on random samples of the data (bootstrapping). </a:t>
            </a:r>
          </a:p>
          <a:p>
            <a:r>
              <a:rPr lang="en-US" dirty="0"/>
              <a:t>Taking the average of the trees.</a:t>
            </a:r>
          </a:p>
          <a:p>
            <a:r>
              <a:rPr lang="en-US" dirty="0"/>
              <a:t>More robust.</a:t>
            </a:r>
          </a:p>
          <a:p>
            <a:r>
              <a:rPr lang="en-US" dirty="0"/>
              <a:t>Can describe more complex functions than decision trees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485AD8-D028-88D4-C519-79E9C121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941" y="4210684"/>
            <a:ext cx="5361482" cy="264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53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0D8B-B596-E963-E6F9-AC77F6C3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boosted trees (</a:t>
            </a:r>
            <a:r>
              <a:rPr lang="en-US" dirty="0" err="1"/>
              <a:t>XGBoost</a:t>
            </a:r>
            <a:r>
              <a:rPr lang="en-US" dirty="0"/>
              <a:t>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D5C2-0933-4AA3-742C-F8564C6FB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Ensemble of decision trees built sequentially</a:t>
            </a:r>
          </a:p>
          <a:p>
            <a:r>
              <a:rPr lang="en-US" dirty="0"/>
              <a:t>Every new tree is supposed to capture the errors of the previous trees.</a:t>
            </a:r>
          </a:p>
          <a:p>
            <a:r>
              <a:rPr lang="en-US" dirty="0"/>
              <a:t>Very powerful, though can lead to overfitting</a:t>
            </a:r>
          </a:p>
          <a:p>
            <a:endParaRPr lang="en-IL" dirty="0"/>
          </a:p>
        </p:txBody>
      </p:sp>
      <p:pic>
        <p:nvPicPr>
          <p:cNvPr id="18434" name="Picture 2" descr="Gradient Boosting Trees for Classification: A Beginner's Guide - Affine">
            <a:extLst>
              <a:ext uri="{FF2B5EF4-FFF2-40B4-BE49-F238E27FC236}">
                <a16:creationId xmlns:a16="http://schemas.microsoft.com/office/drawing/2014/main" id="{C6BBA8AE-E151-E034-B22F-5DA1C1BAF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49" y="3785090"/>
            <a:ext cx="4223497" cy="307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036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02CE-FC38-67D6-F5A1-4818A2E2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4402D-0B02-5A43-CFBF-0E7E1962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model complex, non-linear relationships</a:t>
            </a:r>
          </a:p>
          <a:p>
            <a:r>
              <a:rPr lang="en-US" dirty="0"/>
              <a:t>Have a variant for all tasks</a:t>
            </a:r>
          </a:p>
          <a:p>
            <a:r>
              <a:rPr lang="en-US" dirty="0"/>
              <a:t>Easy to use with complex data, or complex outputs</a:t>
            </a:r>
          </a:p>
        </p:txBody>
      </p:sp>
      <p:pic>
        <p:nvPicPr>
          <p:cNvPr id="19458" name="Picture 2" descr="Artificial Neural Networks and its Applications - GeeksforGeeks">
            <a:extLst>
              <a:ext uri="{FF2B5EF4-FFF2-40B4-BE49-F238E27FC236}">
                <a16:creationId xmlns:a16="http://schemas.microsoft.com/office/drawing/2014/main" id="{E4F1881C-FD84-697C-1777-6C7BB2890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235" y="3532393"/>
            <a:ext cx="4945529" cy="3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891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080C4-58F5-7D82-6261-B919CE0A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K-means/K-medians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D6D0-2555-A97E-0D90-758C6A94B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Partitions data into </a:t>
            </a:r>
            <a:r>
              <a:rPr lang="en-US" i="1" dirty="0"/>
              <a:t>k</a:t>
            </a:r>
            <a:r>
              <a:rPr lang="en-US" dirty="0"/>
              <a:t> clusters minimizing intra-cluster distance.</a:t>
            </a:r>
          </a:p>
          <a:p>
            <a:r>
              <a:rPr lang="en-US" dirty="0"/>
              <a:t> simple and fast.</a:t>
            </a:r>
          </a:p>
          <a:p>
            <a:r>
              <a:rPr lang="en-US" dirty="0"/>
              <a:t>Means – choose any point as center; Median – choose a data point as center.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FA984-6CBE-2985-3C42-33A9B8DE3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260" y="3631111"/>
            <a:ext cx="6557234" cy="268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71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17FE-1854-DE48-DE1F-98162ED0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DBScan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BB43F-C52E-0EF4-462F-BA75B902B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Density based clustering</a:t>
            </a:r>
          </a:p>
          <a:p>
            <a:r>
              <a:rPr lang="en-US" dirty="0"/>
              <a:t>Arbitrary-Shaped Clusters</a:t>
            </a:r>
          </a:p>
          <a:p>
            <a:r>
              <a:rPr lang="en-US" dirty="0"/>
              <a:t>Can leave points without clusters (“noise”)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702B6-8B9C-2615-88A6-B3816FF05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044" y="3595628"/>
            <a:ext cx="5318699" cy="28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185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120C2D-64A5-6DBA-D6BF-3DC8D76EC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en-I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7D1DD27-EAE1-73C5-8421-9EDCBA9160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412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40EC7-C242-8368-953C-0F0E5E7F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5BD873-1B0D-17CE-769F-9B64FDFA9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good model:</a:t>
            </a:r>
          </a:p>
          <a:p>
            <a:pPr lvl="1" fontAlgn="base"/>
            <a:r>
              <a:rPr lang="en-US" dirty="0"/>
              <a:t>It learns patterns effectively from the data.</a:t>
            </a:r>
          </a:p>
          <a:p>
            <a:pPr lvl="1" fontAlgn="base"/>
            <a:r>
              <a:rPr lang="en-US" dirty="0"/>
              <a:t>It generalizes well to new, unseen data.</a:t>
            </a:r>
          </a:p>
          <a:p>
            <a:pPr lvl="1" fontAlgn="base"/>
            <a:r>
              <a:rPr lang="en-US" dirty="0"/>
              <a:t>It avoids memorizing the training data</a:t>
            </a:r>
            <a:br>
              <a:rPr lang="en-US" dirty="0"/>
            </a:br>
            <a:r>
              <a:rPr lang="en-US" dirty="0"/>
              <a:t> (overfitting) or failing to </a:t>
            </a:r>
            <a:br>
              <a:rPr lang="en-US" dirty="0"/>
            </a:br>
            <a:r>
              <a:rPr lang="en-US" dirty="0"/>
              <a:t>capture relevant patterns (underfitting).</a:t>
            </a:r>
          </a:p>
          <a:p>
            <a:pPr fontAlgn="base"/>
            <a:r>
              <a:rPr lang="en-US" dirty="0"/>
              <a:t>Overfitting happens when a model learns too much from the training data, including details that don’t matter (like noise or outliers).</a:t>
            </a:r>
          </a:p>
          <a:p>
            <a:pPr fontAlgn="base"/>
            <a:r>
              <a:rPr lang="en-US" dirty="0"/>
              <a:t>Underfitting is the opposite of overfitting. It happens when a model is too simple to capture what’s going on in the data.</a:t>
            </a:r>
          </a:p>
        </p:txBody>
      </p:sp>
      <p:pic>
        <p:nvPicPr>
          <p:cNvPr id="8" name="Picture 2" descr="Overfitting and underfitting in machine learning | SuperAnnotate">
            <a:extLst>
              <a:ext uri="{FF2B5EF4-FFF2-40B4-BE49-F238E27FC236}">
                <a16:creationId xmlns:a16="http://schemas.microsoft.com/office/drawing/2014/main" id="{432D6052-5625-70CB-4C20-93D8247B5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23922" y="567303"/>
            <a:ext cx="4478630" cy="280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2678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61F63-790E-4A1A-90BF-5377F710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– Data partition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B833-C35C-D1C7-89C5-5A681E23E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Partition your data into:</a:t>
            </a:r>
          </a:p>
          <a:p>
            <a:pPr lvl="1"/>
            <a:r>
              <a:rPr lang="en-US" dirty="0"/>
              <a:t>Train set (70-80% of the data); Validation set (10-15%); Test Set (10-15%)</a:t>
            </a:r>
          </a:p>
          <a:p>
            <a:r>
              <a:rPr lang="en-US" dirty="0"/>
              <a:t>Validation is for parameter tuning – never use the test set of that.</a:t>
            </a:r>
          </a:p>
          <a:p>
            <a:r>
              <a:rPr lang="en-US" dirty="0"/>
              <a:t>Common Methods include:</a:t>
            </a:r>
          </a:p>
          <a:p>
            <a:pPr lvl="1"/>
            <a:r>
              <a:rPr lang="en-US" dirty="0"/>
              <a:t>Simple random split</a:t>
            </a:r>
          </a:p>
          <a:p>
            <a:pPr lvl="1"/>
            <a:r>
              <a:rPr lang="en-US" dirty="0"/>
              <a:t>k-fold cross-validation – multiple iterations of leave one out</a:t>
            </a:r>
          </a:p>
          <a:p>
            <a:pPr lvl="1"/>
            <a:r>
              <a:rPr lang="en-US" dirty="0"/>
              <a:t>Stratified sampling – each subset maintains proportion of classes (good for imbalanced classes)</a:t>
            </a:r>
          </a:p>
          <a:p>
            <a:pPr lvl="1"/>
            <a:r>
              <a:rPr lang="en-US" dirty="0"/>
              <a:t>Nested cross-validation – inner CV for model selection/hyperparameters and outer CV for </a:t>
            </a:r>
            <a:r>
              <a:rPr lang="en-US" dirty="0" err="1"/>
              <a:t>for</a:t>
            </a:r>
            <a:r>
              <a:rPr lang="en-US" dirty="0"/>
              <a:t> model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380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7A7A-169F-11E2-454B-A0A19832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- classification</a:t>
            </a:r>
            <a:endParaRPr lang="en-IL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C3E7B26-CD36-4843-DB86-02BA62CFF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6205870"/>
              </p:ext>
            </p:extLst>
          </p:nvPr>
        </p:nvGraphicFramePr>
        <p:xfrm>
          <a:off x="2991679" y="2348064"/>
          <a:ext cx="6120852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774">
                  <a:extLst>
                    <a:ext uri="{9D8B030D-6E8A-4147-A177-3AD203B41FA5}">
                      <a16:colId xmlns:a16="http://schemas.microsoft.com/office/drawing/2014/main" val="1234000939"/>
                    </a:ext>
                  </a:extLst>
                </a:gridCol>
                <a:gridCol w="2533652">
                  <a:extLst>
                    <a:ext uri="{9D8B030D-6E8A-4147-A177-3AD203B41FA5}">
                      <a16:colId xmlns:a16="http://schemas.microsoft.com/office/drawing/2014/main" val="640440521"/>
                    </a:ext>
                  </a:extLst>
                </a:gridCol>
                <a:gridCol w="1530213">
                  <a:extLst>
                    <a:ext uri="{9D8B030D-6E8A-4147-A177-3AD203B41FA5}">
                      <a16:colId xmlns:a16="http://schemas.microsoft.com/office/drawing/2014/main" val="1289448556"/>
                    </a:ext>
                  </a:extLst>
                </a:gridCol>
                <a:gridCol w="1530213">
                  <a:extLst>
                    <a:ext uri="{9D8B030D-6E8A-4147-A177-3AD203B41FA5}">
                      <a16:colId xmlns:a16="http://schemas.microsoft.com/office/drawing/2014/main" val="24887171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Predicted Condition</a:t>
                      </a:r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0777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dirty="0"/>
                        <a:t>Actual Condition</a:t>
                      </a:r>
                      <a:endParaRPr lang="en-IL" dirty="0"/>
                    </a:p>
                  </a:txBody>
                  <a:tcPr vert="vert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Population </a:t>
                      </a:r>
                      <a:br>
                        <a:rPr lang="en-US" dirty="0"/>
                      </a:br>
                      <a:r>
                        <a:rPr lang="en-US" dirty="0"/>
                        <a:t>= P + 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Positive (PP)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 (PN)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1139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Positive (P)</a:t>
                      </a:r>
                      <a:endParaRPr lang="en-IL" dirty="0"/>
                    </a:p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Positive (TP)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Positive (FP)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4226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Negative (N)</a:t>
                      </a:r>
                    </a:p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Negative (FN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Negative (TN)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931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06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D39E-1030-94D6-2B7F-84B82CED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- classification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658DB-0DAD-A7DA-BAB0-0A737EBD8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67199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Accuracy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2000" dirty="0"/>
                  <a:t> - How often the model is correct overall.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Precision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 sz="2000" dirty="0"/>
                  <a:t> - How many of the positive predictions are actually correct.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Recall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2000" dirty="0"/>
                  <a:t> - How many actual positives were correctly predicted.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Specificity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- How many actual negatives were correctly predicted.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2⋅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r>
                  <a:rPr lang="en-US" sz="2000" dirty="0"/>
                  <a:t> - balancing Precision and Recall.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ROC  - Tradeoff between Precision and False Positive Rate for different decision boundaries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PR Curve – Tradeoff between Precision and Recall for different decision boundaries</a:t>
                </a:r>
                <a:endParaRPr lang="en-IL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9658DB-0DAD-A7DA-BAB0-0A737EBD8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67199"/>
              </a:xfr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063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AD58-AC5C-0927-58A8-A6F0DC93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59C2-F08A-1A52-1E55-373DA4B92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- classification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FB613-BE2D-DC48-B8F6-EE9FBE640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Most methods generalize to multi-class classification</a:t>
                </a:r>
              </a:p>
              <a:p>
                <a:r>
                  <a:rPr lang="en-US" dirty="0"/>
                  <a:t>One vs All and All vs All analysis</a:t>
                </a:r>
              </a:p>
              <a:p>
                <a:r>
                  <a:rPr lang="en-US" dirty="0"/>
                  <a:t>Cross entropy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MCC (Matthews Correlation Coefficient)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9FB613-BE2D-DC48-B8F6-EE9FBE640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CEC3842-D35B-BFD7-4865-A81A4CB26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05" y="3919384"/>
            <a:ext cx="5449746" cy="275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249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BFC4-6086-B7FE-2D71-D8FD3CAB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regression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E9813-C455-C920-C7F6-8F951B218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 Squared Error (MSE)</a:t>
            </a:r>
          </a:p>
          <a:p>
            <a:r>
              <a:rPr lang="en-US" dirty="0"/>
              <a:t>Mean Absolute Error (MAE)</a:t>
            </a:r>
          </a:p>
          <a:p>
            <a:r>
              <a:rPr lang="en-US" dirty="0"/>
              <a:t>R² - proportion of variance explained by the model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F4926-057F-66C3-ABC1-4D3B4E58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401" y="4478301"/>
            <a:ext cx="2873329" cy="1698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6EDC38-78E1-2B93-1427-1A0CA33E8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214" y="4478301"/>
            <a:ext cx="3201837" cy="189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47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682A-D533-CBC0-8AC8-F653D353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Explainability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9799E-3998-B903-CF7D-62418E0A5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explanations try to explain the model’s overall behavior</a:t>
            </a:r>
          </a:p>
          <a:p>
            <a:r>
              <a:rPr lang="en-US" dirty="0"/>
              <a:t>Local explanations try to explain a specific prediction of the model </a:t>
            </a:r>
          </a:p>
          <a:p>
            <a:r>
              <a:rPr lang="en-US" dirty="0"/>
              <a:t>Some models have Intrinsic explainability (e.g. decision trees, linear regression) while others require Post Hoc explainability.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448733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4E21-E7DF-4E81-E570-DD12052D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Explainability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1DB3C-C9B2-98DD-E3BA-0F0D56D4E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IL" dirty="0"/>
          </a:p>
        </p:txBody>
      </p:sp>
      <p:pic>
        <p:nvPicPr>
          <p:cNvPr id="10248" name="Picture 8" descr="10 ways to estimate SHAP - by Christoph Molnar">
            <a:extLst>
              <a:ext uri="{FF2B5EF4-FFF2-40B4-BE49-F238E27FC236}">
                <a16:creationId xmlns:a16="http://schemas.microsoft.com/office/drawing/2014/main" id="{1EA9E8E0-8BE0-EE57-C2BE-46A5239AF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442" y="2385634"/>
            <a:ext cx="5038693" cy="208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2485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37E9-9992-015D-5FAF-B49082B8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2480-11CF-6A88-1790-A7FA850FF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Explainability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1C2B-42C0-B4E4-22D6-F6D8556E6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r>
              <a:rPr lang="en-US" dirty="0"/>
              <a:t>LIME</a:t>
            </a:r>
          </a:p>
          <a:p>
            <a:endParaRPr lang="en-US" dirty="0"/>
          </a:p>
          <a:p>
            <a:endParaRPr lang="en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74449A-27C7-F00E-3587-3658C7536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831" y="2405270"/>
            <a:ext cx="5544378" cy="311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9888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29DC7-540E-50D3-CBA3-0628F4F1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FE8E-55E5-DABD-7E5C-C58BAA89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Explainability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1A924-74AD-DC04-C85D-934357679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r>
              <a:rPr lang="en-US" dirty="0"/>
              <a:t>LIME</a:t>
            </a:r>
          </a:p>
          <a:p>
            <a:r>
              <a:rPr lang="en-US" dirty="0"/>
              <a:t>Counterfactuals</a:t>
            </a:r>
          </a:p>
          <a:p>
            <a:endParaRPr lang="en-US" dirty="0"/>
          </a:p>
          <a:p>
            <a:endParaRPr lang="en-IL" dirty="0"/>
          </a:p>
        </p:txBody>
      </p:sp>
      <p:pic>
        <p:nvPicPr>
          <p:cNvPr id="3074" name="Picture 2" descr="Visualization cluster">
            <a:extLst>
              <a:ext uri="{FF2B5EF4-FFF2-40B4-BE49-F238E27FC236}">
                <a16:creationId xmlns:a16="http://schemas.microsoft.com/office/drawing/2014/main" id="{E4F81415-C1D9-EA27-5B34-2A7030656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538" y="2063313"/>
            <a:ext cx="4494885" cy="296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039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40F2-115E-3DBC-07E4-6785BE325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Explainability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36B0-ECD7-949D-6179-031CFA30E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Feature Importance</a:t>
            </a:r>
          </a:p>
        </p:txBody>
      </p:sp>
      <p:pic>
        <p:nvPicPr>
          <p:cNvPr id="4098" name="Picture 2" descr="Understanding Feature Importance in Machine Learning🌟🚀 | by Lomash Bhuva  | Medium">
            <a:extLst>
              <a:ext uri="{FF2B5EF4-FFF2-40B4-BE49-F238E27FC236}">
                <a16:creationId xmlns:a16="http://schemas.microsoft.com/office/drawing/2014/main" id="{C99E1807-57B4-4005-6791-A9A55CF21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74" y="1434352"/>
            <a:ext cx="4376980" cy="2985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9284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EFF6-4FC9-61CA-CCAC-8437FE866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7FA4-70FD-1CC2-7206-C0B24C1C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Explainability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0F8BA-CFAA-8F35-8D3F-10F37937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Feature Importance</a:t>
            </a:r>
          </a:p>
          <a:p>
            <a:r>
              <a:rPr lang="en-US" dirty="0"/>
              <a:t>Partial Dependence Plot (PDP)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318DD-2F26-4181-E257-98152FE5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043" y="1883859"/>
            <a:ext cx="4871498" cy="233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674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70CE-6FF5-9BEA-0F6C-93CBC5937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5085-6869-5C63-B7A6-9CEEA9CC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Explainability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5C57C-6EA3-11D9-A2F6-63667CBC5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Feature Importance</a:t>
            </a:r>
          </a:p>
          <a:p>
            <a:r>
              <a:rPr lang="en-US" dirty="0"/>
              <a:t>Partial Dependence Plot (PDP)</a:t>
            </a:r>
          </a:p>
          <a:p>
            <a:r>
              <a:rPr lang="en-US" dirty="0"/>
              <a:t>SHAP 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</p:txBody>
      </p:sp>
      <p:pic>
        <p:nvPicPr>
          <p:cNvPr id="6146" name="Picture 2" descr="18 SHAP – Interpretable Machine Learning">
            <a:extLst>
              <a:ext uri="{FF2B5EF4-FFF2-40B4-BE49-F238E27FC236}">
                <a16:creationId xmlns:a16="http://schemas.microsoft.com/office/drawing/2014/main" id="{AC8F9426-B188-F79A-F6AE-D9D58D871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303" y="1639956"/>
            <a:ext cx="4581733" cy="228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5000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E1D90-E168-333D-7185-2FBEEE3A8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FB90E-E111-689B-C28D-60586FF4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Explainability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B7AE-562E-9B27-84CF-58B74132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Feature Importance</a:t>
            </a:r>
          </a:p>
          <a:p>
            <a:r>
              <a:rPr lang="en-US" dirty="0"/>
              <a:t>Partial Dependence Plot (PDP)</a:t>
            </a:r>
          </a:p>
          <a:p>
            <a:r>
              <a:rPr lang="en-US" dirty="0"/>
              <a:t>SHAP 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r>
              <a:rPr lang="en-US" dirty="0"/>
              <a:t>Surrogate models</a:t>
            </a:r>
            <a:endParaRPr lang="en-IL" dirty="0"/>
          </a:p>
        </p:txBody>
      </p:sp>
      <p:pic>
        <p:nvPicPr>
          <p:cNvPr id="5122" name="Picture 2" descr="Creation of interpretable surrogate model based on the multimodal... |  Download Scientific Diagram">
            <a:extLst>
              <a:ext uri="{FF2B5EF4-FFF2-40B4-BE49-F238E27FC236}">
                <a16:creationId xmlns:a16="http://schemas.microsoft.com/office/drawing/2014/main" id="{A1DAA8D9-1043-5ABB-44D8-529CE08FE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304" y="4320570"/>
            <a:ext cx="8750991" cy="217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14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BFC4D-7AF2-7BD4-EB22-64B2F95F33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Things we didn’t cover enough</a:t>
            </a:r>
            <a:endParaRPr lang="en-I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10DD4FD-58A9-2362-32A1-58767C8CE5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95837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841E-625D-6A91-1C19-4375B9F5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analysis and forecasting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CF55A-48EB-9BA0-023A-0EE8D478C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Features must preserve temporal relationship</a:t>
            </a:r>
          </a:p>
          <a:p>
            <a:r>
              <a:rPr lang="en-US" dirty="0"/>
              <a:t>Seasonality is a large issue</a:t>
            </a:r>
          </a:p>
          <a:p>
            <a:r>
              <a:rPr lang="en-US" dirty="0"/>
              <a:t>Requires specific cleaning and feature engineering techniques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775529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DC59-36DB-8D39-633C-FEFF3E5B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Textual Analysis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4D0E-EC72-E177-7A31-C4C4EEB2B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represent text? </a:t>
            </a:r>
          </a:p>
          <a:p>
            <a:pPr lvl="1"/>
            <a:r>
              <a:rPr lang="en-US" dirty="0"/>
              <a:t>Bag of words</a:t>
            </a:r>
          </a:p>
          <a:p>
            <a:pPr lvl="1"/>
            <a:r>
              <a:rPr lang="en-US" dirty="0"/>
              <a:t>N-grams</a:t>
            </a:r>
          </a:p>
          <a:p>
            <a:pPr lvl="1"/>
            <a:r>
              <a:rPr lang="en-US" dirty="0"/>
              <a:t>Embeddings</a:t>
            </a:r>
          </a:p>
          <a:p>
            <a:r>
              <a:rPr lang="en-US" dirty="0"/>
              <a:t>Textual cleaning (misspellings, </a:t>
            </a:r>
            <a:r>
              <a:rPr lang="en-US" dirty="0" err="1"/>
              <a:t>stopword</a:t>
            </a:r>
            <a:r>
              <a:rPr lang="en-US" dirty="0"/>
              <a:t> removal, lemmatization etc.)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815783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8EBF-4BEC-A2C5-B908-824F02AC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Analysis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AAF5-6444-B9F8-B42A-07C32803C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representation methods</a:t>
            </a:r>
          </a:p>
          <a:p>
            <a:r>
              <a:rPr lang="en-US" dirty="0"/>
              <a:t>Usually requires a lot of preprocessing</a:t>
            </a:r>
          </a:p>
          <a:p>
            <a:r>
              <a:rPr lang="en-US" dirty="0"/>
              <a:t>Many possible tasks (though not necessarily relevant for your project)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67486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2C8A98-4B33-6881-C23D-2D8F06B1C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  <a:endParaRPr lang="en-I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886547-E2FA-24FD-05D5-75D62F54A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637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5368</TotalTime>
  <Words>1262</Words>
  <Application>Microsoft Office PowerPoint</Application>
  <PresentationFormat>Widescreen</PresentationFormat>
  <Paragraphs>244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Cambria Math</vt:lpstr>
      <vt:lpstr>Office Theme</vt:lpstr>
      <vt:lpstr>Workshop in Data Science – Tutorial 2</vt:lpstr>
      <vt:lpstr>Updated Tentative Schedule</vt:lpstr>
      <vt:lpstr>Guidelines for Initial Presentation</vt:lpstr>
      <vt:lpstr>Topic</vt:lpstr>
      <vt:lpstr>Feasibility Analysis</vt:lpstr>
      <vt:lpstr>Method</vt:lpstr>
      <vt:lpstr>Repeat for another topic</vt:lpstr>
      <vt:lpstr>Preferences</vt:lpstr>
      <vt:lpstr>Total time for both topics</vt:lpstr>
      <vt:lpstr>Final Grade guidelines</vt:lpstr>
      <vt:lpstr>Today</vt:lpstr>
      <vt:lpstr>Why not just throw in all of your data at the model</vt:lpstr>
      <vt:lpstr>Feature Selection</vt:lpstr>
      <vt:lpstr>Feature Selection</vt:lpstr>
      <vt:lpstr>Feature Engineering</vt:lpstr>
      <vt:lpstr>Modelling – types of prediction tasks</vt:lpstr>
      <vt:lpstr>Modelling – types of prediction tasks</vt:lpstr>
      <vt:lpstr>Modelling – types of prediction tasks</vt:lpstr>
      <vt:lpstr>Modelling – types of prediction tasks</vt:lpstr>
      <vt:lpstr>Modelling – types of prediction tasks</vt:lpstr>
      <vt:lpstr>Modelling – types of prediction tasks</vt:lpstr>
      <vt:lpstr>Modelling – types of prediction tasks</vt:lpstr>
      <vt:lpstr>Common models “in a nutshell”</vt:lpstr>
      <vt:lpstr>K-Nearest Neighbors (K-NN)</vt:lpstr>
      <vt:lpstr>Linear Regression</vt:lpstr>
      <vt:lpstr>Logistic Regression</vt:lpstr>
      <vt:lpstr>Decision Trees</vt:lpstr>
      <vt:lpstr>Random Forest</vt:lpstr>
      <vt:lpstr>Gradient boosted trees (XGBoost)</vt:lpstr>
      <vt:lpstr>Neural Networks</vt:lpstr>
      <vt:lpstr>K-means/K-medians</vt:lpstr>
      <vt:lpstr>DBScan</vt:lpstr>
      <vt:lpstr>Evaluation</vt:lpstr>
      <vt:lpstr>Underfitting and Overfitting</vt:lpstr>
      <vt:lpstr>Modelling – Data partition</vt:lpstr>
      <vt:lpstr>Model Evaluation - classification</vt:lpstr>
      <vt:lpstr>Model Evaluation - classification</vt:lpstr>
      <vt:lpstr>Model Evaluation - classification</vt:lpstr>
      <vt:lpstr>Evaluation - regression</vt:lpstr>
      <vt:lpstr>Explainability </vt:lpstr>
      <vt:lpstr>Local Explainability</vt:lpstr>
      <vt:lpstr>Local Explainability</vt:lpstr>
      <vt:lpstr>Local Explainability</vt:lpstr>
      <vt:lpstr>Global Explainability</vt:lpstr>
      <vt:lpstr>Global Explainability</vt:lpstr>
      <vt:lpstr>Global Explainability</vt:lpstr>
      <vt:lpstr>Global Explainability</vt:lpstr>
      <vt:lpstr>Things we didn’t cover enough</vt:lpstr>
      <vt:lpstr>Time series analysis and forecasting</vt:lpstr>
      <vt:lpstr>Textual Analysis</vt:lpstr>
      <vt:lpstr>Image Analysis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Ab</dc:creator>
  <cp:lastModifiedBy>Omer Ab</cp:lastModifiedBy>
  <cp:revision>64</cp:revision>
  <dcterms:created xsi:type="dcterms:W3CDTF">2025-11-06T16:04:34Z</dcterms:created>
  <dcterms:modified xsi:type="dcterms:W3CDTF">2025-11-10T11:54:23Z</dcterms:modified>
</cp:coreProperties>
</file>