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17"/>
  </p:notesMasterIdLst>
  <p:sldIdLst>
    <p:sldId id="268" r:id="rId2"/>
    <p:sldId id="319" r:id="rId3"/>
    <p:sldId id="311" r:id="rId4"/>
    <p:sldId id="310" r:id="rId5"/>
    <p:sldId id="312" r:id="rId6"/>
    <p:sldId id="313" r:id="rId7"/>
    <p:sldId id="323" r:id="rId8"/>
    <p:sldId id="321" r:id="rId9"/>
    <p:sldId id="322" r:id="rId10"/>
    <p:sldId id="324" r:id="rId11"/>
    <p:sldId id="325" r:id="rId12"/>
    <p:sldId id="326" r:id="rId13"/>
    <p:sldId id="315" r:id="rId14"/>
    <p:sldId id="306" r:id="rId15"/>
    <p:sldId id="318" r:id="rId16"/>
  </p:sldIdLst>
  <p:sldSz cx="12192000" cy="6858000"/>
  <p:notesSz cx="6858000" cy="9144000"/>
  <p:defaultTextStyle>
    <a:defPPr>
      <a:defRPr lang="en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F18502-BAB4-4124-890F-A64FBD0DD3F5}" v="247" dt="2025-12-14T15:52:06.6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74" autoAdjust="0"/>
    <p:restoredTop sz="88387" autoAdjust="0"/>
  </p:normalViewPr>
  <p:slideViewPr>
    <p:cSldViewPr snapToGrid="0">
      <p:cViewPr varScale="1">
        <p:scale>
          <a:sx n="84" d="100"/>
          <a:sy n="84" d="100"/>
        </p:scale>
        <p:origin x="288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56AD31-8726-2D47-8EF2-E68FF98CBA3F}" type="doc">
      <dgm:prSet loTypeId="urn:microsoft.com/office/officeart/2005/8/layout/vList2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pPr rtl="1"/>
          <a:endParaRPr lang="he-IL"/>
        </a:p>
      </dgm:t>
    </dgm:pt>
    <dgm:pt modelId="{7055AE6A-8471-4B40-AF0D-981D38B7394D}">
      <dgm:prSet/>
      <dgm:spPr/>
      <dgm:t>
        <a:bodyPr/>
        <a:lstStyle/>
        <a:p>
          <a:pPr rtl="0">
            <a:buNone/>
          </a:pPr>
          <a:r>
            <a:rPr lang="en" b="0" i="0" dirty="0"/>
            <a:t>Reminder</a:t>
          </a:r>
        </a:p>
      </dgm:t>
    </dgm:pt>
    <dgm:pt modelId="{23BE5F57-C5B8-A644-B027-2CA2E51C640B}" type="parTrans" cxnId="{6A2655F8-0ED8-4A46-BDE9-2E81139A0006}">
      <dgm:prSet/>
      <dgm:spPr/>
      <dgm:t>
        <a:bodyPr/>
        <a:lstStyle/>
        <a:p>
          <a:pPr rtl="0"/>
          <a:endParaRPr lang="he-IL"/>
        </a:p>
      </dgm:t>
    </dgm:pt>
    <dgm:pt modelId="{9EEAF207-876F-4A42-856E-A7A10D020DD9}" type="sibTrans" cxnId="{6A2655F8-0ED8-4A46-BDE9-2E81139A0006}">
      <dgm:prSet/>
      <dgm:spPr/>
      <dgm:t>
        <a:bodyPr/>
        <a:lstStyle/>
        <a:p>
          <a:pPr rtl="0"/>
          <a:endParaRPr lang="he-IL"/>
        </a:p>
      </dgm:t>
    </dgm:pt>
    <dgm:pt modelId="{C762D7F4-8F39-5940-ADA8-6083405134E8}">
      <dgm:prSet/>
      <dgm:spPr/>
      <dgm:t>
        <a:bodyPr/>
        <a:lstStyle/>
        <a:p>
          <a:pPr rtl="0">
            <a:buNone/>
          </a:pPr>
          <a:r>
            <a:rPr lang="en" b="0" i="0" dirty="0"/>
            <a:t>Project </a:t>
          </a:r>
          <a:r>
            <a:rPr lang="en" b="0" i="0" dirty="0" err="1"/>
            <a:t>Rodemap</a:t>
          </a:r>
          <a:endParaRPr lang="en" b="0" i="0" dirty="0"/>
        </a:p>
      </dgm:t>
    </dgm:pt>
    <dgm:pt modelId="{69B1478B-5950-1C47-8996-17EA4280CE8A}" type="parTrans" cxnId="{55AFC39F-A47C-C340-A110-5BD82EC8A13B}">
      <dgm:prSet/>
      <dgm:spPr/>
      <dgm:t>
        <a:bodyPr/>
        <a:lstStyle/>
        <a:p>
          <a:pPr rtl="0"/>
          <a:endParaRPr lang="he-IL"/>
        </a:p>
      </dgm:t>
    </dgm:pt>
    <dgm:pt modelId="{9E2DFE44-66DF-274A-8117-88959635DCEF}" type="sibTrans" cxnId="{55AFC39F-A47C-C340-A110-5BD82EC8A13B}">
      <dgm:prSet/>
      <dgm:spPr/>
      <dgm:t>
        <a:bodyPr/>
        <a:lstStyle/>
        <a:p>
          <a:pPr rtl="0"/>
          <a:endParaRPr lang="he-IL"/>
        </a:p>
      </dgm:t>
    </dgm:pt>
    <dgm:pt modelId="{D505491F-5793-D847-8174-8D2C2514A554}">
      <dgm:prSet/>
      <dgm:spPr/>
      <dgm:t>
        <a:bodyPr/>
        <a:lstStyle/>
        <a:p>
          <a:pPr rtl="0">
            <a:buNone/>
          </a:pPr>
          <a:r>
            <a:rPr lang="en" b="0" i="0" dirty="0"/>
            <a:t>Recent Progress And Main Challenges</a:t>
          </a:r>
        </a:p>
      </dgm:t>
    </dgm:pt>
    <dgm:pt modelId="{0D060753-40DB-F84B-B155-F09473F50D28}" type="parTrans" cxnId="{82A9EEE8-269B-0D44-A67C-4BF4D226E70B}">
      <dgm:prSet/>
      <dgm:spPr/>
      <dgm:t>
        <a:bodyPr/>
        <a:lstStyle/>
        <a:p>
          <a:pPr rtl="0"/>
          <a:endParaRPr lang="he-IL"/>
        </a:p>
      </dgm:t>
    </dgm:pt>
    <dgm:pt modelId="{38618AB2-1DDE-E24E-849E-3DA2561B0C05}" type="sibTrans" cxnId="{82A9EEE8-269B-0D44-A67C-4BF4D226E70B}">
      <dgm:prSet/>
      <dgm:spPr/>
      <dgm:t>
        <a:bodyPr/>
        <a:lstStyle/>
        <a:p>
          <a:pPr rtl="0"/>
          <a:endParaRPr lang="he-IL"/>
        </a:p>
      </dgm:t>
    </dgm:pt>
    <dgm:pt modelId="{86EE90E8-41DB-484B-86A1-7A1CEA5587B2}">
      <dgm:prSet/>
      <dgm:spPr/>
      <dgm:t>
        <a:bodyPr/>
        <a:lstStyle/>
        <a:p>
          <a:pPr rtl="0">
            <a:buNone/>
          </a:pPr>
          <a:r>
            <a:rPr lang="en" b="0" i="0" dirty="0"/>
            <a:t>Project Status - Finished Missions</a:t>
          </a:r>
        </a:p>
      </dgm:t>
    </dgm:pt>
    <dgm:pt modelId="{EDFDE427-3A84-E849-A846-491DE66EC558}" type="parTrans" cxnId="{2C5E9E16-146D-4148-BD7D-E26F33F6C1E3}">
      <dgm:prSet/>
      <dgm:spPr/>
      <dgm:t>
        <a:bodyPr/>
        <a:lstStyle/>
        <a:p>
          <a:pPr rtl="0"/>
          <a:endParaRPr lang="he-IL"/>
        </a:p>
      </dgm:t>
    </dgm:pt>
    <dgm:pt modelId="{D6FED4F8-61FC-D146-9DA6-76F5740719F8}" type="sibTrans" cxnId="{2C5E9E16-146D-4148-BD7D-E26F33F6C1E3}">
      <dgm:prSet/>
      <dgm:spPr/>
      <dgm:t>
        <a:bodyPr/>
        <a:lstStyle/>
        <a:p>
          <a:pPr rtl="0"/>
          <a:endParaRPr lang="he-IL"/>
        </a:p>
      </dgm:t>
    </dgm:pt>
    <dgm:pt modelId="{8B35E9CB-9CC6-094E-AC51-F39526347D42}">
      <dgm:prSet/>
      <dgm:spPr/>
      <dgm:t>
        <a:bodyPr/>
        <a:lstStyle/>
        <a:p>
          <a:pPr rtl="0">
            <a:buNone/>
          </a:pPr>
          <a:r>
            <a:rPr lang="en" b="0" i="0" dirty="0"/>
            <a:t>Data &amp; feature engineering (block-based)</a:t>
          </a:r>
        </a:p>
      </dgm:t>
    </dgm:pt>
    <dgm:pt modelId="{FB98CD0F-C3D0-5D41-BD07-9D88DA1F2EBB}" type="parTrans" cxnId="{3DF7B5CE-1D6C-514D-A39A-D20B21C37534}">
      <dgm:prSet/>
      <dgm:spPr/>
      <dgm:t>
        <a:bodyPr/>
        <a:lstStyle/>
        <a:p>
          <a:pPr rtl="0"/>
          <a:endParaRPr lang="he-IL"/>
        </a:p>
      </dgm:t>
    </dgm:pt>
    <dgm:pt modelId="{3EA1E6EA-0AAD-5E47-A69A-47E1B58D624B}" type="sibTrans" cxnId="{3DF7B5CE-1D6C-514D-A39A-D20B21C37534}">
      <dgm:prSet/>
      <dgm:spPr/>
      <dgm:t>
        <a:bodyPr/>
        <a:lstStyle/>
        <a:p>
          <a:pPr rtl="0"/>
          <a:endParaRPr lang="he-IL"/>
        </a:p>
      </dgm:t>
    </dgm:pt>
    <dgm:pt modelId="{35351E90-3069-9842-8F1B-959D92FA9C73}">
      <dgm:prSet/>
      <dgm:spPr/>
      <dgm:t>
        <a:bodyPr/>
        <a:lstStyle/>
        <a:p>
          <a:pPr rtl="0">
            <a:buNone/>
          </a:pPr>
          <a:r>
            <a:rPr lang="en" b="0" i="0" dirty="0"/>
            <a:t>Phase 1: Regression (insight: noise dominates)</a:t>
          </a:r>
        </a:p>
      </dgm:t>
    </dgm:pt>
    <dgm:pt modelId="{39BE3FDE-54E8-C64E-A9C2-2442C6594EFA}" type="parTrans" cxnId="{685EF4BF-D205-9242-A684-886E6FB13DEB}">
      <dgm:prSet/>
      <dgm:spPr/>
      <dgm:t>
        <a:bodyPr/>
        <a:lstStyle/>
        <a:p>
          <a:pPr rtl="0"/>
          <a:endParaRPr lang="he-IL"/>
        </a:p>
      </dgm:t>
    </dgm:pt>
    <dgm:pt modelId="{7834CC3A-9C6A-0049-A326-2E8174DC6D53}" type="sibTrans" cxnId="{685EF4BF-D205-9242-A684-886E6FB13DEB}">
      <dgm:prSet/>
      <dgm:spPr/>
      <dgm:t>
        <a:bodyPr/>
        <a:lstStyle/>
        <a:p>
          <a:pPr rtl="0"/>
          <a:endParaRPr lang="he-IL"/>
        </a:p>
      </dgm:t>
    </dgm:pt>
    <dgm:pt modelId="{AA814A63-0F5F-B845-957C-9E54C12119BC}">
      <dgm:prSet/>
      <dgm:spPr/>
      <dgm:t>
        <a:bodyPr/>
        <a:lstStyle/>
        <a:p>
          <a:pPr rtl="0">
            <a:buNone/>
          </a:pPr>
          <a:r>
            <a:rPr lang="en" b="0" i="0" dirty="0"/>
            <a:t>Phase 2: Pivot to direction classification</a:t>
          </a:r>
        </a:p>
      </dgm:t>
    </dgm:pt>
    <dgm:pt modelId="{7D53D563-C363-8D4D-9B55-EC756FEEEE85}" type="parTrans" cxnId="{25A262FD-73CC-B74D-8BC3-F6E176F1C463}">
      <dgm:prSet/>
      <dgm:spPr/>
      <dgm:t>
        <a:bodyPr/>
        <a:lstStyle/>
        <a:p>
          <a:pPr rtl="0"/>
          <a:endParaRPr lang="he-IL"/>
        </a:p>
      </dgm:t>
    </dgm:pt>
    <dgm:pt modelId="{48EA45EC-7D7D-C140-9CC3-DE195DE44002}" type="sibTrans" cxnId="{25A262FD-73CC-B74D-8BC3-F6E176F1C463}">
      <dgm:prSet/>
      <dgm:spPr/>
      <dgm:t>
        <a:bodyPr/>
        <a:lstStyle/>
        <a:p>
          <a:pPr rtl="0"/>
          <a:endParaRPr lang="he-IL"/>
        </a:p>
      </dgm:t>
    </dgm:pt>
    <dgm:pt modelId="{60B7EB93-C2FC-D343-B5B8-23B7AFA5728D}">
      <dgm:prSet/>
      <dgm:spPr/>
      <dgm:t>
        <a:bodyPr/>
        <a:lstStyle/>
        <a:p>
          <a:pPr rtl="0">
            <a:buNone/>
          </a:pPr>
          <a:r>
            <a:rPr lang="en" b="0" i="0" dirty="0"/>
            <a:t>Classification results (binary direction) vs baselines</a:t>
          </a:r>
        </a:p>
      </dgm:t>
    </dgm:pt>
    <dgm:pt modelId="{EBBE9CC8-D2F6-504E-925E-1AF2D2440A97}" type="parTrans" cxnId="{DF1DDACF-6BDB-584B-98BB-5BA1E0560932}">
      <dgm:prSet/>
      <dgm:spPr/>
      <dgm:t>
        <a:bodyPr/>
        <a:lstStyle/>
        <a:p>
          <a:pPr rtl="0"/>
          <a:endParaRPr lang="he-IL"/>
        </a:p>
      </dgm:t>
    </dgm:pt>
    <dgm:pt modelId="{FA1189D5-4C68-B14C-B9EC-39AF7FC56B17}" type="sibTrans" cxnId="{DF1DDACF-6BDB-584B-98BB-5BA1E0560932}">
      <dgm:prSet/>
      <dgm:spPr/>
      <dgm:t>
        <a:bodyPr/>
        <a:lstStyle/>
        <a:p>
          <a:pPr rtl="0"/>
          <a:endParaRPr lang="he-IL"/>
        </a:p>
      </dgm:t>
    </dgm:pt>
    <dgm:pt modelId="{E4C2A783-88C5-584B-B1E3-B729D505CB0F}">
      <dgm:prSet/>
      <dgm:spPr/>
      <dgm:t>
        <a:bodyPr/>
        <a:lstStyle/>
        <a:p>
          <a:pPr rtl="0">
            <a:buNone/>
          </a:pPr>
          <a:r>
            <a:rPr lang="en" b="0" i="0" dirty="0"/>
            <a:t>What improved: controlled comparisons via feature blocks</a:t>
          </a:r>
        </a:p>
      </dgm:t>
    </dgm:pt>
    <dgm:pt modelId="{7540B764-1C9C-FB4E-BC80-97DFF3F41057}" type="parTrans" cxnId="{06629841-EC3D-7749-9D91-BAF5ECDC1851}">
      <dgm:prSet/>
      <dgm:spPr/>
      <dgm:t>
        <a:bodyPr/>
        <a:lstStyle/>
        <a:p>
          <a:pPr rtl="0"/>
          <a:endParaRPr lang="he-IL"/>
        </a:p>
      </dgm:t>
    </dgm:pt>
    <dgm:pt modelId="{BD1C647F-A8AC-964D-B541-C5B5C4F43E66}" type="sibTrans" cxnId="{06629841-EC3D-7749-9D91-BAF5ECDC1851}">
      <dgm:prSet/>
      <dgm:spPr/>
      <dgm:t>
        <a:bodyPr/>
        <a:lstStyle/>
        <a:p>
          <a:pPr rtl="0"/>
          <a:endParaRPr lang="he-IL"/>
        </a:p>
      </dgm:t>
    </dgm:pt>
    <dgm:pt modelId="{6CE55C95-C11F-A94C-9B16-8A6620B25145}">
      <dgm:prSet/>
      <dgm:spPr/>
      <dgm:t>
        <a:bodyPr/>
        <a:lstStyle/>
        <a:p>
          <a:pPr rtl="0">
            <a:buNone/>
          </a:pPr>
          <a:r>
            <a:rPr lang="en" b="0" i="0" dirty="0"/>
            <a:t>What’s Next </a:t>
          </a:r>
        </a:p>
      </dgm:t>
    </dgm:pt>
    <dgm:pt modelId="{0121D91D-4961-7B45-ABAC-A960BB2F4B5A}" type="parTrans" cxnId="{4C61AD79-B0A5-574D-AAB4-35E37927FD0D}">
      <dgm:prSet/>
      <dgm:spPr/>
      <dgm:t>
        <a:bodyPr/>
        <a:lstStyle/>
        <a:p>
          <a:pPr rtl="0"/>
          <a:endParaRPr lang="he-IL"/>
        </a:p>
      </dgm:t>
    </dgm:pt>
    <dgm:pt modelId="{9BABD29F-41F2-9241-AD56-7A59DC684738}" type="sibTrans" cxnId="{4C61AD79-B0A5-574D-AAB4-35E37927FD0D}">
      <dgm:prSet/>
      <dgm:spPr/>
      <dgm:t>
        <a:bodyPr/>
        <a:lstStyle/>
        <a:p>
          <a:pPr rtl="0"/>
          <a:endParaRPr lang="he-IL"/>
        </a:p>
      </dgm:t>
    </dgm:pt>
    <dgm:pt modelId="{B96E93B2-E405-2046-B772-6388DF07F5F2}">
      <dgm:prSet/>
      <dgm:spPr/>
      <dgm:t>
        <a:bodyPr/>
        <a:lstStyle/>
        <a:p>
          <a:pPr rtl="0">
            <a:buNone/>
          </a:pPr>
          <a:r>
            <a:rPr lang="en" b="0" i="0" dirty="0"/>
            <a:t>Conclusions &amp; next steps</a:t>
          </a:r>
        </a:p>
      </dgm:t>
    </dgm:pt>
    <dgm:pt modelId="{C6FBEC25-3D75-6A4D-97CB-F5C2EE7E32B5}" type="parTrans" cxnId="{3DD69CBA-EDA6-9F4F-8C86-2C95D9AFA2EA}">
      <dgm:prSet/>
      <dgm:spPr/>
      <dgm:t>
        <a:bodyPr/>
        <a:lstStyle/>
        <a:p>
          <a:pPr rtl="0"/>
          <a:endParaRPr lang="he-IL"/>
        </a:p>
      </dgm:t>
    </dgm:pt>
    <dgm:pt modelId="{99DDFE89-65A2-C145-B54E-FCA4CC831C3D}" type="sibTrans" cxnId="{3DD69CBA-EDA6-9F4F-8C86-2C95D9AFA2EA}">
      <dgm:prSet/>
      <dgm:spPr/>
      <dgm:t>
        <a:bodyPr/>
        <a:lstStyle/>
        <a:p>
          <a:pPr rtl="0"/>
          <a:endParaRPr lang="he-IL"/>
        </a:p>
      </dgm:t>
    </dgm:pt>
    <dgm:pt modelId="{663C43A9-9BAB-4545-9E4E-99F803BC6B6F}">
      <dgm:prSet/>
      <dgm:spPr/>
      <dgm:t>
        <a:bodyPr/>
        <a:lstStyle/>
        <a:p>
          <a:pPr rtl="0">
            <a:buNone/>
          </a:pPr>
          <a:r>
            <a:rPr lang="en" b="0" i="0" dirty="0"/>
            <a:t>Evaluation: the “no cheating” zone (walk-forward)</a:t>
          </a:r>
        </a:p>
      </dgm:t>
    </dgm:pt>
    <dgm:pt modelId="{B6A59F2F-EB4E-364D-87FD-3F740271B218}" type="sibTrans" cxnId="{2D177730-A08A-9247-893E-6273AF26E6F6}">
      <dgm:prSet/>
      <dgm:spPr/>
      <dgm:t>
        <a:bodyPr/>
        <a:lstStyle/>
        <a:p>
          <a:pPr rtl="0"/>
          <a:endParaRPr lang="he-IL"/>
        </a:p>
      </dgm:t>
    </dgm:pt>
    <dgm:pt modelId="{BCDEFF8A-C39D-2A46-B660-2ABAD114DEC3}" type="parTrans" cxnId="{2D177730-A08A-9247-893E-6273AF26E6F6}">
      <dgm:prSet/>
      <dgm:spPr/>
      <dgm:t>
        <a:bodyPr/>
        <a:lstStyle/>
        <a:p>
          <a:pPr rtl="0"/>
          <a:endParaRPr lang="he-IL"/>
        </a:p>
      </dgm:t>
    </dgm:pt>
    <dgm:pt modelId="{E5CF41FF-16C5-C544-8609-7C3B24722160}">
      <dgm:prSet/>
      <dgm:spPr/>
      <dgm:t>
        <a:bodyPr/>
        <a:lstStyle/>
        <a:p>
          <a:pPr rtl="0">
            <a:buNone/>
          </a:pPr>
          <a:r>
            <a:rPr lang="en" b="0" i="0" dirty="0"/>
            <a:t>Current Results</a:t>
          </a:r>
        </a:p>
      </dgm:t>
    </dgm:pt>
    <dgm:pt modelId="{B142A6E8-7F89-4043-9AED-90FCE0DF0D05}" type="parTrans" cxnId="{2567F5B7-65C9-9D46-AF56-9293A3A4BC33}">
      <dgm:prSet/>
      <dgm:spPr/>
      <dgm:t>
        <a:bodyPr/>
        <a:lstStyle/>
        <a:p>
          <a:pPr rtl="1"/>
          <a:endParaRPr lang="he-IL"/>
        </a:p>
      </dgm:t>
    </dgm:pt>
    <dgm:pt modelId="{15EF0860-6977-094C-AF73-0B4BF46EA1E0}" type="sibTrans" cxnId="{2567F5B7-65C9-9D46-AF56-9293A3A4BC33}">
      <dgm:prSet/>
      <dgm:spPr/>
      <dgm:t>
        <a:bodyPr/>
        <a:lstStyle/>
        <a:p>
          <a:pPr rtl="1"/>
          <a:endParaRPr lang="he-IL"/>
        </a:p>
      </dgm:t>
    </dgm:pt>
    <dgm:pt modelId="{8671E508-6C85-304B-B584-0E17AA9CE83F}">
      <dgm:prSet/>
      <dgm:spPr/>
      <dgm:t>
        <a:bodyPr/>
        <a:lstStyle/>
        <a:p>
          <a:pPr rtl="0">
            <a:buNone/>
          </a:pPr>
          <a:r>
            <a:rPr lang="en" b="0" i="0"/>
            <a:t>Tasks &amp; metrics (ML + finance-aware)</a:t>
          </a:r>
          <a:endParaRPr lang="en" b="0" i="0" dirty="0"/>
        </a:p>
      </dgm:t>
    </dgm:pt>
    <dgm:pt modelId="{3BC38CB7-10FA-794A-BB2F-21A66C223285}" type="parTrans" cxnId="{F0464FA1-91D3-2C4F-ADA7-76BF7EC0C910}">
      <dgm:prSet/>
      <dgm:spPr/>
      <dgm:t>
        <a:bodyPr/>
        <a:lstStyle/>
        <a:p>
          <a:pPr rtl="1"/>
          <a:endParaRPr lang="he-IL"/>
        </a:p>
      </dgm:t>
    </dgm:pt>
    <dgm:pt modelId="{7DA8BCAD-DAB9-D143-8650-F3E84D0FA517}" type="sibTrans" cxnId="{F0464FA1-91D3-2C4F-ADA7-76BF7EC0C910}">
      <dgm:prSet/>
      <dgm:spPr/>
      <dgm:t>
        <a:bodyPr/>
        <a:lstStyle/>
        <a:p>
          <a:pPr rtl="1"/>
          <a:endParaRPr lang="he-IL"/>
        </a:p>
      </dgm:t>
    </dgm:pt>
    <dgm:pt modelId="{BF162617-F3C0-1041-BAC2-57411E459941}">
      <dgm:prSet/>
      <dgm:spPr/>
      <dgm:t>
        <a:bodyPr/>
        <a:lstStyle/>
        <a:p>
          <a:pPr rtl="0">
            <a:buNone/>
          </a:pPr>
          <a:r>
            <a:rPr lang="en" b="0" i="0" dirty="0"/>
            <a:t>Benchmarks and Expectations</a:t>
          </a:r>
        </a:p>
      </dgm:t>
    </dgm:pt>
    <dgm:pt modelId="{CE86E852-834F-5F4C-9A78-2A0B79941343}" type="parTrans" cxnId="{DC306A94-2971-DC4D-8054-9D40D4903AAC}">
      <dgm:prSet/>
      <dgm:spPr/>
      <dgm:t>
        <a:bodyPr/>
        <a:lstStyle/>
        <a:p>
          <a:pPr rtl="1"/>
          <a:endParaRPr lang="he-IL"/>
        </a:p>
      </dgm:t>
    </dgm:pt>
    <dgm:pt modelId="{9747DB30-3085-A047-91F9-164FD5A30963}" type="sibTrans" cxnId="{DC306A94-2971-DC4D-8054-9D40D4903AAC}">
      <dgm:prSet/>
      <dgm:spPr/>
      <dgm:t>
        <a:bodyPr/>
        <a:lstStyle/>
        <a:p>
          <a:pPr rtl="1"/>
          <a:endParaRPr lang="he-IL"/>
        </a:p>
      </dgm:t>
    </dgm:pt>
    <dgm:pt modelId="{B125A5F6-E8D7-D347-A484-1392140398F7}">
      <dgm:prSet/>
      <dgm:spPr/>
      <dgm:t>
        <a:bodyPr/>
        <a:lstStyle/>
        <a:p>
          <a:pPr rtl="0">
            <a:buNone/>
          </a:pPr>
          <a:r>
            <a:rPr lang="en" b="0" i="0" dirty="0"/>
            <a:t>Success Criteria</a:t>
          </a:r>
        </a:p>
      </dgm:t>
    </dgm:pt>
    <dgm:pt modelId="{A42F5DCC-FF68-0A48-8A07-F36B08B08A81}" type="parTrans" cxnId="{3236FB96-7115-8C4B-B865-29B6EB2433C0}">
      <dgm:prSet/>
      <dgm:spPr/>
      <dgm:t>
        <a:bodyPr/>
        <a:lstStyle/>
        <a:p>
          <a:pPr rtl="1"/>
          <a:endParaRPr lang="he-IL"/>
        </a:p>
      </dgm:t>
    </dgm:pt>
    <dgm:pt modelId="{9DD7DA4B-F9F3-F445-803C-42EA7C5E0416}" type="sibTrans" cxnId="{3236FB96-7115-8C4B-B865-29B6EB2433C0}">
      <dgm:prSet/>
      <dgm:spPr/>
      <dgm:t>
        <a:bodyPr/>
        <a:lstStyle/>
        <a:p>
          <a:pPr rtl="1"/>
          <a:endParaRPr lang="he-IL"/>
        </a:p>
      </dgm:t>
    </dgm:pt>
    <dgm:pt modelId="{D846E2CB-C070-3A4B-90AA-696447A48F86}" type="pres">
      <dgm:prSet presAssocID="{5C56AD31-8726-2D47-8EF2-E68FF98CBA3F}" presName="linear" presStyleCnt="0">
        <dgm:presLayoutVars>
          <dgm:animLvl val="lvl"/>
          <dgm:resizeHandles val="exact"/>
        </dgm:presLayoutVars>
      </dgm:prSet>
      <dgm:spPr/>
    </dgm:pt>
    <dgm:pt modelId="{3606870A-DAB5-334F-A0BE-A083B22B7DA4}" type="pres">
      <dgm:prSet presAssocID="{7055AE6A-8471-4B40-AF0D-981D38B7394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F690795-15E4-6C4E-97D0-34B2E957BA7B}" type="pres">
      <dgm:prSet presAssocID="{7055AE6A-8471-4B40-AF0D-981D38B7394D}" presName="childText" presStyleLbl="revTx" presStyleIdx="0" presStyleCnt="4">
        <dgm:presLayoutVars>
          <dgm:bulletEnabled val="1"/>
        </dgm:presLayoutVars>
      </dgm:prSet>
      <dgm:spPr/>
    </dgm:pt>
    <dgm:pt modelId="{D2581B42-5C9E-DF4F-B6EA-8C219719E7B5}" type="pres">
      <dgm:prSet presAssocID="{D505491F-5793-D847-8174-8D2C2514A55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9760C75-765E-4F41-8938-18FA0560BDAF}" type="pres">
      <dgm:prSet presAssocID="{D505491F-5793-D847-8174-8D2C2514A554}" presName="childText" presStyleLbl="revTx" presStyleIdx="1" presStyleCnt="4">
        <dgm:presLayoutVars>
          <dgm:bulletEnabled val="1"/>
        </dgm:presLayoutVars>
      </dgm:prSet>
      <dgm:spPr/>
    </dgm:pt>
    <dgm:pt modelId="{B74D8510-A130-3241-A1DB-1B409A4DA373}" type="pres">
      <dgm:prSet presAssocID="{E5CF41FF-16C5-C544-8609-7C3B2472216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C731534-5575-EA44-96EA-8E7C0CC63BAC}" type="pres">
      <dgm:prSet presAssocID="{E5CF41FF-16C5-C544-8609-7C3B24722160}" presName="childText" presStyleLbl="revTx" presStyleIdx="2" presStyleCnt="4">
        <dgm:presLayoutVars>
          <dgm:bulletEnabled val="1"/>
        </dgm:presLayoutVars>
      </dgm:prSet>
      <dgm:spPr/>
    </dgm:pt>
    <dgm:pt modelId="{FD1514AF-9F2D-494C-895E-53CE3968FFA4}" type="pres">
      <dgm:prSet presAssocID="{6CE55C95-C11F-A94C-9B16-8A6620B2514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A186B5F-B9F8-B649-9488-0C29CB4C3F17}" type="pres">
      <dgm:prSet presAssocID="{6CE55C95-C11F-A94C-9B16-8A6620B25145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98F10206-C2AF-E042-93A6-34D28B3817A9}" type="presOf" srcId="{86EE90E8-41DB-484B-86A1-7A1CEA5587B2}" destId="{49760C75-765E-4F41-8938-18FA0560BDAF}" srcOrd="0" destOrd="0" presId="urn:microsoft.com/office/officeart/2005/8/layout/vList2"/>
    <dgm:cxn modelId="{E2AA400D-AB05-F545-968D-FC3C44A8A6AA}" type="presOf" srcId="{6CE55C95-C11F-A94C-9B16-8A6620B25145}" destId="{FD1514AF-9F2D-494C-895E-53CE3968FFA4}" srcOrd="0" destOrd="0" presId="urn:microsoft.com/office/officeart/2005/8/layout/vList2"/>
    <dgm:cxn modelId="{AF3C000E-21B8-334C-A64B-620849F13BA1}" type="presOf" srcId="{8B35E9CB-9CC6-094E-AC51-F39526347D42}" destId="{49760C75-765E-4F41-8938-18FA0560BDAF}" srcOrd="0" destOrd="1" presId="urn:microsoft.com/office/officeart/2005/8/layout/vList2"/>
    <dgm:cxn modelId="{2C5E9E16-146D-4148-BD7D-E26F33F6C1E3}" srcId="{D505491F-5793-D847-8174-8D2C2514A554}" destId="{86EE90E8-41DB-484B-86A1-7A1CEA5587B2}" srcOrd="0" destOrd="0" parTransId="{EDFDE427-3A84-E849-A846-491DE66EC558}" sibTransId="{D6FED4F8-61FC-D146-9DA6-76F5740719F8}"/>
    <dgm:cxn modelId="{5CCE6422-E721-684B-ABB1-4636AE32C203}" type="presOf" srcId="{C762D7F4-8F39-5940-ADA8-6083405134E8}" destId="{2F690795-15E4-6C4E-97D0-34B2E957BA7B}" srcOrd="0" destOrd="0" presId="urn:microsoft.com/office/officeart/2005/8/layout/vList2"/>
    <dgm:cxn modelId="{ED57C324-C94F-0842-80A4-46EE9A49C49C}" type="presOf" srcId="{B125A5F6-E8D7-D347-A484-1392140398F7}" destId="{2F690795-15E4-6C4E-97D0-34B2E957BA7B}" srcOrd="0" destOrd="2" presId="urn:microsoft.com/office/officeart/2005/8/layout/vList2"/>
    <dgm:cxn modelId="{BF10062C-6E39-AE41-B57F-309155983BDF}" type="presOf" srcId="{8671E508-6C85-304B-B584-0E17AA9CE83F}" destId="{1C731534-5575-EA44-96EA-8E7C0CC63BAC}" srcOrd="0" destOrd="0" presId="urn:microsoft.com/office/officeart/2005/8/layout/vList2"/>
    <dgm:cxn modelId="{61CAB32C-CBD7-8E42-B76E-9BFEBF84381C}" type="presOf" srcId="{35351E90-3069-9842-8F1B-959D92FA9C73}" destId="{1C731534-5575-EA44-96EA-8E7C0CC63BAC}" srcOrd="0" destOrd="1" presId="urn:microsoft.com/office/officeart/2005/8/layout/vList2"/>
    <dgm:cxn modelId="{2D177730-A08A-9247-893E-6273AF26E6F6}" srcId="{D505491F-5793-D847-8174-8D2C2514A554}" destId="{663C43A9-9BAB-4545-9E4E-99F803BC6B6F}" srcOrd="2" destOrd="0" parTransId="{BCDEFF8A-C39D-2A46-B660-2ABAD114DEC3}" sibTransId="{B6A59F2F-EB4E-364D-87FD-3F740271B218}"/>
    <dgm:cxn modelId="{06629841-EC3D-7749-9D91-BAF5ECDC1851}" srcId="{E5CF41FF-16C5-C544-8609-7C3B24722160}" destId="{E4C2A783-88C5-584B-B1E3-B729D505CB0F}" srcOrd="4" destOrd="0" parTransId="{7540B764-1C9C-FB4E-BC80-97DFF3F41057}" sibTransId="{BD1C647F-A8AC-964D-B541-C5B5C4F43E66}"/>
    <dgm:cxn modelId="{80FFDE59-FAC5-5B47-AB2F-3434368339C5}" type="presOf" srcId="{E4C2A783-88C5-584B-B1E3-B729D505CB0F}" destId="{1C731534-5575-EA44-96EA-8E7C0CC63BAC}" srcOrd="0" destOrd="4" presId="urn:microsoft.com/office/officeart/2005/8/layout/vList2"/>
    <dgm:cxn modelId="{E2237976-D8F7-FE44-B0AA-90E678549813}" type="presOf" srcId="{60B7EB93-C2FC-D343-B5B8-23B7AFA5728D}" destId="{1C731534-5575-EA44-96EA-8E7C0CC63BAC}" srcOrd="0" destOrd="3" presId="urn:microsoft.com/office/officeart/2005/8/layout/vList2"/>
    <dgm:cxn modelId="{4C61AD79-B0A5-574D-AAB4-35E37927FD0D}" srcId="{5C56AD31-8726-2D47-8EF2-E68FF98CBA3F}" destId="{6CE55C95-C11F-A94C-9B16-8A6620B25145}" srcOrd="3" destOrd="0" parTransId="{0121D91D-4961-7B45-ABAC-A960BB2F4B5A}" sibTransId="{9BABD29F-41F2-9241-AD56-7A59DC684738}"/>
    <dgm:cxn modelId="{B6B58387-5109-7D49-AF8E-32FD1D388AE4}" type="presOf" srcId="{663C43A9-9BAB-4545-9E4E-99F803BC6B6F}" destId="{49760C75-765E-4F41-8938-18FA0560BDAF}" srcOrd="0" destOrd="2" presId="urn:microsoft.com/office/officeart/2005/8/layout/vList2"/>
    <dgm:cxn modelId="{0422508A-2337-6B4D-8E97-1AC5D7C528B8}" type="presOf" srcId="{BF162617-F3C0-1041-BAC2-57411E459941}" destId="{2F690795-15E4-6C4E-97D0-34B2E957BA7B}" srcOrd="0" destOrd="1" presId="urn:microsoft.com/office/officeart/2005/8/layout/vList2"/>
    <dgm:cxn modelId="{DC306A94-2971-DC4D-8054-9D40D4903AAC}" srcId="{7055AE6A-8471-4B40-AF0D-981D38B7394D}" destId="{BF162617-F3C0-1041-BAC2-57411E459941}" srcOrd="1" destOrd="0" parTransId="{CE86E852-834F-5F4C-9A78-2A0B79941343}" sibTransId="{9747DB30-3085-A047-91F9-164FD5A30963}"/>
    <dgm:cxn modelId="{3236FB96-7115-8C4B-B865-29B6EB2433C0}" srcId="{BF162617-F3C0-1041-BAC2-57411E459941}" destId="{B125A5F6-E8D7-D347-A484-1392140398F7}" srcOrd="0" destOrd="0" parTransId="{A42F5DCC-FF68-0A48-8A07-F36B08B08A81}" sibTransId="{9DD7DA4B-F9F3-F445-803C-42EA7C5E0416}"/>
    <dgm:cxn modelId="{50217F9E-28CF-1644-A94D-1E04669E66D7}" type="presOf" srcId="{AA814A63-0F5F-B845-957C-9E54C12119BC}" destId="{1C731534-5575-EA44-96EA-8E7C0CC63BAC}" srcOrd="0" destOrd="2" presId="urn:microsoft.com/office/officeart/2005/8/layout/vList2"/>
    <dgm:cxn modelId="{55AFC39F-A47C-C340-A110-5BD82EC8A13B}" srcId="{7055AE6A-8471-4B40-AF0D-981D38B7394D}" destId="{C762D7F4-8F39-5940-ADA8-6083405134E8}" srcOrd="0" destOrd="0" parTransId="{69B1478B-5950-1C47-8996-17EA4280CE8A}" sibTransId="{9E2DFE44-66DF-274A-8117-88959635DCEF}"/>
    <dgm:cxn modelId="{F0464FA1-91D3-2C4F-ADA7-76BF7EC0C910}" srcId="{E5CF41FF-16C5-C544-8609-7C3B24722160}" destId="{8671E508-6C85-304B-B584-0E17AA9CE83F}" srcOrd="0" destOrd="0" parTransId="{3BC38CB7-10FA-794A-BB2F-21A66C223285}" sibTransId="{7DA8BCAD-DAB9-D143-8650-F3E84D0FA517}"/>
    <dgm:cxn modelId="{800807B4-92EC-554D-8A20-04ED730F4304}" type="presOf" srcId="{B96E93B2-E405-2046-B772-6388DF07F5F2}" destId="{EA186B5F-B9F8-B649-9488-0C29CB4C3F17}" srcOrd="0" destOrd="0" presId="urn:microsoft.com/office/officeart/2005/8/layout/vList2"/>
    <dgm:cxn modelId="{2567F5B7-65C9-9D46-AF56-9293A3A4BC33}" srcId="{5C56AD31-8726-2D47-8EF2-E68FF98CBA3F}" destId="{E5CF41FF-16C5-C544-8609-7C3B24722160}" srcOrd="2" destOrd="0" parTransId="{B142A6E8-7F89-4043-9AED-90FCE0DF0D05}" sibTransId="{15EF0860-6977-094C-AF73-0B4BF46EA1E0}"/>
    <dgm:cxn modelId="{3DD69CBA-EDA6-9F4F-8C86-2C95D9AFA2EA}" srcId="{6CE55C95-C11F-A94C-9B16-8A6620B25145}" destId="{B96E93B2-E405-2046-B772-6388DF07F5F2}" srcOrd="0" destOrd="0" parTransId="{C6FBEC25-3D75-6A4D-97CB-F5C2EE7E32B5}" sibTransId="{99DDFE89-65A2-C145-B54E-FCA4CC831C3D}"/>
    <dgm:cxn modelId="{685EF4BF-D205-9242-A684-886E6FB13DEB}" srcId="{E5CF41FF-16C5-C544-8609-7C3B24722160}" destId="{35351E90-3069-9842-8F1B-959D92FA9C73}" srcOrd="1" destOrd="0" parTransId="{39BE3FDE-54E8-C64E-A9C2-2442C6594EFA}" sibTransId="{7834CC3A-9C6A-0049-A326-2E8174DC6D53}"/>
    <dgm:cxn modelId="{3DF7B5CE-1D6C-514D-A39A-D20B21C37534}" srcId="{D505491F-5793-D847-8174-8D2C2514A554}" destId="{8B35E9CB-9CC6-094E-AC51-F39526347D42}" srcOrd="1" destOrd="0" parTransId="{FB98CD0F-C3D0-5D41-BD07-9D88DA1F2EBB}" sibTransId="{3EA1E6EA-0AAD-5E47-A69A-47E1B58D624B}"/>
    <dgm:cxn modelId="{DF1DDACF-6BDB-584B-98BB-5BA1E0560932}" srcId="{E5CF41FF-16C5-C544-8609-7C3B24722160}" destId="{60B7EB93-C2FC-D343-B5B8-23B7AFA5728D}" srcOrd="3" destOrd="0" parTransId="{EBBE9CC8-D2F6-504E-925E-1AF2D2440A97}" sibTransId="{FA1189D5-4C68-B14C-B9EC-39AF7FC56B17}"/>
    <dgm:cxn modelId="{F2127DDA-3EF1-7A43-A1A6-849EB4F809F4}" type="presOf" srcId="{E5CF41FF-16C5-C544-8609-7C3B24722160}" destId="{B74D8510-A130-3241-A1DB-1B409A4DA373}" srcOrd="0" destOrd="0" presId="urn:microsoft.com/office/officeart/2005/8/layout/vList2"/>
    <dgm:cxn modelId="{B16CBBDB-BE5C-684C-84E0-58487D6ADE2B}" type="presOf" srcId="{5C56AD31-8726-2D47-8EF2-E68FF98CBA3F}" destId="{D846E2CB-C070-3A4B-90AA-696447A48F86}" srcOrd="0" destOrd="0" presId="urn:microsoft.com/office/officeart/2005/8/layout/vList2"/>
    <dgm:cxn modelId="{7A7B01E4-D440-8641-A1B6-E471828A2DE5}" type="presOf" srcId="{D505491F-5793-D847-8174-8D2C2514A554}" destId="{D2581B42-5C9E-DF4F-B6EA-8C219719E7B5}" srcOrd="0" destOrd="0" presId="urn:microsoft.com/office/officeart/2005/8/layout/vList2"/>
    <dgm:cxn modelId="{82A9EEE8-269B-0D44-A67C-4BF4D226E70B}" srcId="{5C56AD31-8726-2D47-8EF2-E68FF98CBA3F}" destId="{D505491F-5793-D847-8174-8D2C2514A554}" srcOrd="1" destOrd="0" parTransId="{0D060753-40DB-F84B-B155-F09473F50D28}" sibTransId="{38618AB2-1DDE-E24E-849E-3DA2561B0C05}"/>
    <dgm:cxn modelId="{6A2655F8-0ED8-4A46-BDE9-2E81139A0006}" srcId="{5C56AD31-8726-2D47-8EF2-E68FF98CBA3F}" destId="{7055AE6A-8471-4B40-AF0D-981D38B7394D}" srcOrd="0" destOrd="0" parTransId="{23BE5F57-C5B8-A644-B027-2CA2E51C640B}" sibTransId="{9EEAF207-876F-4A42-856E-A7A10D020DD9}"/>
    <dgm:cxn modelId="{29F375FA-807E-CE40-A512-E81279074ECD}" type="presOf" srcId="{7055AE6A-8471-4B40-AF0D-981D38B7394D}" destId="{3606870A-DAB5-334F-A0BE-A083B22B7DA4}" srcOrd="0" destOrd="0" presId="urn:microsoft.com/office/officeart/2005/8/layout/vList2"/>
    <dgm:cxn modelId="{25A262FD-73CC-B74D-8BC3-F6E176F1C463}" srcId="{E5CF41FF-16C5-C544-8609-7C3B24722160}" destId="{AA814A63-0F5F-B845-957C-9E54C12119BC}" srcOrd="2" destOrd="0" parTransId="{7D53D563-C363-8D4D-9B55-EC756FEEEE85}" sibTransId="{48EA45EC-7D7D-C140-9CC3-DE195DE44002}"/>
    <dgm:cxn modelId="{D4E25DB5-F84C-C54A-94DF-F8ED37B04EA0}" type="presParOf" srcId="{D846E2CB-C070-3A4B-90AA-696447A48F86}" destId="{3606870A-DAB5-334F-A0BE-A083B22B7DA4}" srcOrd="0" destOrd="0" presId="urn:microsoft.com/office/officeart/2005/8/layout/vList2"/>
    <dgm:cxn modelId="{E57D4E19-87E9-4245-B537-CC53D5840108}" type="presParOf" srcId="{D846E2CB-C070-3A4B-90AA-696447A48F86}" destId="{2F690795-15E4-6C4E-97D0-34B2E957BA7B}" srcOrd="1" destOrd="0" presId="urn:microsoft.com/office/officeart/2005/8/layout/vList2"/>
    <dgm:cxn modelId="{A783E0F4-CC15-A448-AC31-9810EE137306}" type="presParOf" srcId="{D846E2CB-C070-3A4B-90AA-696447A48F86}" destId="{D2581B42-5C9E-DF4F-B6EA-8C219719E7B5}" srcOrd="2" destOrd="0" presId="urn:microsoft.com/office/officeart/2005/8/layout/vList2"/>
    <dgm:cxn modelId="{E995760B-09C3-5843-82D1-91604901A328}" type="presParOf" srcId="{D846E2CB-C070-3A4B-90AA-696447A48F86}" destId="{49760C75-765E-4F41-8938-18FA0560BDAF}" srcOrd="3" destOrd="0" presId="urn:microsoft.com/office/officeart/2005/8/layout/vList2"/>
    <dgm:cxn modelId="{1028F487-7E53-1D43-BD28-98C42AB306C3}" type="presParOf" srcId="{D846E2CB-C070-3A4B-90AA-696447A48F86}" destId="{B74D8510-A130-3241-A1DB-1B409A4DA373}" srcOrd="4" destOrd="0" presId="urn:microsoft.com/office/officeart/2005/8/layout/vList2"/>
    <dgm:cxn modelId="{8806B8DD-DB0A-BC4E-AC2C-3E6A25CA2E08}" type="presParOf" srcId="{D846E2CB-C070-3A4B-90AA-696447A48F86}" destId="{1C731534-5575-EA44-96EA-8E7C0CC63BAC}" srcOrd="5" destOrd="0" presId="urn:microsoft.com/office/officeart/2005/8/layout/vList2"/>
    <dgm:cxn modelId="{B787F991-54E2-654A-8B2E-9A598DEA5C01}" type="presParOf" srcId="{D846E2CB-C070-3A4B-90AA-696447A48F86}" destId="{FD1514AF-9F2D-494C-895E-53CE3968FFA4}" srcOrd="6" destOrd="0" presId="urn:microsoft.com/office/officeart/2005/8/layout/vList2"/>
    <dgm:cxn modelId="{65D14D38-DABC-BC4B-8736-1A5788E6D89B}" type="presParOf" srcId="{D846E2CB-C070-3A4B-90AA-696447A48F86}" destId="{EA186B5F-B9F8-B649-9488-0C29CB4C3F17}" srcOrd="7" destOrd="0" presId="urn:microsoft.com/office/officeart/2005/8/layout/vList2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06870A-DAB5-334F-A0BE-A083B22B7DA4}">
      <dsp:nvSpPr>
        <dsp:cNvPr id="0" name=""/>
        <dsp:cNvSpPr/>
      </dsp:nvSpPr>
      <dsp:spPr>
        <a:xfrm>
          <a:off x="0" y="101473"/>
          <a:ext cx="10540330" cy="43173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800" b="0" i="0" kern="1200" dirty="0"/>
            <a:t>Reminder</a:t>
          </a:r>
        </a:p>
      </dsp:txBody>
      <dsp:txXfrm>
        <a:off x="21075" y="122548"/>
        <a:ext cx="10498180" cy="389580"/>
      </dsp:txXfrm>
    </dsp:sp>
    <dsp:sp modelId="{2F690795-15E4-6C4E-97D0-34B2E957BA7B}">
      <dsp:nvSpPr>
        <dsp:cNvPr id="0" name=""/>
        <dsp:cNvSpPr/>
      </dsp:nvSpPr>
      <dsp:spPr>
        <a:xfrm>
          <a:off x="0" y="533203"/>
          <a:ext cx="10540330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4655" tIns="22860" rIns="128016" bIns="2286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" sz="1400" b="0" i="0" kern="1200" dirty="0"/>
            <a:t>Project </a:t>
          </a:r>
          <a:r>
            <a:rPr lang="en" sz="1400" b="0" i="0" kern="1200" dirty="0" err="1"/>
            <a:t>Rodemap</a:t>
          </a:r>
          <a:endParaRPr lang="en" sz="1400" b="0" i="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" sz="1400" b="0" i="0" kern="1200" dirty="0"/>
            <a:t>Benchmarks and Expectations</a:t>
          </a:r>
        </a:p>
        <a:p>
          <a:pPr marL="228600" lvl="2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" sz="1400" b="0" i="0" kern="1200" dirty="0"/>
            <a:t>Success Criteria</a:t>
          </a:r>
        </a:p>
      </dsp:txBody>
      <dsp:txXfrm>
        <a:off x="0" y="533203"/>
        <a:ext cx="10540330" cy="726570"/>
      </dsp:txXfrm>
    </dsp:sp>
    <dsp:sp modelId="{D2581B42-5C9E-DF4F-B6EA-8C219719E7B5}">
      <dsp:nvSpPr>
        <dsp:cNvPr id="0" name=""/>
        <dsp:cNvSpPr/>
      </dsp:nvSpPr>
      <dsp:spPr>
        <a:xfrm>
          <a:off x="0" y="1259773"/>
          <a:ext cx="10540330" cy="43173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800" b="0" i="0" kern="1200" dirty="0"/>
            <a:t>Recent Progress And Main Challenges</a:t>
          </a:r>
        </a:p>
      </dsp:txBody>
      <dsp:txXfrm>
        <a:off x="21075" y="1280848"/>
        <a:ext cx="10498180" cy="389580"/>
      </dsp:txXfrm>
    </dsp:sp>
    <dsp:sp modelId="{49760C75-765E-4F41-8938-18FA0560BDAF}">
      <dsp:nvSpPr>
        <dsp:cNvPr id="0" name=""/>
        <dsp:cNvSpPr/>
      </dsp:nvSpPr>
      <dsp:spPr>
        <a:xfrm>
          <a:off x="0" y="1691503"/>
          <a:ext cx="10540330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4655" tIns="22860" rIns="128016" bIns="2286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" sz="1400" b="0" i="0" kern="1200" dirty="0"/>
            <a:t>Project Status - Finished Missions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" sz="1400" b="0" i="0" kern="1200" dirty="0"/>
            <a:t>Data &amp; feature engineering (block-based)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" sz="1400" b="0" i="0" kern="1200" dirty="0"/>
            <a:t>Evaluation: the “no cheating” zone (walk-forward)</a:t>
          </a:r>
        </a:p>
      </dsp:txBody>
      <dsp:txXfrm>
        <a:off x="0" y="1691503"/>
        <a:ext cx="10540330" cy="726570"/>
      </dsp:txXfrm>
    </dsp:sp>
    <dsp:sp modelId="{B74D8510-A130-3241-A1DB-1B409A4DA373}">
      <dsp:nvSpPr>
        <dsp:cNvPr id="0" name=""/>
        <dsp:cNvSpPr/>
      </dsp:nvSpPr>
      <dsp:spPr>
        <a:xfrm>
          <a:off x="0" y="2418073"/>
          <a:ext cx="10540330" cy="43173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800" b="0" i="0" kern="1200" dirty="0"/>
            <a:t>Current Results</a:t>
          </a:r>
        </a:p>
      </dsp:txBody>
      <dsp:txXfrm>
        <a:off x="21075" y="2439148"/>
        <a:ext cx="10498180" cy="389580"/>
      </dsp:txXfrm>
    </dsp:sp>
    <dsp:sp modelId="{1C731534-5575-EA44-96EA-8E7C0CC63BAC}">
      <dsp:nvSpPr>
        <dsp:cNvPr id="0" name=""/>
        <dsp:cNvSpPr/>
      </dsp:nvSpPr>
      <dsp:spPr>
        <a:xfrm>
          <a:off x="0" y="2849803"/>
          <a:ext cx="10540330" cy="122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4655" tIns="22860" rIns="128016" bIns="2286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" sz="1400" b="0" i="0" kern="1200"/>
            <a:t>Tasks &amp; metrics (ML + finance-aware)</a:t>
          </a:r>
          <a:endParaRPr lang="en" sz="1400" b="0" i="0" kern="1200" dirty="0"/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" sz="1400" b="0" i="0" kern="1200" dirty="0"/>
            <a:t>Phase 1: Regression (insight: noise dominates)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" sz="1400" b="0" i="0" kern="1200" dirty="0"/>
            <a:t>Phase 2: Pivot to direction classification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" sz="1400" b="0" i="0" kern="1200" dirty="0"/>
            <a:t>Classification results (binary direction) vs baselines</a:t>
          </a: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" sz="1400" b="0" i="0" kern="1200" dirty="0"/>
            <a:t>What improved: controlled comparisons via feature blocks</a:t>
          </a:r>
        </a:p>
      </dsp:txBody>
      <dsp:txXfrm>
        <a:off x="0" y="2849803"/>
        <a:ext cx="10540330" cy="1229580"/>
      </dsp:txXfrm>
    </dsp:sp>
    <dsp:sp modelId="{FD1514AF-9F2D-494C-895E-53CE3968FFA4}">
      <dsp:nvSpPr>
        <dsp:cNvPr id="0" name=""/>
        <dsp:cNvSpPr/>
      </dsp:nvSpPr>
      <dsp:spPr>
        <a:xfrm>
          <a:off x="0" y="4079383"/>
          <a:ext cx="10540330" cy="43173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" sz="1800" b="0" i="0" kern="1200" dirty="0"/>
            <a:t>What’s Next </a:t>
          </a:r>
        </a:p>
      </dsp:txBody>
      <dsp:txXfrm>
        <a:off x="21075" y="4100458"/>
        <a:ext cx="10498180" cy="389580"/>
      </dsp:txXfrm>
    </dsp:sp>
    <dsp:sp modelId="{EA186B5F-B9F8-B649-9488-0C29CB4C3F17}">
      <dsp:nvSpPr>
        <dsp:cNvPr id="0" name=""/>
        <dsp:cNvSpPr/>
      </dsp:nvSpPr>
      <dsp:spPr>
        <a:xfrm>
          <a:off x="0" y="4511113"/>
          <a:ext cx="1054033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4655" tIns="22860" rIns="128016" bIns="22860" numCol="1" spcCol="1270" anchor="t" anchorCtr="0">
          <a:noAutofit/>
        </a:bodyPr>
        <a:lstStyle/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" sz="1400" b="0" i="0" kern="1200" dirty="0"/>
            <a:t>Conclusions &amp; next steps</a:t>
          </a:r>
        </a:p>
      </dsp:txBody>
      <dsp:txXfrm>
        <a:off x="0" y="4511113"/>
        <a:ext cx="10540330" cy="2980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EBB1BE45-1CB7-4396-9169-B755BB6ADE02}" type="datetimeFigureOut">
              <a:rPr lang="en-IL" smtClean="0"/>
              <a:t>1/15/26</a:t>
            </a:fld>
            <a:endParaRPr lang="en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C7A60F00-D350-442A-BC31-6786C900FCCD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12649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2AB27-2F86-BD38-5D35-A9375DCE5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F27235-F891-35D8-6CBF-1F8427F2B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5A4D0-582B-45CD-E0B8-8CE2CAF380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everyone. We are Itay, Moran, and Shaked. Our project studies short-term stock prediction using historical prices and news sentiment. The key contribution is not a single accuracy number, but a rigorous, leakage-free evaluation pipeline and a systematic comparison of models and feature blocks in a very noisy domain.
[Sources]
- Final_Project_Report.pdf (project report generated from our notebook)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95894F-921E-B693-98AA-BE949CA920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578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4619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79258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27008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19463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06309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0E57D-CAF5-A3CE-DBAC-B338323E2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18354F5-082B-1644-01AE-878C57651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C7277C3C-7537-EED1-6501-6BFEBD18F8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50C518C-1FF7-3598-2CA9-0C89D2A4AB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47937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FA2EE-C3C6-9213-2FB0-DE9CF5F5B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6C693CA4-BCB6-A788-F1B8-95D5354E7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61953A54-B9EB-8518-8C5B-AC7C50BCB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1522D12-6597-5898-53B7-BB2578132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556905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B1333-49E8-5566-E6A3-FCD3DC818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76ECFCCF-A914-F578-1AE6-026B3413C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BE9287DB-7D83-3BC9-EC03-AD02518E0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EE1BC61-B551-2FD1-A21D-D625992E95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435369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93153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5070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A60F00-D350-442A-BC31-6786C900FCCD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92697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F66E4-06DE-0B40-BCA4-D92B925EC948}" type="datetime13">
              <a:rPr lang="he-IL" smtClean="0"/>
              <a:t>15/1/2026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62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310-300F-EA41-93E9-AF345995A55A}" type="datetime13">
              <a:rPr lang="he-IL" smtClean="0"/>
              <a:t>15/1/2026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3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02750-F344-EA49-A46F-381423429D01}" type="datetime13">
              <a:rPr lang="he-IL" smtClean="0"/>
              <a:t>15/1/2026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510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7DBA8-90D0-AA42-9A42-ED7A3AEB6C51}" type="datetime13">
              <a:rPr lang="he-IL" smtClean="0"/>
              <a:t>15/1/2026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3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F3303-2B75-724A-9960-61AFF1FB627A}" type="datetime13">
              <a:rPr lang="he-IL" smtClean="0"/>
              <a:t>15/1/2026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60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D5A8D-213E-BE43-978A-A6A5A5743FF1}" type="datetime13">
              <a:rPr lang="he-IL" smtClean="0"/>
              <a:t>15/1/2026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</a:t>
            </a:r>
            <a:r>
              <a:rPr lang="en-US" sz="1200" kern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Science|Team</a:t>
            </a:r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003| Final Presentation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010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81A792BA-DE5A-904A-B48C-83C9489152F3}" type="datetime13">
              <a:rPr lang="he-IL" smtClean="0"/>
              <a:pPr/>
              <a:t>15/1/2026</a:t>
            </a:fld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</a:t>
            </a:r>
            <a:r>
              <a:rPr lang="en-US" sz="1200" kern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Science|Team</a:t>
            </a:r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003| Final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Picture 8" descr="Blavatnik School of Computer Science and AI, Tel Aviv University: Alumni  and Graduates | LinkedIn">
            <a:extLst>
              <a:ext uri="{FF2B5EF4-FFF2-40B4-BE49-F238E27FC236}">
                <a16:creationId xmlns:a16="http://schemas.microsoft.com/office/drawing/2014/main" id="{D8F90D1E-20E7-6194-9BE3-D1E1A07405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23" y="0"/>
            <a:ext cx="766188" cy="766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A1E79E24-B96C-E9D8-2B27-9FEBED8A5E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66113" y1="50293" x2="66113" y2="50293"/>
                        <a14:foregroundMark x1="79883" y1="34863" x2="79883" y2="34863"/>
                        <a14:foregroundMark x1="72559" y1="34473" x2="72559" y2="34473"/>
                        <a14:foregroundMark x1="74609" y1="38965" x2="74609" y2="38965"/>
                        <a14:foregroundMark x1="66504" y1="59961" x2="66504" y2="59961"/>
                        <a14:foregroundMark x1="66113" y1="66406" x2="66113" y2="66406"/>
                        <a14:foregroundMark x1="65332" y1="73340" x2="65332" y2="73340"/>
                        <a14:foregroundMark x1="45410" y1="67285" x2="45410" y2="67285"/>
                        <a14:foregroundMark x1="38184" y1="67285" x2="38184" y2="67285"/>
                        <a14:foregroundMark x1="25586" y1="68457" x2="25586" y2="68457"/>
                        <a14:foregroundMark x1="28906" y1="62012" x2="28906" y2="62012"/>
                        <a14:foregroundMark x1="19141" y1="71680" x2="19141" y2="71680"/>
                      </a14:backgroundRemoval>
                    </a14:imgEffect>
                  </a14:imgLayer>
                </a14:imgProps>
              </a:ext>
            </a:extLst>
          </a:blip>
          <a:srcRect l="12615" t="13933" r="15503" b="14186"/>
          <a:stretch>
            <a:fillRect/>
          </a:stretch>
        </p:blipFill>
        <p:spPr>
          <a:xfrm>
            <a:off x="11350257" y="1186"/>
            <a:ext cx="841743" cy="841743"/>
          </a:xfrm>
          <a:prstGeom prst="rect">
            <a:avLst/>
          </a:prstGeom>
          <a:effectLst/>
        </p:spPr>
      </p:pic>
      <p:sp>
        <p:nvSpPr>
          <p:cNvPr id="8" name="Shape 1">
            <a:extLst>
              <a:ext uri="{FF2B5EF4-FFF2-40B4-BE49-F238E27FC236}">
                <a16:creationId xmlns:a16="http://schemas.microsoft.com/office/drawing/2014/main" id="{87F0A4E3-DF9F-7DE1-60CC-38405390CAA1}"/>
              </a:ext>
            </a:extLst>
          </p:cNvPr>
          <p:cNvSpPr/>
          <p:nvPr userDrawn="1"/>
        </p:nvSpPr>
        <p:spPr>
          <a:xfrm>
            <a:off x="757799" y="752384"/>
            <a:ext cx="4068201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tx2">
                <a:lumMod val="50000"/>
              </a:schemeClr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1C66FF52-6A5B-99AD-6E7F-F44B8FFEE855}"/>
              </a:ext>
            </a:extLst>
          </p:cNvPr>
          <p:cNvSpPr/>
          <p:nvPr userDrawn="1"/>
        </p:nvSpPr>
        <p:spPr>
          <a:xfrm>
            <a:off x="4947814" y="752384"/>
            <a:ext cx="3077751" cy="457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E9DFF395-35A5-F46A-7F7A-58BDC45ED0AB}"/>
              </a:ext>
            </a:extLst>
          </p:cNvPr>
          <p:cNvSpPr/>
          <p:nvPr userDrawn="1"/>
        </p:nvSpPr>
        <p:spPr>
          <a:xfrm>
            <a:off x="8147380" y="752384"/>
            <a:ext cx="1896350" cy="4571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2">
                <a:lumMod val="40000"/>
                <a:lumOff val="60000"/>
              </a:schemeClr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1" name="Shape 1">
            <a:extLst>
              <a:ext uri="{FF2B5EF4-FFF2-40B4-BE49-F238E27FC236}">
                <a16:creationId xmlns:a16="http://schemas.microsoft.com/office/drawing/2014/main" id="{6A8CA0FE-EEF4-B794-0772-1D110613737D}"/>
              </a:ext>
            </a:extLst>
          </p:cNvPr>
          <p:cNvSpPr/>
          <p:nvPr userDrawn="1"/>
        </p:nvSpPr>
        <p:spPr>
          <a:xfrm>
            <a:off x="10160000" y="752383"/>
            <a:ext cx="1178658" cy="457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2">
                <a:lumMod val="20000"/>
                <a:lumOff val="80000"/>
              </a:schemeClr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12" name="כותרת 11">
            <a:extLst>
              <a:ext uri="{FF2B5EF4-FFF2-40B4-BE49-F238E27FC236}">
                <a16:creationId xmlns:a16="http://schemas.microsoft.com/office/drawing/2014/main" id="{2C15EBFE-6E02-6695-88E3-71E0F7965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328" y="136523"/>
            <a:ext cx="10540330" cy="614483"/>
          </a:xfrm>
        </p:spPr>
        <p:txBody>
          <a:bodyPr/>
          <a:lstStyle>
            <a:lvl1pPr algn="l" rtl="0">
              <a:defRPr sz="4000" b="1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2105589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403C-09DB-3844-9712-8DBC90134995}" type="datetime13">
              <a:rPr lang="he-IL" smtClean="0"/>
              <a:t>15/1/2026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874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4B927-E40F-1F45-B303-502F6E359B11}" type="datetime13">
              <a:rPr lang="he-IL" smtClean="0"/>
              <a:t>15/1/2026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202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DD2B9-D026-6142-837F-6E665A79104F}" type="datetime13">
              <a:rPr lang="he-IL" smtClean="0"/>
              <a:t>15/1/2026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220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EDE16-B89B-4947-B45B-F5CDDF51DE33}" type="datetime13">
              <a:rPr lang="he-IL" smtClean="0"/>
              <a:t>15/1/2026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27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722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800AD9-F236-2F43-BB94-EFEF07D6F6F7}" type="datetime13">
              <a:rPr lang="he-IL" smtClean="0"/>
              <a:t>15/1/2026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1" eaLnBrk="1" latinLnBrk="0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</a:t>
            </a:r>
            <a:r>
              <a:rPr lang="en-US" sz="1200" kern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Science|Team</a:t>
            </a:r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003| Final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71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15097-9DAB-AFE1-5759-8CD3E79EA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1544910-D0B2-705A-6816-3265B4C0A25F}"/>
              </a:ext>
            </a:extLst>
          </p:cNvPr>
          <p:cNvSpPr/>
          <p:nvPr/>
        </p:nvSpPr>
        <p:spPr>
          <a:xfrm>
            <a:off x="548640" y="4663440"/>
            <a:ext cx="1331330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  <a:alpha val="30000"/>
              </a:schemeClr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BD82E48-D8C2-6723-5B4D-466194B7B730}"/>
              </a:ext>
            </a:extLst>
          </p:cNvPr>
          <p:cNvSpPr/>
          <p:nvPr/>
        </p:nvSpPr>
        <p:spPr>
          <a:xfrm>
            <a:off x="1879970" y="4498848"/>
            <a:ext cx="2329827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FE9EB95-89F7-E176-E69E-F1D2EC6E253E}"/>
              </a:ext>
            </a:extLst>
          </p:cNvPr>
          <p:cNvSpPr/>
          <p:nvPr/>
        </p:nvSpPr>
        <p:spPr>
          <a:xfrm>
            <a:off x="4209797" y="4334256"/>
            <a:ext cx="1664162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08706D-DA77-53B5-451C-C6DB8E043F2F}"/>
              </a:ext>
            </a:extLst>
          </p:cNvPr>
          <p:cNvSpPr/>
          <p:nvPr/>
        </p:nvSpPr>
        <p:spPr>
          <a:xfrm>
            <a:off x="5873959" y="4169664"/>
            <a:ext cx="1553218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AA30F62-C748-B484-34EE-B64654D53EEB}"/>
              </a:ext>
            </a:extLst>
          </p:cNvPr>
          <p:cNvSpPr/>
          <p:nvPr/>
        </p:nvSpPr>
        <p:spPr>
          <a:xfrm>
            <a:off x="7427177" y="4037990"/>
            <a:ext cx="1775106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72F8266-72D9-2013-6222-5867F8456608}"/>
              </a:ext>
            </a:extLst>
          </p:cNvPr>
          <p:cNvSpPr/>
          <p:nvPr/>
        </p:nvSpPr>
        <p:spPr>
          <a:xfrm>
            <a:off x="9202284" y="3928262"/>
            <a:ext cx="776609" cy="0"/>
          </a:xfrm>
          <a:prstGeom prst="line">
            <a:avLst/>
          </a:prstGeom>
          <a:noFill/>
          <a:ln w="38100">
            <a:solidFill>
              <a:schemeClr val="tx2">
                <a:lumMod val="60000"/>
                <a:lumOff val="40000"/>
                <a:alpha val="30000"/>
              </a:schemeClr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C40EC7A-AA33-A29C-1C4E-8B66960D247A}"/>
              </a:ext>
            </a:extLst>
          </p:cNvPr>
          <p:cNvSpPr/>
          <p:nvPr/>
        </p:nvSpPr>
        <p:spPr>
          <a:xfrm>
            <a:off x="548640" y="146304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46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D9E219C-BDF3-BA29-26BD-395943EF5FC1}"/>
              </a:ext>
            </a:extLst>
          </p:cNvPr>
          <p:cNvSpPr/>
          <p:nvPr/>
        </p:nvSpPr>
        <p:spPr>
          <a:xfrm>
            <a:off x="548640" y="2971800"/>
            <a:ext cx="3474720" cy="54864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tx2">
                <a:lumMod val="50000"/>
              </a:schemeClr>
            </a:solidFill>
            <a:prstDash val="solid"/>
          </a:ln>
        </p:spPr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D48CFC7-9B6F-D69D-9C69-755A69CAACFE}"/>
              </a:ext>
            </a:extLst>
          </p:cNvPr>
          <p:cNvSpPr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003: Itay Mutzafi | Moran Zaks | Shaked Schnarch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E8C23FD-33E6-468F-3D59-E0497B62CB8A}"/>
              </a:ext>
            </a:extLst>
          </p:cNvPr>
          <p:cNvSpPr/>
          <p:nvPr/>
        </p:nvSpPr>
        <p:spPr>
          <a:xfrm>
            <a:off x="548640" y="617220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in Data Science |Fall 2025</a:t>
            </a:r>
            <a:endParaRPr lang="en-US" sz="1400" dirty="0"/>
          </a:p>
        </p:txBody>
      </p:sp>
      <p:pic>
        <p:nvPicPr>
          <p:cNvPr id="13" name="Picture 8" descr="Blavatnik School of Computer Science and AI, Tel Aviv University: Alumni  and Graduates | LinkedIn">
            <a:extLst>
              <a:ext uri="{FF2B5EF4-FFF2-40B4-BE49-F238E27FC236}">
                <a16:creationId xmlns:a16="http://schemas.microsoft.com/office/drawing/2014/main" id="{172AA001-782D-EC62-FDE0-5F89E7111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423" y="0"/>
            <a:ext cx="766188" cy="766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9EFEA11E-80D3-1130-3435-35B23734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66113" y1="50293" x2="66113" y2="50293"/>
                        <a14:foregroundMark x1="79883" y1="34863" x2="79883" y2="34863"/>
                        <a14:foregroundMark x1="72559" y1="34473" x2="72559" y2="34473"/>
                        <a14:foregroundMark x1="74609" y1="38965" x2="74609" y2="38965"/>
                        <a14:foregroundMark x1="66504" y1="59961" x2="66504" y2="59961"/>
                        <a14:foregroundMark x1="66113" y1="66406" x2="66113" y2="66406"/>
                        <a14:foregroundMark x1="65332" y1="73340" x2="65332" y2="73340"/>
                        <a14:foregroundMark x1="45410" y1="67285" x2="45410" y2="67285"/>
                        <a14:foregroundMark x1="38184" y1="67285" x2="38184" y2="67285"/>
                        <a14:foregroundMark x1="25586" y1="68457" x2="25586" y2="68457"/>
                        <a14:foregroundMark x1="28906" y1="62012" x2="28906" y2="62012"/>
                        <a14:foregroundMark x1="19141" y1="71680" x2="19141" y2="71680"/>
                      </a14:backgroundRemoval>
                    </a14:imgEffect>
                  </a14:imgLayer>
                </a14:imgProps>
              </a:ext>
            </a:extLst>
          </a:blip>
          <a:srcRect l="12615" t="13933" r="15503" b="14186"/>
          <a:stretch>
            <a:fillRect/>
          </a:stretch>
        </p:blipFill>
        <p:spPr>
          <a:xfrm>
            <a:off x="11350257" y="-6408"/>
            <a:ext cx="841743" cy="841743"/>
          </a:xfrm>
          <a:prstGeom prst="rect">
            <a:avLst/>
          </a:prstGeom>
          <a:effectLst/>
        </p:spPr>
      </p:pic>
      <p:sp>
        <p:nvSpPr>
          <p:cNvPr id="15" name="Text 6">
            <a:extLst>
              <a:ext uri="{FF2B5EF4-FFF2-40B4-BE49-F238E27FC236}">
                <a16:creationId xmlns:a16="http://schemas.microsoft.com/office/drawing/2014/main" id="{DDBAA585-F140-A59F-B411-7BB0AD6CB548}"/>
              </a:ext>
            </a:extLst>
          </p:cNvPr>
          <p:cNvSpPr/>
          <p:nvPr/>
        </p:nvSpPr>
        <p:spPr>
          <a:xfrm>
            <a:off x="548639" y="2127686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Stock Direction Prediction</a:t>
            </a:r>
          </a:p>
        </p:txBody>
      </p:sp>
    </p:spTree>
    <p:extLst>
      <p:ext uri="{BB962C8B-B14F-4D97-AF65-F5344CB8AC3E}">
        <p14:creationId xmlns:p14="http://schemas.microsoft.com/office/powerpoint/2010/main" val="837070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CCC4B58-CEB7-CA70-563A-BDA2F590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92BA-DE5A-904A-B48C-83C9489152F3}" type="datetime13">
              <a:rPr lang="he-IL" smtClean="0"/>
              <a:pPr/>
              <a:t>15/1/2026</a:t>
            </a:fld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F375F818-91E0-1B0D-8436-21EBCAD0C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857DFDA-2CB2-F6A7-A083-42AE999A0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C1D6AE9E-37E0-5A11-4B79-DE2D39507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defTabSz="457200" rtl="0" eaLnBrk="1" latinLnBrk="0" hangingPunct="1">
              <a:spcBef>
                <a:spcPct val="0"/>
              </a:spcBef>
              <a:buNone/>
            </a:pPr>
            <a:r>
              <a:rPr lang="en-US" dirty="0"/>
              <a:t>Agenda</a:t>
            </a:r>
            <a:endParaRPr lang="he-IL" dirty="0"/>
          </a:p>
        </p:txBody>
      </p:sp>
      <p:graphicFrame>
        <p:nvGraphicFramePr>
          <p:cNvPr id="12" name="דיאגרמה 11">
            <a:extLst>
              <a:ext uri="{FF2B5EF4-FFF2-40B4-BE49-F238E27FC236}">
                <a16:creationId xmlns:a16="http://schemas.microsoft.com/office/drawing/2014/main" id="{9B12472B-F697-16A5-A088-A7057B256A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9976564"/>
              </p:ext>
            </p:extLst>
          </p:nvPr>
        </p:nvGraphicFramePr>
        <p:xfrm>
          <a:off x="798328" y="1098345"/>
          <a:ext cx="10540330" cy="4910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04705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7718F4C0-9DFD-CA39-E6BF-8187E7132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92BA-DE5A-904A-B48C-83C9489152F3}" type="datetime13">
              <a:rPr lang="he-IL" smtClean="0"/>
              <a:pPr/>
              <a:t>15/1/2026</a:t>
            </a:fld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D0A8A25A-56E2-8E84-1F36-6E223A65B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A1BD4EB-4E5A-797B-C608-619324280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0BD67A6E-5590-DF4A-E058-03D5C108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defTabSz="457200" rtl="0" eaLnBrk="1" latinLnBrk="0" hangingPunct="1">
              <a:spcBef>
                <a:spcPct val="0"/>
              </a:spcBef>
              <a:buNone/>
            </a:pPr>
            <a:r>
              <a:rPr lang="en-US" dirty="0"/>
              <a:t>Reminder</a:t>
            </a:r>
            <a:endParaRPr lang="he-IL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9D9AA386-BD8A-37B9-7261-6EADEB010331}"/>
              </a:ext>
            </a:extLst>
          </p:cNvPr>
          <p:cNvSpPr txBox="1"/>
          <p:nvPr/>
        </p:nvSpPr>
        <p:spPr>
          <a:xfrm>
            <a:off x="798328" y="1534176"/>
            <a:ext cx="10540330" cy="4648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800">
                <a:solidFill>
                  <a:srgbClr val="282828"/>
                </a:solidFill>
              </a:defRPr>
            </a:pPr>
            <a:r>
              <a:rPr lang="en" dirty="0">
                <a:solidFill>
                  <a:srgbClr val="282828"/>
                </a:solidFill>
                <a:latin typeface="Calibri" panose="020F0502020204030204"/>
              </a:rPr>
              <a:t>What the project is about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31E6802-53B6-9305-32C0-10F094954527}"/>
              </a:ext>
            </a:extLst>
          </p:cNvPr>
          <p:cNvSpPr/>
          <p:nvPr/>
        </p:nvSpPr>
        <p:spPr>
          <a:xfrm>
            <a:off x="975360" y="2778667"/>
            <a:ext cx="22860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3A09766-922A-DC74-0427-74FE83D09B7D}"/>
              </a:ext>
            </a:extLst>
          </p:cNvPr>
          <p:cNvSpPr/>
          <p:nvPr/>
        </p:nvSpPr>
        <p:spPr>
          <a:xfrm>
            <a:off x="975360" y="2888395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1400" dirty="0"/>
          </a:p>
          <a:p>
            <a:pPr marL="0" indent="0" algn="ctr" rt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(OHLCV)</a:t>
            </a:r>
            <a:endParaRPr lang="en-US" sz="14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A74ABAEA-CB8C-8A2E-0027-1B10B06677FD}"/>
              </a:ext>
            </a:extLst>
          </p:cNvPr>
          <p:cNvSpPr/>
          <p:nvPr/>
        </p:nvSpPr>
        <p:spPr>
          <a:xfrm>
            <a:off x="3307080" y="3071275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CF327FDC-F1A8-101F-CA85-F3F1F1FE91E5}"/>
              </a:ext>
            </a:extLst>
          </p:cNvPr>
          <p:cNvSpPr/>
          <p:nvPr/>
        </p:nvSpPr>
        <p:spPr>
          <a:xfrm>
            <a:off x="3581400" y="2778667"/>
            <a:ext cx="2286000" cy="822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marL="0" algn="r" defTabSz="914400" rtl="1" eaLnBrk="1" latinLnBrk="0" hangingPunct="1"/>
            <a:endParaRPr lang="he-IL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81EDCBA-0E88-A90E-63F8-80C1C74896B1}"/>
              </a:ext>
            </a:extLst>
          </p:cNvPr>
          <p:cNvSpPr/>
          <p:nvPr/>
        </p:nvSpPr>
        <p:spPr>
          <a:xfrm>
            <a:off x="3581400" y="2888395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News</a:t>
            </a:r>
            <a:endParaRPr lang="en-US" sz="1400" dirty="0"/>
          </a:p>
          <a:p>
            <a:pPr marL="0" indent="0" algn="ctr" rt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(headlines)</a:t>
            </a:r>
            <a:endParaRPr lang="en-US" sz="14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727155D-F3AE-976A-9B3B-E319E4357DA7}"/>
              </a:ext>
            </a:extLst>
          </p:cNvPr>
          <p:cNvSpPr/>
          <p:nvPr/>
        </p:nvSpPr>
        <p:spPr>
          <a:xfrm>
            <a:off x="5913120" y="3071275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4B2FCEC2-DEC7-C095-1B01-426EADB383FC}"/>
              </a:ext>
            </a:extLst>
          </p:cNvPr>
          <p:cNvSpPr/>
          <p:nvPr/>
        </p:nvSpPr>
        <p:spPr>
          <a:xfrm>
            <a:off x="6187440" y="2778667"/>
            <a:ext cx="2286000" cy="82296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C4A5AE3D-3230-A901-9E8F-B8C8BE453535}"/>
              </a:ext>
            </a:extLst>
          </p:cNvPr>
          <p:cNvSpPr/>
          <p:nvPr/>
        </p:nvSpPr>
        <p:spPr>
          <a:xfrm>
            <a:off x="6187440" y="2888395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</a:t>
            </a:r>
            <a:endParaRPr lang="en-US" sz="1400" dirty="0"/>
          </a:p>
          <a:p>
            <a:pPr marL="0" indent="0" algn="ctr" rt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4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854D070D-E181-B9CA-F5FD-BCD774E63695}"/>
              </a:ext>
            </a:extLst>
          </p:cNvPr>
          <p:cNvSpPr/>
          <p:nvPr/>
        </p:nvSpPr>
        <p:spPr>
          <a:xfrm>
            <a:off x="8519160" y="3071275"/>
            <a:ext cx="228600" cy="237744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54EA37F9-F007-4C01-4E3F-A1E38D7B723F}"/>
              </a:ext>
            </a:extLst>
          </p:cNvPr>
          <p:cNvSpPr/>
          <p:nvPr/>
        </p:nvSpPr>
        <p:spPr>
          <a:xfrm>
            <a:off x="8793480" y="2778667"/>
            <a:ext cx="2286000" cy="8229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162924C9-46F6-A389-85E7-E99A2A462F90}"/>
              </a:ext>
            </a:extLst>
          </p:cNvPr>
          <p:cNvSpPr/>
          <p:nvPr/>
        </p:nvSpPr>
        <p:spPr>
          <a:xfrm>
            <a:off x="8793480" y="2888395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Blocks</a:t>
            </a:r>
            <a:endParaRPr lang="en-US" sz="1400" dirty="0"/>
          </a:p>
          <a:p>
            <a:pPr marL="0" indent="0" algn="ctr" rt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Target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09774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428B1965-D2B7-1324-0E65-6581C733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92BA-DE5A-904A-B48C-83C9489152F3}" type="datetime13">
              <a:rPr lang="he-IL" smtClean="0"/>
              <a:pPr/>
              <a:t>15/1/2026</a:t>
            </a:fld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F2E9D659-AE20-310A-CE67-E00EEAEF2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</a:t>
            </a:r>
            <a:r>
              <a:rPr lang="en-US" sz="1200" kern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Science|Team</a:t>
            </a:r>
            <a:r>
              <a:rPr lang="en-US" sz="12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 003| Final Presentation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423DC6E-B4AB-5B76-4692-79DD56EEB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653098A2-A245-5CCE-14AB-79E28AAB3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</a:t>
            </a:r>
            <a:r>
              <a:rPr lang="en-US" dirty="0" err="1"/>
              <a:t>Rodemap</a:t>
            </a:r>
            <a:endParaRPr lang="he-IL" dirty="0"/>
          </a:p>
        </p:txBody>
      </p:sp>
      <p:grpSp>
        <p:nvGrpSpPr>
          <p:cNvPr id="6" name="קבוצה 5">
            <a:extLst>
              <a:ext uri="{FF2B5EF4-FFF2-40B4-BE49-F238E27FC236}">
                <a16:creationId xmlns:a16="http://schemas.microsoft.com/office/drawing/2014/main" id="{6A111D18-9504-4BCB-01D3-DDD09BA77D3F}"/>
              </a:ext>
            </a:extLst>
          </p:cNvPr>
          <p:cNvGrpSpPr/>
          <p:nvPr/>
        </p:nvGrpSpPr>
        <p:grpSpPr>
          <a:xfrm>
            <a:off x="725871" y="1609916"/>
            <a:ext cx="10740258" cy="3638168"/>
            <a:chOff x="1800752" y="726534"/>
            <a:chExt cx="8551619" cy="2777589"/>
          </a:xfrm>
        </p:grpSpPr>
        <p:pic>
          <p:nvPicPr>
            <p:cNvPr id="7" name="Picture 5">
              <a:extLst>
                <a:ext uri="{FF2B5EF4-FFF2-40B4-BE49-F238E27FC236}">
                  <a16:creationId xmlns:a16="http://schemas.microsoft.com/office/drawing/2014/main" id="{879D4DA3-DFDE-1FAE-D15B-E1A268A84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-5400000">
              <a:off x="5729553" y="939003"/>
              <a:ext cx="2450568" cy="2450568"/>
            </a:xfrm>
            <a:prstGeom prst="rect">
              <a:avLst/>
            </a:prstGeom>
          </p:spPr>
        </p:pic>
        <p:grpSp>
          <p:nvGrpSpPr>
            <p:cNvPr id="8" name="קבוצה 7">
              <a:extLst>
                <a:ext uri="{FF2B5EF4-FFF2-40B4-BE49-F238E27FC236}">
                  <a16:creationId xmlns:a16="http://schemas.microsoft.com/office/drawing/2014/main" id="{D2338649-2F47-B89D-FF0F-9D99E9DAB234}"/>
                </a:ext>
              </a:extLst>
            </p:cNvPr>
            <p:cNvGrpSpPr/>
            <p:nvPr/>
          </p:nvGrpSpPr>
          <p:grpSpPr>
            <a:xfrm>
              <a:off x="1800752" y="726534"/>
              <a:ext cx="8450124" cy="2777589"/>
              <a:chOff x="1797473" y="1253780"/>
              <a:chExt cx="8450124" cy="2777589"/>
            </a:xfrm>
          </p:grpSpPr>
          <p:sp>
            <p:nvSpPr>
              <p:cNvPr id="10" name="TextBox 4">
                <a:extLst>
                  <a:ext uri="{FF2B5EF4-FFF2-40B4-BE49-F238E27FC236}">
                    <a16:creationId xmlns:a16="http://schemas.microsoft.com/office/drawing/2014/main" id="{89EA996B-F16C-E4B6-F0CE-8983F5CEED32}"/>
                  </a:ext>
                </a:extLst>
              </p:cNvPr>
              <p:cNvSpPr txBox="1"/>
              <p:nvPr/>
            </p:nvSpPr>
            <p:spPr>
              <a:xfrm>
                <a:off x="1797473" y="1253780"/>
                <a:ext cx="1560059" cy="3091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defTabSz="457200" rtl="0"/>
                <a:endParaRPr lang="en" sz="1600" b="1" dirty="0">
                  <a:solidFill>
                    <a:srgbClr val="475569"/>
                  </a:solidFill>
                  <a:latin typeface="Calibri"/>
                </a:endParaRPr>
              </a:p>
            </p:txBody>
          </p:sp>
          <p:sp>
            <p:nvSpPr>
              <p:cNvPr id="11" name="TextBox 6">
                <a:extLst>
                  <a:ext uri="{FF2B5EF4-FFF2-40B4-BE49-F238E27FC236}">
                    <a16:creationId xmlns:a16="http://schemas.microsoft.com/office/drawing/2014/main" id="{2A95C1C7-1E46-1532-D69E-6B2B3AB812C6}"/>
                  </a:ext>
                </a:extLst>
              </p:cNvPr>
              <p:cNvSpPr txBox="1"/>
              <p:nvPr/>
            </p:nvSpPr>
            <p:spPr>
              <a:xfrm>
                <a:off x="3357532" y="3754370"/>
                <a:ext cx="18650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 algn="r" defTabSz="457200" rtl="1" eaLnBrk="1" latinLnBrk="0" hangingPunct="1">
                  <a:buFont typeface="Arial" panose="020B0604020202020204" pitchFamily="34" charset="0"/>
                  <a:buChar char="•"/>
                </a:pPr>
                <a:endParaRPr lang="en" sz="1200" b="1" dirty="0">
                  <a:solidFill>
                    <a:srgbClr val="475569"/>
                  </a:solidFill>
                  <a:latin typeface="Calibri"/>
                </a:endParaRPr>
              </a:p>
            </p:txBody>
          </p:sp>
          <p:grpSp>
            <p:nvGrpSpPr>
              <p:cNvPr id="12" name="Group 2">
                <a:extLst>
                  <a:ext uri="{FF2B5EF4-FFF2-40B4-BE49-F238E27FC236}">
                    <a16:creationId xmlns:a16="http://schemas.microsoft.com/office/drawing/2014/main" id="{1BF46AC6-B4F8-3214-4F20-9D4CFE2AA445}"/>
                  </a:ext>
                </a:extLst>
              </p:cNvPr>
              <p:cNvGrpSpPr/>
              <p:nvPr/>
            </p:nvGrpSpPr>
            <p:grpSpPr>
              <a:xfrm>
                <a:off x="6946774" y="3274103"/>
                <a:ext cx="1561332" cy="444653"/>
                <a:chOff x="0" y="0"/>
                <a:chExt cx="818182" cy="267928"/>
              </a:xfrm>
              <a:solidFill>
                <a:schemeClr val="bg1">
                  <a:lumMod val="75000"/>
                </a:schemeClr>
              </a:solidFill>
            </p:grpSpPr>
            <p:sp>
              <p:nvSpPr>
                <p:cNvPr id="43" name="Freeform 3">
                  <a:extLst>
                    <a:ext uri="{FF2B5EF4-FFF2-40B4-BE49-F238E27FC236}">
                      <a16:creationId xmlns:a16="http://schemas.microsoft.com/office/drawing/2014/main" id="{80BF4FC8-252D-581F-6926-6879E9B9DE9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18182" cy="26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8182" h="267928">
                      <a:moveTo>
                        <a:pt x="0" y="0"/>
                      </a:moveTo>
                      <a:lnTo>
                        <a:pt x="818182" y="0"/>
                      </a:lnTo>
                      <a:lnTo>
                        <a:pt x="818182" y="267928"/>
                      </a:lnTo>
                      <a:lnTo>
                        <a:pt x="0" y="267928"/>
                      </a:lnTo>
                      <a:close/>
                    </a:path>
                  </a:pathLst>
                </a:custGeom>
                <a:grpFill/>
              </p:spPr>
              <p:txBody>
                <a:bodyPr/>
                <a:lstStyle/>
                <a:p>
                  <a:pPr algn="l" defTabSz="457200" rtl="0"/>
                  <a:endParaRPr lang="en-IL" sz="9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44" name="TextBox 4">
                  <a:extLst>
                    <a:ext uri="{FF2B5EF4-FFF2-40B4-BE49-F238E27FC236}">
                      <a16:creationId xmlns:a16="http://schemas.microsoft.com/office/drawing/2014/main" id="{4FF76872-8C1F-7F81-F2DA-2011B95B9C3D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818182" cy="296503"/>
                </a:xfrm>
                <a:prstGeom prst="rect">
                  <a:avLst/>
                </a:prstGeom>
                <a:solidFill>
                  <a:srgbClr val="C1C7D0"/>
                </a:solidFill>
              </p:spPr>
              <p:txBody>
                <a:bodyPr/>
                <a:lstStyle>
                  <a:defPPr>
                    <a:defRPr lang="en-IL"/>
                  </a:defPPr>
                  <a:lvl1pPr defTabSz="457200">
                    <a:defRPr sz="900">
                      <a:solidFill>
                        <a:prstClr val="black"/>
                      </a:solidFill>
                      <a:latin typeface="Calibri"/>
                    </a:defRPr>
                  </a:lvl1pPr>
                </a:lstStyle>
                <a:p>
                  <a:endParaRPr/>
                </a:p>
              </p:txBody>
            </p:sp>
          </p:grpSp>
          <p:grpSp>
            <p:nvGrpSpPr>
              <p:cNvPr id="13" name="Group 6">
                <a:extLst>
                  <a:ext uri="{FF2B5EF4-FFF2-40B4-BE49-F238E27FC236}">
                    <a16:creationId xmlns:a16="http://schemas.microsoft.com/office/drawing/2014/main" id="{66056961-60AA-2F4D-F735-19A86D57BC9D}"/>
                  </a:ext>
                </a:extLst>
              </p:cNvPr>
              <p:cNvGrpSpPr/>
              <p:nvPr/>
            </p:nvGrpSpPr>
            <p:grpSpPr>
              <a:xfrm>
                <a:off x="1806273" y="3210113"/>
                <a:ext cx="5148565" cy="508644"/>
                <a:chOff x="0" y="0"/>
                <a:chExt cx="2582108" cy="267928"/>
              </a:xfrm>
            </p:grpSpPr>
            <p:sp>
              <p:nvSpPr>
                <p:cNvPr id="41" name="Freeform 7">
                  <a:extLst>
                    <a:ext uri="{FF2B5EF4-FFF2-40B4-BE49-F238E27FC236}">
                      <a16:creationId xmlns:a16="http://schemas.microsoft.com/office/drawing/2014/main" id="{9621E242-0B48-F2E5-6C83-8E223416C0A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582108" cy="26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2108" h="267928">
                      <a:moveTo>
                        <a:pt x="0" y="0"/>
                      </a:moveTo>
                      <a:lnTo>
                        <a:pt x="2582108" y="0"/>
                      </a:lnTo>
                      <a:lnTo>
                        <a:pt x="2582108" y="267928"/>
                      </a:lnTo>
                      <a:lnTo>
                        <a:pt x="0" y="267928"/>
                      </a:lnTo>
                      <a:close/>
                    </a:path>
                  </a:pathLst>
                </a:custGeom>
                <a:solidFill>
                  <a:srgbClr val="C1C7D0"/>
                </a:solidFill>
              </p:spPr>
              <p:txBody>
                <a:bodyPr/>
                <a:lstStyle/>
                <a:p>
                  <a:pPr marL="0" algn="r" defTabSz="457200" rtl="1" eaLnBrk="1" latinLnBrk="0" hangingPunct="1"/>
                  <a:endParaRPr lang="en-IL" sz="90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42" name="TextBox 8">
                  <a:extLst>
                    <a:ext uri="{FF2B5EF4-FFF2-40B4-BE49-F238E27FC236}">
                      <a16:creationId xmlns:a16="http://schemas.microsoft.com/office/drawing/2014/main" id="{6200DCB6-2031-5F51-CE2C-1B091CE36E69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2582108" cy="296503"/>
                </a:xfrm>
                <a:prstGeom prst="rect">
                  <a:avLst/>
                </a:prstGeom>
              </p:spPr>
              <p:txBody>
                <a:bodyPr lIns="25400" tIns="25400" rIns="25400" bIns="25400" rtlCol="0" anchor="ctr"/>
                <a:lstStyle/>
                <a:p>
                  <a:pPr algn="ctr" defTabSz="457200" rtl="0">
                    <a:lnSpc>
                      <a:spcPts val="1260"/>
                    </a:lnSpc>
                  </a:pPr>
                  <a:endParaRPr sz="90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4" name="Group 9">
                <a:extLst>
                  <a:ext uri="{FF2B5EF4-FFF2-40B4-BE49-F238E27FC236}">
                    <a16:creationId xmlns:a16="http://schemas.microsoft.com/office/drawing/2014/main" id="{15966377-2B64-2A95-CDD7-49ED87DE8DC4}"/>
                  </a:ext>
                </a:extLst>
              </p:cNvPr>
              <p:cNvGrpSpPr/>
              <p:nvPr/>
            </p:nvGrpSpPr>
            <p:grpSpPr>
              <a:xfrm>
                <a:off x="5847871" y="2697688"/>
                <a:ext cx="735013" cy="276941"/>
                <a:chOff x="0" y="0"/>
                <a:chExt cx="600197" cy="226144"/>
              </a:xfrm>
            </p:grpSpPr>
            <p:sp>
              <p:nvSpPr>
                <p:cNvPr id="39" name="Freeform 10">
                  <a:extLst>
                    <a:ext uri="{FF2B5EF4-FFF2-40B4-BE49-F238E27FC236}">
                      <a16:creationId xmlns:a16="http://schemas.microsoft.com/office/drawing/2014/main" id="{63D01EAC-78E7-9AC0-A46C-FBC4AEAF9C5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00197" cy="2261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0197" h="226144">
                      <a:moveTo>
                        <a:pt x="300099" y="226144"/>
                      </a:moveTo>
                      <a:lnTo>
                        <a:pt x="600197" y="0"/>
                      </a:lnTo>
                      <a:lnTo>
                        <a:pt x="0" y="0"/>
                      </a:lnTo>
                      <a:lnTo>
                        <a:pt x="300099" y="226144"/>
                      </a:lnTo>
                      <a:close/>
                    </a:path>
                  </a:pathLst>
                </a:custGeom>
                <a:solidFill>
                  <a:srgbClr val="C1C7D0"/>
                </a:solidFill>
              </p:spPr>
              <p:txBody>
                <a:bodyPr/>
                <a:lstStyle/>
                <a:p>
                  <a:pPr algn="l" defTabSz="457200" rtl="0"/>
                  <a:endParaRPr lang="en-IL" sz="90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40" name="TextBox 11">
                  <a:extLst>
                    <a:ext uri="{FF2B5EF4-FFF2-40B4-BE49-F238E27FC236}">
                      <a16:creationId xmlns:a16="http://schemas.microsoft.com/office/drawing/2014/main" id="{80FC7E84-F64C-1CDE-BCCD-7059BBD79BF7}"/>
                    </a:ext>
                  </a:extLst>
                </p:cNvPr>
                <p:cNvSpPr txBox="1"/>
                <p:nvPr/>
              </p:nvSpPr>
              <p:spPr>
                <a:xfrm>
                  <a:off x="93781" y="-12422"/>
                  <a:ext cx="412636" cy="133571"/>
                </a:xfrm>
                <a:prstGeom prst="rect">
                  <a:avLst/>
                </a:prstGeom>
              </p:spPr>
              <p:txBody>
                <a:bodyPr lIns="25400" tIns="25400" rIns="25400" bIns="25400" rtlCol="0" anchor="ctr"/>
                <a:lstStyle/>
                <a:p>
                  <a:pPr algn="ctr" defTabSz="457200" rtl="0">
                    <a:lnSpc>
                      <a:spcPts val="1260"/>
                    </a:lnSpc>
                  </a:pPr>
                  <a:endParaRPr sz="90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5" name="Group 12">
                <a:extLst>
                  <a:ext uri="{FF2B5EF4-FFF2-40B4-BE49-F238E27FC236}">
                    <a16:creationId xmlns:a16="http://schemas.microsoft.com/office/drawing/2014/main" id="{12A80E52-39C0-E67B-A472-76EEC0BFD9A3}"/>
                  </a:ext>
                </a:extLst>
              </p:cNvPr>
              <p:cNvGrpSpPr/>
              <p:nvPr/>
            </p:nvGrpSpPr>
            <p:grpSpPr>
              <a:xfrm>
                <a:off x="1822894" y="3182235"/>
                <a:ext cx="1425836" cy="536522"/>
                <a:chOff x="-242600" y="-14685"/>
                <a:chExt cx="751057" cy="282613"/>
              </a:xfrm>
            </p:grpSpPr>
            <p:sp>
              <p:nvSpPr>
                <p:cNvPr id="37" name="Freeform 13">
                  <a:extLst>
                    <a:ext uri="{FF2B5EF4-FFF2-40B4-BE49-F238E27FC236}">
                      <a16:creationId xmlns:a16="http://schemas.microsoft.com/office/drawing/2014/main" id="{DB1D7AB0-769B-9157-1A03-EDAAAA9C87CD}"/>
                    </a:ext>
                  </a:extLst>
                </p:cNvPr>
                <p:cNvSpPr/>
                <p:nvPr/>
              </p:nvSpPr>
              <p:spPr>
                <a:xfrm>
                  <a:off x="-176099" y="0"/>
                  <a:ext cx="627161" cy="26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61" h="267928">
                      <a:moveTo>
                        <a:pt x="133964" y="0"/>
                      </a:moveTo>
                      <a:lnTo>
                        <a:pt x="493197" y="0"/>
                      </a:lnTo>
                      <a:cubicBezTo>
                        <a:pt x="567183" y="0"/>
                        <a:pt x="627161" y="59978"/>
                        <a:pt x="627161" y="133964"/>
                      </a:cubicBezTo>
                      <a:lnTo>
                        <a:pt x="627161" y="133964"/>
                      </a:lnTo>
                      <a:cubicBezTo>
                        <a:pt x="627161" y="207950"/>
                        <a:pt x="567183" y="267928"/>
                        <a:pt x="493197" y="267928"/>
                      </a:cubicBezTo>
                      <a:lnTo>
                        <a:pt x="133964" y="267928"/>
                      </a:lnTo>
                      <a:cubicBezTo>
                        <a:pt x="59978" y="267928"/>
                        <a:pt x="0" y="207950"/>
                        <a:pt x="0" y="133964"/>
                      </a:cubicBezTo>
                      <a:lnTo>
                        <a:pt x="0" y="133964"/>
                      </a:lnTo>
                      <a:cubicBezTo>
                        <a:pt x="0" y="59978"/>
                        <a:pt x="59978" y="0"/>
                        <a:pt x="133964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pPr algn="l" defTabSz="457200" rtl="0"/>
                  <a:endParaRPr lang="en-IL" sz="10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38" name="TextBox 14">
                  <a:extLst>
                    <a:ext uri="{FF2B5EF4-FFF2-40B4-BE49-F238E27FC236}">
                      <a16:creationId xmlns:a16="http://schemas.microsoft.com/office/drawing/2014/main" id="{6C297A92-81D1-9D3B-9F55-01C8C52EA3AF}"/>
                    </a:ext>
                  </a:extLst>
                </p:cNvPr>
                <p:cNvSpPr txBox="1"/>
                <p:nvPr/>
              </p:nvSpPr>
              <p:spPr>
                <a:xfrm>
                  <a:off x="-242600" y="-14685"/>
                  <a:ext cx="751057" cy="278009"/>
                </a:xfrm>
                <a:prstGeom prst="rect">
                  <a:avLst/>
                </a:prstGeom>
              </p:spPr>
              <p:txBody>
                <a:bodyPr lIns="25400" tIns="25400" rIns="25400" bIns="25400" rtlCol="0" anchor="ctr"/>
                <a:lstStyle/>
                <a:p>
                  <a:pPr algn="ctr" defTabSz="457200" rtl="0">
                    <a:lnSpc>
                      <a:spcPts val="1260"/>
                    </a:lnSpc>
                  </a:pPr>
                  <a:r>
                    <a:rPr lang="en-US" sz="1400" b="1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Calibri"/>
                      <a:ea typeface="Open Sans Bold"/>
                      <a:cs typeface="Open Sans Bold"/>
                      <a:sym typeface="Open Sans Bold"/>
                    </a:rPr>
                    <a:t>Business Understanding</a:t>
                  </a: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2D67A79-DD04-F335-27FB-0AFF128DD30C}"/>
                  </a:ext>
                </a:extLst>
              </p:cNvPr>
              <p:cNvGrpSpPr/>
              <p:nvPr/>
            </p:nvGrpSpPr>
            <p:grpSpPr>
              <a:xfrm>
                <a:off x="3656489" y="3210113"/>
                <a:ext cx="1190625" cy="508644"/>
                <a:chOff x="0" y="0"/>
                <a:chExt cx="627160" cy="267928"/>
              </a:xfrm>
            </p:grpSpPr>
            <p:sp>
              <p:nvSpPr>
                <p:cNvPr id="35" name="Freeform 16">
                  <a:extLst>
                    <a:ext uri="{FF2B5EF4-FFF2-40B4-BE49-F238E27FC236}">
                      <a16:creationId xmlns:a16="http://schemas.microsoft.com/office/drawing/2014/main" id="{7E887391-F436-9A86-ADB0-43866FB3004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27161" cy="26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61" h="267928">
                      <a:moveTo>
                        <a:pt x="133964" y="0"/>
                      </a:moveTo>
                      <a:lnTo>
                        <a:pt x="493197" y="0"/>
                      </a:lnTo>
                      <a:cubicBezTo>
                        <a:pt x="567183" y="0"/>
                        <a:pt x="627161" y="59978"/>
                        <a:pt x="627161" y="133964"/>
                      </a:cubicBezTo>
                      <a:lnTo>
                        <a:pt x="627161" y="133964"/>
                      </a:lnTo>
                      <a:cubicBezTo>
                        <a:pt x="627161" y="207950"/>
                        <a:pt x="567183" y="267928"/>
                        <a:pt x="493197" y="267928"/>
                      </a:cubicBezTo>
                      <a:lnTo>
                        <a:pt x="133964" y="267928"/>
                      </a:lnTo>
                      <a:cubicBezTo>
                        <a:pt x="59978" y="267928"/>
                        <a:pt x="0" y="207950"/>
                        <a:pt x="0" y="133964"/>
                      </a:cubicBezTo>
                      <a:lnTo>
                        <a:pt x="0" y="133964"/>
                      </a:lnTo>
                      <a:cubicBezTo>
                        <a:pt x="0" y="59978"/>
                        <a:pt x="59978" y="0"/>
                        <a:pt x="133964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pPr marL="0" algn="r" defTabSz="457200" rtl="1" eaLnBrk="1" latinLnBrk="0" hangingPunct="1"/>
                  <a:endParaRPr lang="en-IL" sz="90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</a:endParaRPr>
                </a:p>
              </p:txBody>
            </p:sp>
            <p:sp>
              <p:nvSpPr>
                <p:cNvPr id="36" name="TextBox 17">
                  <a:extLst>
                    <a:ext uri="{FF2B5EF4-FFF2-40B4-BE49-F238E27FC236}">
                      <a16:creationId xmlns:a16="http://schemas.microsoft.com/office/drawing/2014/main" id="{87F7A886-55D4-8B71-1622-336FC14D4226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627160" cy="296503"/>
                </a:xfrm>
                <a:prstGeom prst="rect">
                  <a:avLst/>
                </a:prstGeom>
              </p:spPr>
              <p:txBody>
                <a:bodyPr lIns="25400" tIns="25400" rIns="25400" bIns="25400" rtlCol="0" anchor="ctr"/>
                <a:lstStyle/>
                <a:p>
                  <a:pPr algn="ctr" defTabSz="457200" rtl="0">
                    <a:lnSpc>
                      <a:spcPts val="1260"/>
                    </a:lnSpc>
                  </a:pPr>
                  <a:endParaRPr sz="90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7" name="Group 18">
                <a:extLst>
                  <a:ext uri="{FF2B5EF4-FFF2-40B4-BE49-F238E27FC236}">
                    <a16:creationId xmlns:a16="http://schemas.microsoft.com/office/drawing/2014/main" id="{98605026-A1AE-3B24-1E5D-BC09D2A7D157}"/>
                  </a:ext>
                </a:extLst>
              </p:cNvPr>
              <p:cNvGrpSpPr/>
              <p:nvPr/>
            </p:nvGrpSpPr>
            <p:grpSpPr>
              <a:xfrm>
                <a:off x="5159073" y="3210113"/>
                <a:ext cx="1190625" cy="508644"/>
                <a:chOff x="0" y="0"/>
                <a:chExt cx="627160" cy="267928"/>
              </a:xfrm>
            </p:grpSpPr>
            <p:sp>
              <p:nvSpPr>
                <p:cNvPr id="33" name="Freeform 19">
                  <a:extLst>
                    <a:ext uri="{FF2B5EF4-FFF2-40B4-BE49-F238E27FC236}">
                      <a16:creationId xmlns:a16="http://schemas.microsoft.com/office/drawing/2014/main" id="{50A3B4ED-2A35-C0DD-7B05-39FE9E2FB06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27161" cy="26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61" h="267928">
                      <a:moveTo>
                        <a:pt x="133964" y="0"/>
                      </a:moveTo>
                      <a:lnTo>
                        <a:pt x="493197" y="0"/>
                      </a:lnTo>
                      <a:cubicBezTo>
                        <a:pt x="567183" y="0"/>
                        <a:pt x="627161" y="59978"/>
                        <a:pt x="627161" y="133964"/>
                      </a:cubicBezTo>
                      <a:lnTo>
                        <a:pt x="627161" y="133964"/>
                      </a:lnTo>
                      <a:cubicBezTo>
                        <a:pt x="627161" y="207950"/>
                        <a:pt x="567183" y="267928"/>
                        <a:pt x="493197" y="267928"/>
                      </a:cubicBezTo>
                      <a:lnTo>
                        <a:pt x="133964" y="267928"/>
                      </a:lnTo>
                      <a:cubicBezTo>
                        <a:pt x="59978" y="267928"/>
                        <a:pt x="0" y="207950"/>
                        <a:pt x="0" y="133964"/>
                      </a:cubicBezTo>
                      <a:lnTo>
                        <a:pt x="0" y="133964"/>
                      </a:lnTo>
                      <a:cubicBezTo>
                        <a:pt x="0" y="59978"/>
                        <a:pt x="59978" y="0"/>
                        <a:pt x="133964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pPr marL="0" algn="r" defTabSz="457200" rtl="1" eaLnBrk="1" latinLnBrk="0" hangingPunct="1"/>
                  <a:endParaRPr lang="en-IL" sz="90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34" name="TextBox 20">
                  <a:extLst>
                    <a:ext uri="{FF2B5EF4-FFF2-40B4-BE49-F238E27FC236}">
                      <a16:creationId xmlns:a16="http://schemas.microsoft.com/office/drawing/2014/main" id="{ADF897D0-C16A-3C87-375F-B9E545ECA232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627160" cy="296503"/>
                </a:xfrm>
                <a:prstGeom prst="rect">
                  <a:avLst/>
                </a:prstGeom>
              </p:spPr>
              <p:txBody>
                <a:bodyPr lIns="25400" tIns="25400" rIns="25400" bIns="25400" rtlCol="0" anchor="ctr"/>
                <a:lstStyle/>
                <a:p>
                  <a:pPr algn="ctr" defTabSz="457200" rtl="0">
                    <a:lnSpc>
                      <a:spcPts val="1260"/>
                    </a:lnSpc>
                  </a:pPr>
                  <a:endParaRPr sz="90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  <p:grpSp>
            <p:nvGrpSpPr>
              <p:cNvPr id="18" name="Group 21">
                <a:extLst>
                  <a:ext uri="{FF2B5EF4-FFF2-40B4-BE49-F238E27FC236}">
                    <a16:creationId xmlns:a16="http://schemas.microsoft.com/office/drawing/2014/main" id="{21D8DF9B-295E-B7E6-3BD2-338D0B9BC9CC}"/>
                  </a:ext>
                </a:extLst>
              </p:cNvPr>
              <p:cNvGrpSpPr/>
              <p:nvPr/>
            </p:nvGrpSpPr>
            <p:grpSpPr>
              <a:xfrm>
                <a:off x="8914097" y="3210113"/>
                <a:ext cx="1333500" cy="508644"/>
                <a:chOff x="0" y="0"/>
                <a:chExt cx="702420" cy="267928"/>
              </a:xfrm>
            </p:grpSpPr>
            <p:sp>
              <p:nvSpPr>
                <p:cNvPr id="31" name="Freeform 22">
                  <a:extLst>
                    <a:ext uri="{FF2B5EF4-FFF2-40B4-BE49-F238E27FC236}">
                      <a16:creationId xmlns:a16="http://schemas.microsoft.com/office/drawing/2014/main" id="{5A09548C-5872-1A86-8E80-B809FCA76B0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702420" cy="26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420" h="267928">
                      <a:moveTo>
                        <a:pt x="133964" y="0"/>
                      </a:moveTo>
                      <a:lnTo>
                        <a:pt x="568456" y="0"/>
                      </a:lnTo>
                      <a:cubicBezTo>
                        <a:pt x="642442" y="0"/>
                        <a:pt x="702420" y="59978"/>
                        <a:pt x="702420" y="133964"/>
                      </a:cubicBezTo>
                      <a:lnTo>
                        <a:pt x="702420" y="133964"/>
                      </a:lnTo>
                      <a:cubicBezTo>
                        <a:pt x="702420" y="207950"/>
                        <a:pt x="642442" y="267928"/>
                        <a:pt x="568456" y="267928"/>
                      </a:cubicBezTo>
                      <a:lnTo>
                        <a:pt x="133964" y="267928"/>
                      </a:lnTo>
                      <a:cubicBezTo>
                        <a:pt x="59978" y="267928"/>
                        <a:pt x="0" y="207950"/>
                        <a:pt x="0" y="133964"/>
                      </a:cubicBezTo>
                      <a:lnTo>
                        <a:pt x="0" y="133964"/>
                      </a:lnTo>
                      <a:cubicBezTo>
                        <a:pt x="0" y="59978"/>
                        <a:pt x="59978" y="0"/>
                        <a:pt x="133964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pPr marL="0" algn="r" defTabSz="457200" rtl="1" eaLnBrk="1" latinLnBrk="0" hangingPunct="1"/>
                  <a:endParaRPr lang="en-IL" sz="90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32" name="TextBox 23">
                  <a:extLst>
                    <a:ext uri="{FF2B5EF4-FFF2-40B4-BE49-F238E27FC236}">
                      <a16:creationId xmlns:a16="http://schemas.microsoft.com/office/drawing/2014/main" id="{1C0D1AFA-13B5-7BB1-53D1-963D587AD192}"/>
                    </a:ext>
                  </a:extLst>
                </p:cNvPr>
                <p:cNvSpPr txBox="1"/>
                <p:nvPr/>
              </p:nvSpPr>
              <p:spPr>
                <a:xfrm>
                  <a:off x="0" y="-28575"/>
                  <a:ext cx="702420" cy="296503"/>
                </a:xfrm>
                <a:prstGeom prst="rect">
                  <a:avLst/>
                </a:prstGeom>
              </p:spPr>
              <p:txBody>
                <a:bodyPr lIns="25400" tIns="25400" rIns="25400" bIns="25400" rtlCol="0" anchor="ctr"/>
                <a:lstStyle/>
                <a:p>
                  <a:pPr algn="ctr" defTabSz="457200" rtl="0">
                    <a:lnSpc>
                      <a:spcPts val="1260"/>
                    </a:lnSpc>
                  </a:pPr>
                  <a:endParaRPr sz="90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</p:grpSp>
          <p:sp>
            <p:nvSpPr>
              <p:cNvPr id="19" name="Freeform 25">
                <a:extLst>
                  <a:ext uri="{FF2B5EF4-FFF2-40B4-BE49-F238E27FC236}">
                    <a16:creationId xmlns:a16="http://schemas.microsoft.com/office/drawing/2014/main" id="{4DBC3939-416E-685A-00D1-1121D4B3658C}"/>
                  </a:ext>
                </a:extLst>
              </p:cNvPr>
              <p:cNvSpPr/>
              <p:nvPr/>
            </p:nvSpPr>
            <p:spPr>
              <a:xfrm rot="16200000">
                <a:off x="8277711" y="3309032"/>
                <a:ext cx="735013" cy="276941"/>
              </a:xfrm>
              <a:custGeom>
                <a:avLst/>
                <a:gdLst/>
                <a:ahLst/>
                <a:cxnLst/>
                <a:rect l="l" t="t" r="r" b="b"/>
                <a:pathLst>
                  <a:path w="600197" h="226144">
                    <a:moveTo>
                      <a:pt x="300099" y="226144"/>
                    </a:moveTo>
                    <a:lnTo>
                      <a:pt x="600197" y="0"/>
                    </a:lnTo>
                    <a:lnTo>
                      <a:pt x="0" y="0"/>
                    </a:lnTo>
                    <a:lnTo>
                      <a:pt x="300099" y="226144"/>
                    </a:lnTo>
                    <a:close/>
                  </a:path>
                </a:pathLst>
              </a:custGeom>
              <a:solidFill>
                <a:srgbClr val="C1C7D0"/>
              </a:solidFill>
            </p:spPr>
            <p:txBody>
              <a:bodyPr/>
              <a:lstStyle/>
              <a:p>
                <a:pPr defTabSz="457200"/>
                <a:endParaRPr lang="en-IL" sz="900" dirty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20" name="TextBox 29">
                <a:extLst>
                  <a:ext uri="{FF2B5EF4-FFF2-40B4-BE49-F238E27FC236}">
                    <a16:creationId xmlns:a16="http://schemas.microsoft.com/office/drawing/2014/main" id="{ECCE41A0-9285-67AA-4A73-4155C74EFA1F}"/>
                  </a:ext>
                </a:extLst>
              </p:cNvPr>
              <p:cNvSpPr txBox="1"/>
              <p:nvPr/>
            </p:nvSpPr>
            <p:spPr>
              <a:xfrm>
                <a:off x="3686165" y="3402522"/>
                <a:ext cx="1160950" cy="116949"/>
              </a:xfrm>
              <a:prstGeom prst="rect">
                <a:avLst/>
              </a:prstGeom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defTabSz="457200" rtl="0">
                  <a:lnSpc>
                    <a:spcPts val="1080"/>
                  </a:lnSpc>
                </a:pPr>
                <a:r>
                  <a:rPr lang="en-US" sz="1400" b="1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  <a:ea typeface="Open Sans Bold"/>
                    <a:cs typeface="Open Sans Bold"/>
                    <a:sym typeface="Open Sans Bold"/>
                  </a:rPr>
                  <a:t>Data Preparation</a:t>
                </a:r>
              </a:p>
            </p:txBody>
          </p:sp>
          <p:sp>
            <p:nvSpPr>
              <p:cNvPr id="21" name="TextBox 30">
                <a:extLst>
                  <a:ext uri="{FF2B5EF4-FFF2-40B4-BE49-F238E27FC236}">
                    <a16:creationId xmlns:a16="http://schemas.microsoft.com/office/drawing/2014/main" id="{ACA40E3B-D930-701B-85C2-26B23412B5F0}"/>
                  </a:ext>
                </a:extLst>
              </p:cNvPr>
              <p:cNvSpPr txBox="1"/>
              <p:nvPr/>
            </p:nvSpPr>
            <p:spPr>
              <a:xfrm>
                <a:off x="5224679" y="3413254"/>
                <a:ext cx="1101206" cy="116949"/>
              </a:xfrm>
              <a:prstGeom prst="rect">
                <a:avLst/>
              </a:prstGeom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 defTabSz="457200" rtl="0">
                  <a:lnSpc>
                    <a:spcPts val="1080"/>
                  </a:lnSpc>
                </a:pPr>
                <a:r>
                  <a:rPr lang="en-US" sz="1400" b="1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  <a:ea typeface="Open Sans Bold"/>
                    <a:cs typeface="Open Sans Bold"/>
                    <a:sym typeface="Open Sans Bold"/>
                  </a:rPr>
                  <a:t>Model Selection</a:t>
                </a:r>
              </a:p>
            </p:txBody>
          </p:sp>
          <p:sp>
            <p:nvSpPr>
              <p:cNvPr id="22" name="TextBox 31">
                <a:extLst>
                  <a:ext uri="{FF2B5EF4-FFF2-40B4-BE49-F238E27FC236}">
                    <a16:creationId xmlns:a16="http://schemas.microsoft.com/office/drawing/2014/main" id="{9455713F-2F18-AFDC-365D-EC07C43A15B6}"/>
                  </a:ext>
                </a:extLst>
              </p:cNvPr>
              <p:cNvSpPr txBox="1"/>
              <p:nvPr/>
            </p:nvSpPr>
            <p:spPr>
              <a:xfrm>
                <a:off x="9216547" y="3404510"/>
                <a:ext cx="723733" cy="11694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defTabSz="457200" rtl="0">
                  <a:lnSpc>
                    <a:spcPts val="1080"/>
                  </a:lnSpc>
                </a:pPr>
                <a:r>
                  <a:rPr lang="en-US" sz="1400" b="1" dirty="0">
                    <a:ln w="0"/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Calibri"/>
                    <a:sym typeface="Open Sans Bold"/>
                  </a:rPr>
                  <a:t>Finishers</a:t>
                </a:r>
              </a:p>
            </p:txBody>
          </p:sp>
          <p:sp>
            <p:nvSpPr>
              <p:cNvPr id="23" name="TextBox 35">
                <a:extLst>
                  <a:ext uri="{FF2B5EF4-FFF2-40B4-BE49-F238E27FC236}">
                    <a16:creationId xmlns:a16="http://schemas.microsoft.com/office/drawing/2014/main" id="{06AA6E9C-D4D9-80D0-F5EF-075F0A657957}"/>
                  </a:ext>
                </a:extLst>
              </p:cNvPr>
              <p:cNvSpPr txBox="1"/>
              <p:nvPr/>
            </p:nvSpPr>
            <p:spPr>
              <a:xfrm>
                <a:off x="1934861" y="2979391"/>
                <a:ext cx="1166813" cy="14298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 defTabSz="457200" rtl="0">
                  <a:lnSpc>
                    <a:spcPts val="1080"/>
                  </a:lnSpc>
                </a:pPr>
                <a:r>
                  <a:rPr lang="en-US" sz="1400" b="1" dirty="0">
                    <a:solidFill>
                      <a:srgbClr val="333333"/>
                    </a:solidFill>
                    <a:latin typeface="Calibri"/>
                    <a:ea typeface="Open Sans Bold"/>
                    <a:cs typeface="Open Sans Bold"/>
                    <a:sym typeface="Open Sans Bold"/>
                  </a:rPr>
                  <a:t>26.10 - 24.11</a:t>
                </a:r>
              </a:p>
            </p:txBody>
          </p:sp>
          <p:sp>
            <p:nvSpPr>
              <p:cNvPr id="24" name="TextBox 36">
                <a:extLst>
                  <a:ext uri="{FF2B5EF4-FFF2-40B4-BE49-F238E27FC236}">
                    <a16:creationId xmlns:a16="http://schemas.microsoft.com/office/drawing/2014/main" id="{ABA22FBB-911D-A453-30C4-B7831DF10E84}"/>
                  </a:ext>
                </a:extLst>
              </p:cNvPr>
              <p:cNvSpPr txBox="1"/>
              <p:nvPr/>
            </p:nvSpPr>
            <p:spPr>
              <a:xfrm>
                <a:off x="3668395" y="2979391"/>
                <a:ext cx="1166813" cy="11694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 defTabSz="457200" rtl="0">
                  <a:lnSpc>
                    <a:spcPts val="1080"/>
                  </a:lnSpc>
                </a:pPr>
                <a:r>
                  <a:rPr lang="en-US" sz="1400" b="1" dirty="0">
                    <a:solidFill>
                      <a:srgbClr val="333333"/>
                    </a:solidFill>
                    <a:latin typeface="Calibri"/>
                    <a:sym typeface="Open Sans Bold"/>
                  </a:rPr>
                  <a:t>24.11 - 8.12</a:t>
                </a:r>
              </a:p>
            </p:txBody>
          </p:sp>
          <p:sp>
            <p:nvSpPr>
              <p:cNvPr id="25" name="TextBox 37">
                <a:extLst>
                  <a:ext uri="{FF2B5EF4-FFF2-40B4-BE49-F238E27FC236}">
                    <a16:creationId xmlns:a16="http://schemas.microsoft.com/office/drawing/2014/main" id="{64AC4C19-718D-65C9-A912-C93803EBB007}"/>
                  </a:ext>
                </a:extLst>
              </p:cNvPr>
              <p:cNvSpPr txBox="1"/>
              <p:nvPr/>
            </p:nvSpPr>
            <p:spPr>
              <a:xfrm>
                <a:off x="5159073" y="2979391"/>
                <a:ext cx="1166813" cy="11694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 defTabSz="457200" rtl="0">
                  <a:lnSpc>
                    <a:spcPts val="1080"/>
                  </a:lnSpc>
                </a:pPr>
                <a:r>
                  <a:rPr lang="en-US" sz="1400" b="1" dirty="0">
                    <a:solidFill>
                      <a:srgbClr val="333333"/>
                    </a:solidFill>
                    <a:latin typeface="Calibri"/>
                    <a:sym typeface="Open Sans Bold"/>
                  </a:rPr>
                  <a:t>9.12 - 15.12</a:t>
                </a:r>
              </a:p>
            </p:txBody>
          </p:sp>
          <p:grpSp>
            <p:nvGrpSpPr>
              <p:cNvPr id="26" name="Group 38">
                <a:extLst>
                  <a:ext uri="{FF2B5EF4-FFF2-40B4-BE49-F238E27FC236}">
                    <a16:creationId xmlns:a16="http://schemas.microsoft.com/office/drawing/2014/main" id="{B4D19B69-61BD-4F98-8C8B-63A3716EC081}"/>
                  </a:ext>
                </a:extLst>
              </p:cNvPr>
              <p:cNvGrpSpPr/>
              <p:nvPr/>
            </p:nvGrpSpPr>
            <p:grpSpPr>
              <a:xfrm>
                <a:off x="6222797" y="1692356"/>
                <a:ext cx="1464082" cy="527782"/>
                <a:chOff x="-68674" y="-4276"/>
                <a:chExt cx="771203" cy="278009"/>
              </a:xfrm>
            </p:grpSpPr>
            <p:sp>
              <p:nvSpPr>
                <p:cNvPr id="29" name="Freeform 39">
                  <a:extLst>
                    <a:ext uri="{FF2B5EF4-FFF2-40B4-BE49-F238E27FC236}">
                      <a16:creationId xmlns:a16="http://schemas.microsoft.com/office/drawing/2014/main" id="{3F764215-D7E2-E1FE-B368-9A906179EFB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27161" cy="267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61" h="267928">
                      <a:moveTo>
                        <a:pt x="133964" y="0"/>
                      </a:moveTo>
                      <a:lnTo>
                        <a:pt x="493197" y="0"/>
                      </a:lnTo>
                      <a:cubicBezTo>
                        <a:pt x="567183" y="0"/>
                        <a:pt x="627161" y="59978"/>
                        <a:pt x="627161" y="133964"/>
                      </a:cubicBezTo>
                      <a:lnTo>
                        <a:pt x="627161" y="133964"/>
                      </a:lnTo>
                      <a:cubicBezTo>
                        <a:pt x="627161" y="207950"/>
                        <a:pt x="567183" y="267928"/>
                        <a:pt x="493197" y="267928"/>
                      </a:cubicBezTo>
                      <a:lnTo>
                        <a:pt x="133964" y="267928"/>
                      </a:lnTo>
                      <a:cubicBezTo>
                        <a:pt x="59978" y="267928"/>
                        <a:pt x="0" y="207950"/>
                        <a:pt x="0" y="133964"/>
                      </a:cubicBezTo>
                      <a:lnTo>
                        <a:pt x="0" y="133964"/>
                      </a:lnTo>
                      <a:cubicBezTo>
                        <a:pt x="0" y="59978"/>
                        <a:pt x="59978" y="0"/>
                        <a:pt x="133964" y="0"/>
                      </a:cubicBezTo>
                      <a:close/>
                    </a:path>
                  </a:pathLst>
                </a:cu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/>
                <a:lstStyle/>
                <a:p>
                  <a:pPr marL="0" algn="r" defTabSz="457200" rtl="1" eaLnBrk="1" latinLnBrk="0" hangingPunct="1"/>
                  <a:endParaRPr lang="en-IL" sz="900" dirty="0">
                    <a:solidFill>
                      <a:prstClr val="black"/>
                    </a:solidFill>
                    <a:latin typeface="Calibri"/>
                  </a:endParaRPr>
                </a:p>
              </p:txBody>
            </p:sp>
            <p:sp>
              <p:nvSpPr>
                <p:cNvPr id="30" name="TextBox 40">
                  <a:extLst>
                    <a:ext uri="{FF2B5EF4-FFF2-40B4-BE49-F238E27FC236}">
                      <a16:creationId xmlns:a16="http://schemas.microsoft.com/office/drawing/2014/main" id="{46C01065-6549-76EC-D2C0-179772B61F72}"/>
                    </a:ext>
                  </a:extLst>
                </p:cNvPr>
                <p:cNvSpPr txBox="1"/>
                <p:nvPr/>
              </p:nvSpPr>
              <p:spPr>
                <a:xfrm>
                  <a:off x="-68674" y="-4276"/>
                  <a:ext cx="771203" cy="278009"/>
                </a:xfrm>
                <a:prstGeom prst="rect">
                  <a:avLst/>
                </a:prstGeom>
              </p:spPr>
              <p:txBody>
                <a:bodyPr lIns="25400" tIns="25400" rIns="25400" bIns="25400" rtlCol="0" anchor="ctr"/>
                <a:lstStyle/>
                <a:p>
                  <a:pPr algn="ctr" defTabSz="457200" rtl="0">
                    <a:lnSpc>
                      <a:spcPts val="1260"/>
                    </a:lnSpc>
                  </a:pPr>
                  <a:r>
                    <a:rPr lang="en-US" sz="1400" b="1" dirty="0">
                      <a:ln w="0"/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Calibri"/>
                      <a:sym typeface="Open Sans Bold"/>
                    </a:rPr>
                    <a:t>Evaluation</a:t>
                  </a:r>
                </a:p>
              </p:txBody>
            </p:sp>
          </p:grpSp>
          <p:sp>
            <p:nvSpPr>
              <p:cNvPr id="27" name="TextBox 41">
                <a:extLst>
                  <a:ext uri="{FF2B5EF4-FFF2-40B4-BE49-F238E27FC236}">
                    <a16:creationId xmlns:a16="http://schemas.microsoft.com/office/drawing/2014/main" id="{B9F50283-F1BC-5C5B-9D91-2F6218362404}"/>
                  </a:ext>
                </a:extLst>
              </p:cNvPr>
              <p:cNvSpPr txBox="1"/>
              <p:nvPr/>
            </p:nvSpPr>
            <p:spPr>
              <a:xfrm>
                <a:off x="6383338" y="2642919"/>
                <a:ext cx="1166813" cy="11694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 defTabSz="457200" rtl="0">
                  <a:lnSpc>
                    <a:spcPts val="1080"/>
                  </a:lnSpc>
                </a:pPr>
                <a:r>
                  <a:rPr lang="en-US" sz="1400" b="1" dirty="0">
                    <a:solidFill>
                      <a:srgbClr val="333333"/>
                    </a:solidFill>
                    <a:latin typeface="Calibri"/>
                    <a:sym typeface="Open Sans Bold"/>
                  </a:rPr>
                  <a:t>16.12 - 19.1</a:t>
                </a:r>
              </a:p>
            </p:txBody>
          </p:sp>
          <p:sp>
            <p:nvSpPr>
              <p:cNvPr id="28" name="TextBox 42">
                <a:extLst>
                  <a:ext uri="{FF2B5EF4-FFF2-40B4-BE49-F238E27FC236}">
                    <a16:creationId xmlns:a16="http://schemas.microsoft.com/office/drawing/2014/main" id="{A0D06F42-A883-B99A-EECD-8E1CF196EC9A}"/>
                  </a:ext>
                </a:extLst>
              </p:cNvPr>
              <p:cNvSpPr txBox="1"/>
              <p:nvPr/>
            </p:nvSpPr>
            <p:spPr>
              <a:xfrm>
                <a:off x="8997442" y="3029397"/>
                <a:ext cx="1166813" cy="11694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 defTabSz="457200" rtl="0">
                  <a:lnSpc>
                    <a:spcPts val="1080"/>
                  </a:lnSpc>
                </a:pPr>
                <a:r>
                  <a:rPr lang="en-US" sz="1400" b="1" dirty="0">
                    <a:solidFill>
                      <a:srgbClr val="333333"/>
                    </a:solidFill>
                    <a:latin typeface="Calibri"/>
                    <a:ea typeface="Open Sans Bold"/>
                    <a:cs typeface="Open Sans Bold"/>
                    <a:sym typeface="Open Sans Bold"/>
                  </a:rPr>
                  <a:t>19.1 – 15.3</a:t>
                </a:r>
              </a:p>
            </p:txBody>
          </p:sp>
        </p:grp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EABDA6A9-1D17-65FB-5BB3-4D32AFA8BC2F}"/>
                </a:ext>
              </a:extLst>
            </p:cNvPr>
            <p:cNvSpPr txBox="1"/>
            <p:nvPr/>
          </p:nvSpPr>
          <p:spPr>
            <a:xfrm>
              <a:off x="8110499" y="739712"/>
              <a:ext cx="2241872" cy="30917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algn="r" defTabSz="457200" rtl="1" eaLnBrk="1" latinLnBrk="0" hangingPunct="1"/>
              <a:endParaRPr lang="en" sz="1600" b="1" u="sng" dirty="0">
                <a:solidFill>
                  <a:srgbClr val="475569"/>
                </a:solidFill>
                <a:latin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9554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F6480352-4D1C-AA1B-FD6F-D41D3A3AC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92BA-DE5A-904A-B48C-83C9489152F3}" type="datetime13">
              <a:rPr lang="he-IL" smtClean="0"/>
              <a:pPr/>
              <a:t>15/1/2026</a:t>
            </a:fld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451179E-7E57-E18C-A9FB-A39992F5F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15F42C3-12E3-59AB-4472-FB4E76458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79FF6ED6-CC70-6E21-B90E-F1FBB276E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defTabSz="457200" rtl="0" eaLnBrk="1" latinLnBrk="0" hangingPunct="1">
              <a:spcBef>
                <a:spcPct val="0"/>
              </a:spcBef>
              <a:buNone/>
            </a:pPr>
            <a:r>
              <a:rPr lang="en-US" dirty="0"/>
              <a:t>Progress</a:t>
            </a:r>
            <a:endParaRPr lang="he-IL" dirty="0"/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36926420-0C48-1EA5-A5F6-0BD7CF8F1A86}"/>
              </a:ext>
            </a:extLst>
          </p:cNvPr>
          <p:cNvSpPr txBox="1"/>
          <p:nvPr/>
        </p:nvSpPr>
        <p:spPr>
          <a:xfrm>
            <a:off x="3598333" y="3544071"/>
            <a:ext cx="6096000" cy="1034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800">
                <a:solidFill>
                  <a:srgbClr val="282828"/>
                </a:solidFill>
              </a:defRPr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engineering: block-based design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800">
                <a:solidFill>
                  <a:srgbClr val="282828"/>
                </a:solidFill>
              </a:defRPr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Modeling: broader comparison of classical ML models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 sz="1800">
                <a:solidFill>
                  <a:srgbClr val="282828"/>
                </a:solidFill>
              </a:defRPr>
            </a:pPr>
            <a:r>
              <a:rPr kumimoji="0" lang="en" sz="1800" b="0" i="0" u="none" strike="noStrike" kern="120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Validation: strict expanding-window walk-forward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88EF8DE4-C99C-FEFA-B757-3350F28825AB}"/>
              </a:ext>
            </a:extLst>
          </p:cNvPr>
          <p:cNvSpPr txBox="1"/>
          <p:nvPr/>
        </p:nvSpPr>
        <p:spPr>
          <a:xfrm>
            <a:off x="550333" y="38764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en" b="1" dirty="0"/>
              <a:t>Changes Since Checkpoint</a:t>
            </a:r>
            <a:endParaRPr lang="he-IL" b="1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53B64FF9-9726-38F9-6F21-7BBD3644232B}"/>
              </a:ext>
            </a:extLst>
          </p:cNvPr>
          <p:cNvSpPr txBox="1"/>
          <p:nvPr/>
        </p:nvSpPr>
        <p:spPr>
          <a:xfrm>
            <a:off x="609600" y="10860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en" b="1" dirty="0"/>
              <a:t>Before checkpoint</a:t>
            </a:r>
            <a:endParaRPr lang="he-IL" b="1" dirty="0"/>
          </a:p>
        </p:txBody>
      </p:sp>
    </p:spTree>
    <p:extLst>
      <p:ext uri="{BB962C8B-B14F-4D97-AF65-F5344CB8AC3E}">
        <p14:creationId xmlns:p14="http://schemas.microsoft.com/office/powerpoint/2010/main" val="3012950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5936A6CC-FCC0-FBB3-2A77-649A9A289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92BA-DE5A-904A-B48C-83C9489152F3}" type="datetime13">
              <a:rPr lang="he-IL" smtClean="0"/>
              <a:pPr/>
              <a:t>15/1/2026</a:t>
            </a:fld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02591BAD-0E9C-8C46-A7F3-93CEA03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7B0885E-430D-C88F-B38D-845706439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7B2FCB08-EC41-F775-1924-8D7F156E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Benchmarks and </a:t>
            </a:r>
            <a:r>
              <a:rPr lang="en-US" dirty="0"/>
              <a:t>Success Criteria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99896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EFDD7-BD74-7BBC-FD24-92905872C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6B9190D5-510A-51EF-4529-5E5EB3E6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92BA-DE5A-904A-B48C-83C9489152F3}" type="datetime13">
              <a:rPr lang="he-IL" smtClean="0"/>
              <a:pPr/>
              <a:t>15/1/2026</a:t>
            </a:fld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EC6AE869-4F45-547C-077B-12CF4D145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42D203EB-13B2-3647-C1BB-3C48D59A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875651B4-9A6F-4E0F-B23B-E8306EB9CFAC}"/>
              </a:ext>
            </a:extLst>
          </p:cNvPr>
          <p:cNvSpPr/>
          <p:nvPr/>
        </p:nvSpPr>
        <p:spPr>
          <a:xfrm>
            <a:off x="548640" y="1143000"/>
            <a:ext cx="5760720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C6BE4B73-A65A-B0B8-86E0-61715A850227}"/>
              </a:ext>
            </a:extLst>
          </p:cNvPr>
          <p:cNvSpPr/>
          <p:nvPr/>
        </p:nvSpPr>
        <p:spPr>
          <a:xfrm>
            <a:off x="96012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A: Regression</a:t>
            </a:r>
            <a:endParaRPr lang="en-US" sz="20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147F115C-DA2F-B0AF-6AFC-7F4AEC86A52C}"/>
              </a:ext>
            </a:extLst>
          </p:cNvPr>
          <p:cNvSpPr/>
          <p:nvPr/>
        </p:nvSpPr>
        <p:spPr>
          <a:xfrm>
            <a:off x="960120" y="1828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next-day log return</a:t>
            </a:r>
            <a:endParaRPr lang="en-US" sz="14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CD60E730-7528-0AB1-ED9A-B50E22E07406}"/>
              </a:ext>
            </a:extLst>
          </p:cNvPr>
          <p:cNvSpPr/>
          <p:nvPr/>
        </p:nvSpPr>
        <p:spPr>
          <a:xfrm>
            <a:off x="1051560" y="219456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 algn="l" rtl="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(primary)</a:t>
            </a:r>
            <a:endParaRPr lang="en-US" sz="1600" dirty="0"/>
          </a:p>
          <a:p>
            <a:pPr marL="182880" indent="-182880" algn="l" rtl="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(diagnostic)</a:t>
            </a:r>
            <a:endParaRPr lang="en-US" sz="1600" dirty="0"/>
          </a:p>
          <a:p>
            <a:pPr marL="182880" indent="-182880" algn="l" rtl="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Accuracy (sign correctness)</a:t>
            </a:r>
            <a:endParaRPr lang="en-US" sz="16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CF2326AE-0CE4-5111-0398-9C27728D9EE4}"/>
              </a:ext>
            </a:extLst>
          </p:cNvPr>
          <p:cNvSpPr/>
          <p:nvPr/>
        </p:nvSpPr>
        <p:spPr>
          <a:xfrm>
            <a:off x="6537960" y="1143000"/>
            <a:ext cx="5105095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DB260A66-F5FA-2918-A9D0-0DD8F4357A01}"/>
              </a:ext>
            </a:extLst>
          </p:cNvPr>
          <p:cNvSpPr/>
          <p:nvPr/>
        </p:nvSpPr>
        <p:spPr>
          <a:xfrm>
            <a:off x="685800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B: Classification</a:t>
            </a:r>
            <a:endParaRPr lang="en-US" sz="200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BE40E795-C411-415E-3074-AC13A8881421}"/>
              </a:ext>
            </a:extLst>
          </p:cNvPr>
          <p:cNvSpPr/>
          <p:nvPr/>
        </p:nvSpPr>
        <p:spPr>
          <a:xfrm>
            <a:off x="6858000" y="18288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direction: Up vs Down</a:t>
            </a:r>
            <a:endParaRPr lang="en-US" sz="14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1C683B76-7B9F-3D65-AB09-EDE67C9917CB}"/>
              </a:ext>
            </a:extLst>
          </p:cNvPr>
          <p:cNvSpPr/>
          <p:nvPr/>
        </p:nvSpPr>
        <p:spPr>
          <a:xfrm>
            <a:off x="6949440" y="219456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 algn="l" rtl="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Precision / Recall</a:t>
            </a:r>
            <a:endParaRPr lang="en-US" sz="1600" dirty="0"/>
          </a:p>
          <a:p>
            <a:pPr marL="182880" indent="-182880" algn="l" rtl="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Sharpe Ratio (risk-adjusted utility)</a:t>
            </a:r>
            <a:endParaRPr lang="en-US" sz="16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D8F4735-F4E1-5FA0-3F69-B388A2CEC6FD}"/>
              </a:ext>
            </a:extLst>
          </p:cNvPr>
          <p:cNvSpPr/>
          <p:nvPr/>
        </p:nvSpPr>
        <p:spPr>
          <a:xfrm>
            <a:off x="6858000" y="37033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helps translate predictions into practical signal quality.</a:t>
            </a:r>
            <a:endParaRPr lang="en-US" sz="1400" dirty="0"/>
          </a:p>
        </p:txBody>
      </p:sp>
      <p:sp>
        <p:nvSpPr>
          <p:cNvPr id="27" name="כותרת 14">
            <a:extLst>
              <a:ext uri="{FF2B5EF4-FFF2-40B4-BE49-F238E27FC236}">
                <a16:creationId xmlns:a16="http://schemas.microsoft.com/office/drawing/2014/main" id="{651B4C21-9DDC-E51F-E1D4-9B0131875F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Tasks </a:t>
            </a:r>
            <a:r>
              <a:rPr lang="en-US" sz="3000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US" sz="3000" b="1" dirty="0">
                <a:solidFill>
                  <a:srgbClr val="0F172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Metrics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26171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8440C-C2C2-47B2-5463-18EEDB506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471033F1-27D9-0B14-C65F-6E6F0F396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92BA-DE5A-904A-B48C-83C9489152F3}" type="datetime13">
              <a:rPr lang="he-IL" smtClean="0"/>
              <a:pPr/>
              <a:t>15/1/2026</a:t>
            </a:fld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FBF1C0A3-8B01-27A3-EC29-FC62EA2BE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27DBA00-1FB2-40E1-000E-19075092A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2BC53651-C2A8-A087-6C3A-ED929FDF1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F172A"/>
                </a:solidFill>
                <a:ea typeface="Calibri" panose="020F0502020204030204" pitchFamily="34" charset="0"/>
              </a:rPr>
              <a:t>Data &amp; feature engineering (block-based)</a:t>
            </a:r>
            <a:endParaRPr lang="he-IL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99D1228F-69E5-4AEF-8898-58CCEEAAC8E8}"/>
              </a:ext>
            </a:extLst>
          </p:cNvPr>
          <p:cNvSpPr/>
          <p:nvPr/>
        </p:nvSpPr>
        <p:spPr>
          <a:xfrm>
            <a:off x="548640" y="97840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blocks</a:t>
            </a:r>
            <a:endParaRPr lang="en-US" sz="200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BE78DAB1-6B15-7AB0-F66A-A8D9AC0AAD5D}"/>
              </a:ext>
            </a:extLst>
          </p:cNvPr>
          <p:cNvSpPr/>
          <p:nvPr/>
        </p:nvSpPr>
        <p:spPr>
          <a:xfrm>
            <a:off x="548640" y="1498981"/>
            <a:ext cx="5669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1242BA8E-3ED1-C5C6-52DD-B2C1D7D8C4E3}"/>
              </a:ext>
            </a:extLst>
          </p:cNvPr>
          <p:cNvSpPr/>
          <p:nvPr/>
        </p:nvSpPr>
        <p:spPr>
          <a:xfrm>
            <a:off x="548640" y="1498981"/>
            <a:ext cx="109728" cy="54864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A4BCB0F2-3A46-32EA-DBEF-07A048A16D7A}"/>
              </a:ext>
            </a:extLst>
          </p:cNvPr>
          <p:cNvSpPr/>
          <p:nvPr/>
        </p:nvSpPr>
        <p:spPr>
          <a:xfrm>
            <a:off x="777240" y="1608709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6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95069D4E-E24A-9BE9-5F91-B6B98AA8080E}"/>
              </a:ext>
            </a:extLst>
          </p:cNvPr>
          <p:cNvSpPr/>
          <p:nvPr/>
        </p:nvSpPr>
        <p:spPr>
          <a:xfrm>
            <a:off x="2057400" y="1626997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averages, slopes</a:t>
            </a:r>
            <a:endParaRPr lang="en-US" sz="140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680FB919-F42B-51BF-5FFA-4AE5C6B1E98F}"/>
              </a:ext>
            </a:extLst>
          </p:cNvPr>
          <p:cNvSpPr/>
          <p:nvPr/>
        </p:nvSpPr>
        <p:spPr>
          <a:xfrm>
            <a:off x="548640" y="2157349"/>
            <a:ext cx="5669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C30D07D5-E1AD-A476-38A4-CCA8507EDF2F}"/>
              </a:ext>
            </a:extLst>
          </p:cNvPr>
          <p:cNvSpPr/>
          <p:nvPr/>
        </p:nvSpPr>
        <p:spPr>
          <a:xfrm>
            <a:off x="548640" y="2157349"/>
            <a:ext cx="109728" cy="54864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3C3869B4-888D-833A-1972-5B097225FDC8}"/>
              </a:ext>
            </a:extLst>
          </p:cNvPr>
          <p:cNvSpPr/>
          <p:nvPr/>
        </p:nvSpPr>
        <p:spPr>
          <a:xfrm>
            <a:off x="777240" y="2267077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6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470D37-28B9-704F-7CB1-D5BC71BA6A46}"/>
              </a:ext>
            </a:extLst>
          </p:cNvPr>
          <p:cNvSpPr/>
          <p:nvPr/>
        </p:nvSpPr>
        <p:spPr>
          <a:xfrm>
            <a:off x="2057400" y="2285365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lagged returns, momentum</a:t>
            </a:r>
            <a:endParaRPr lang="en-US" sz="1400" dirty="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7B74E9E4-EB24-6206-6F7D-9B411789B4AE}"/>
              </a:ext>
            </a:extLst>
          </p:cNvPr>
          <p:cNvSpPr/>
          <p:nvPr/>
        </p:nvSpPr>
        <p:spPr>
          <a:xfrm>
            <a:off x="548640" y="2815717"/>
            <a:ext cx="5669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0FD9D9D4-A851-7B8D-B23C-9D1A5071DBD7}"/>
              </a:ext>
            </a:extLst>
          </p:cNvPr>
          <p:cNvSpPr/>
          <p:nvPr/>
        </p:nvSpPr>
        <p:spPr>
          <a:xfrm>
            <a:off x="548640" y="2815717"/>
            <a:ext cx="109728" cy="54864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106574CC-1C90-EDBF-0F69-28190FE793E3}"/>
              </a:ext>
            </a:extLst>
          </p:cNvPr>
          <p:cNvSpPr/>
          <p:nvPr/>
        </p:nvSpPr>
        <p:spPr>
          <a:xfrm>
            <a:off x="777240" y="2925445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</a:t>
            </a:r>
            <a:endParaRPr lang="en-US" sz="160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63ECE157-33F0-C8CF-76BF-27E988D4566F}"/>
              </a:ext>
            </a:extLst>
          </p:cNvPr>
          <p:cNvSpPr/>
          <p:nvPr/>
        </p:nvSpPr>
        <p:spPr>
          <a:xfrm>
            <a:off x="2057400" y="2943733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std, risk regime</a:t>
            </a:r>
            <a:endParaRPr lang="en-US" sz="1400" dirty="0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C22DD9DB-7052-4973-3145-779ECB859E25}"/>
              </a:ext>
            </a:extLst>
          </p:cNvPr>
          <p:cNvSpPr/>
          <p:nvPr/>
        </p:nvSpPr>
        <p:spPr>
          <a:xfrm>
            <a:off x="548640" y="3474085"/>
            <a:ext cx="5669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2DDBA5F4-83F6-E803-57E1-9C1F6C01971D}"/>
              </a:ext>
            </a:extLst>
          </p:cNvPr>
          <p:cNvSpPr/>
          <p:nvPr/>
        </p:nvSpPr>
        <p:spPr>
          <a:xfrm>
            <a:off x="548640" y="3474085"/>
            <a:ext cx="109728" cy="54864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ADDE3C70-3DDB-BA75-D258-4464642E69F1}"/>
              </a:ext>
            </a:extLst>
          </p:cNvPr>
          <p:cNvSpPr/>
          <p:nvPr/>
        </p:nvSpPr>
        <p:spPr>
          <a:xfrm>
            <a:off x="777240" y="3583813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60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606FDEEE-E2C0-0F23-2508-5D2755624C65}"/>
              </a:ext>
            </a:extLst>
          </p:cNvPr>
          <p:cNvSpPr/>
          <p:nvPr/>
        </p:nvSpPr>
        <p:spPr>
          <a:xfrm>
            <a:off x="2057400" y="3602101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VIX, market index</a:t>
            </a:r>
            <a:endParaRPr lang="en-US" sz="1400" dirty="0"/>
          </a:p>
        </p:txBody>
      </p:sp>
      <p:sp>
        <p:nvSpPr>
          <p:cNvPr id="35" name="Shape 30">
            <a:extLst>
              <a:ext uri="{FF2B5EF4-FFF2-40B4-BE49-F238E27FC236}">
                <a16:creationId xmlns:a16="http://schemas.microsoft.com/office/drawing/2014/main" id="{157F76B4-EBE5-67C8-73E8-2F2588A3A19C}"/>
              </a:ext>
            </a:extLst>
          </p:cNvPr>
          <p:cNvSpPr/>
          <p:nvPr/>
        </p:nvSpPr>
        <p:spPr>
          <a:xfrm>
            <a:off x="548640" y="4132453"/>
            <a:ext cx="56692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36" name="Shape 31">
            <a:extLst>
              <a:ext uri="{FF2B5EF4-FFF2-40B4-BE49-F238E27FC236}">
                <a16:creationId xmlns:a16="http://schemas.microsoft.com/office/drawing/2014/main" id="{8A28EBA8-AB04-B273-AE48-2E6E90035867}"/>
              </a:ext>
            </a:extLst>
          </p:cNvPr>
          <p:cNvSpPr/>
          <p:nvPr/>
        </p:nvSpPr>
        <p:spPr>
          <a:xfrm>
            <a:off x="548640" y="4132453"/>
            <a:ext cx="109728" cy="54864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18B0E3A8-5CF3-F01C-DF23-35A75ACBADE4}"/>
              </a:ext>
            </a:extLst>
          </p:cNvPr>
          <p:cNvSpPr/>
          <p:nvPr/>
        </p:nvSpPr>
        <p:spPr>
          <a:xfrm>
            <a:off x="777240" y="4242181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600" dirty="0"/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BB4B723A-A3AF-EDD4-74D6-661837DBD1D5}"/>
              </a:ext>
            </a:extLst>
          </p:cNvPr>
          <p:cNvSpPr/>
          <p:nvPr/>
        </p:nvSpPr>
        <p:spPr>
          <a:xfrm>
            <a:off x="2057400" y="5824728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headline tone</a:t>
            </a:r>
            <a:endParaRPr lang="en-US" sz="1400" dirty="0"/>
          </a:p>
        </p:txBody>
      </p:sp>
      <p:sp>
        <p:nvSpPr>
          <p:cNvPr id="39" name="Shape 34">
            <a:extLst>
              <a:ext uri="{FF2B5EF4-FFF2-40B4-BE49-F238E27FC236}">
                <a16:creationId xmlns:a16="http://schemas.microsoft.com/office/drawing/2014/main" id="{9E9762A8-A263-93B1-CECC-F1FEBF98F71E}"/>
              </a:ext>
            </a:extLst>
          </p:cNvPr>
          <p:cNvSpPr/>
          <p:nvPr/>
        </p:nvSpPr>
        <p:spPr>
          <a:xfrm>
            <a:off x="6477305" y="1486218"/>
            <a:ext cx="5105095" cy="3703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CB0625AF-0B4F-2906-B23F-FC4CE6D29DB6}"/>
              </a:ext>
            </a:extLst>
          </p:cNvPr>
          <p:cNvSpPr/>
          <p:nvPr/>
        </p:nvSpPr>
        <p:spPr>
          <a:xfrm>
            <a:off x="6766560" y="1745869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</a:t>
            </a:r>
            <a:endParaRPr lang="en-US" sz="1800" dirty="0"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FDD8D99D-132B-99C8-8022-751931B8B3EB}"/>
              </a:ext>
            </a:extLst>
          </p:cNvPr>
          <p:cNvSpPr/>
          <p:nvPr/>
        </p:nvSpPr>
        <p:spPr>
          <a:xfrm>
            <a:off x="6812280" y="2180209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 algn="l" rtl="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next-day log return</a:t>
            </a:r>
            <a:endParaRPr lang="en-US" sz="1600" dirty="0"/>
          </a:p>
          <a:p>
            <a:pPr marL="182880" indent="-182880" algn="l" rtl="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direction (up/down)</a:t>
            </a:r>
            <a:endParaRPr lang="en-US" sz="1600" dirty="0"/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2E532624-AD4A-CBD1-DE6D-0BC7B9E5A249}"/>
              </a:ext>
            </a:extLst>
          </p:cNvPr>
          <p:cNvSpPr/>
          <p:nvPr/>
        </p:nvSpPr>
        <p:spPr>
          <a:xfrm>
            <a:off x="6812280" y="2998597"/>
            <a:ext cx="477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design enables controlled comparisons (ablation-style).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97573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5C819-D8BC-A41C-3053-3619F21D5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64BB56BF-01A4-A5BD-C8F1-AB23439E0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92BA-DE5A-904A-B48C-83C9489152F3}" type="datetime13">
              <a:rPr lang="he-IL" smtClean="0"/>
              <a:pPr/>
              <a:t>15/1/2026</a:t>
            </a:fld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5FC3B9ED-B69F-6825-1FE4-7902963A9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9143A4D-2E2F-BDA0-D95A-A2394C8D0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E8AD9766-1F71-7FA3-A074-225F2655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F172A"/>
                </a:solidFill>
                <a:ea typeface="Calibri" panose="020F0502020204030204" pitchFamily="34" charset="0"/>
              </a:rPr>
              <a:t>Evaluation: the “no cheating” zone (walk-forward)</a:t>
            </a:r>
            <a:endParaRPr lang="he-IL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395C914-DCEC-7642-7FCF-BCE233A4469F}"/>
              </a:ext>
            </a:extLst>
          </p:cNvPr>
          <p:cNvSpPr/>
          <p:nvPr/>
        </p:nvSpPr>
        <p:spPr>
          <a:xfrm>
            <a:off x="548640" y="1143000"/>
            <a:ext cx="11094415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41009FAB-BAE2-A5BC-3CC0-0D3DF22D197A}"/>
              </a:ext>
            </a:extLst>
          </p:cNvPr>
          <p:cNvSpPr/>
          <p:nvPr/>
        </p:nvSpPr>
        <p:spPr>
          <a:xfrm>
            <a:off x="1005840" y="1463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8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0B39BD6-AD6A-54B0-92BC-8B96ECEA70F9}"/>
              </a:ext>
            </a:extLst>
          </p:cNvPr>
          <p:cNvSpPr/>
          <p:nvPr/>
        </p:nvSpPr>
        <p:spPr>
          <a:xfrm>
            <a:off x="-1295400" y="15087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splits leak future information in time-series.</a:t>
            </a:r>
            <a:endParaRPr lang="en-US" sz="16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C7247B7-4D8A-D2A2-8EA8-03F9A3E92754}"/>
              </a:ext>
            </a:extLst>
          </p:cNvPr>
          <p:cNvSpPr/>
          <p:nvPr/>
        </p:nvSpPr>
        <p:spPr>
          <a:xfrm>
            <a:off x="1097280" y="1920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1</a:t>
            </a:r>
            <a:endParaRPr lang="en-US" sz="14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A3A7400D-E752-357F-A59D-360A7DAB60BA}"/>
              </a:ext>
            </a:extLst>
          </p:cNvPr>
          <p:cNvSpPr/>
          <p:nvPr/>
        </p:nvSpPr>
        <p:spPr>
          <a:xfrm>
            <a:off x="1097280" y="2240280"/>
            <a:ext cx="6248210" cy="6400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44A36C1-B7FF-CA12-7691-523D1ADDBF3B}"/>
              </a:ext>
            </a:extLst>
          </p:cNvPr>
          <p:cNvSpPr/>
          <p:nvPr/>
        </p:nvSpPr>
        <p:spPr>
          <a:xfrm>
            <a:off x="1097280" y="2404872"/>
            <a:ext cx="624821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AA8139F8-8F0F-D586-C4CC-351E9055AB7C}"/>
              </a:ext>
            </a:extLst>
          </p:cNvPr>
          <p:cNvSpPr/>
          <p:nvPr/>
        </p:nvSpPr>
        <p:spPr>
          <a:xfrm>
            <a:off x="7512108" y="2240280"/>
            <a:ext cx="1666189" cy="6400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F89F957-3985-D5B0-BBDB-56F4AA19EDC4}"/>
              </a:ext>
            </a:extLst>
          </p:cNvPr>
          <p:cNvSpPr/>
          <p:nvPr/>
        </p:nvSpPr>
        <p:spPr>
          <a:xfrm>
            <a:off x="7512108" y="2404872"/>
            <a:ext cx="166618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A52DE199-868A-BA98-351F-2F8F36C9074A}"/>
              </a:ext>
            </a:extLst>
          </p:cNvPr>
          <p:cNvSpPr/>
          <p:nvPr/>
        </p:nvSpPr>
        <p:spPr>
          <a:xfrm>
            <a:off x="9344917" y="2240280"/>
            <a:ext cx="1749499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C98A923-38CA-10D6-02B4-D6CE7AFB7DC7}"/>
              </a:ext>
            </a:extLst>
          </p:cNvPr>
          <p:cNvSpPr/>
          <p:nvPr/>
        </p:nvSpPr>
        <p:spPr>
          <a:xfrm>
            <a:off x="9344917" y="2404872"/>
            <a:ext cx="174949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5E6F795C-8545-1CF8-FC68-795A246A997C}"/>
              </a:ext>
            </a:extLst>
          </p:cNvPr>
          <p:cNvSpPr/>
          <p:nvPr/>
        </p:nvSpPr>
        <p:spPr>
          <a:xfrm>
            <a:off x="1097280" y="29718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2 (expands)</a:t>
            </a:r>
            <a:endParaRPr lang="en-US" sz="140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8B8F2F8C-D1B4-24E2-8CA2-F16A195B1B2C}"/>
              </a:ext>
            </a:extLst>
          </p:cNvPr>
          <p:cNvSpPr/>
          <p:nvPr/>
        </p:nvSpPr>
        <p:spPr>
          <a:xfrm>
            <a:off x="1097280" y="3291840"/>
            <a:ext cx="7914399" cy="6400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F16C4ED2-CCC6-340C-02D1-7F0DF5DD5232}"/>
              </a:ext>
            </a:extLst>
          </p:cNvPr>
          <p:cNvSpPr/>
          <p:nvPr/>
        </p:nvSpPr>
        <p:spPr>
          <a:xfrm>
            <a:off x="1097280" y="3456432"/>
            <a:ext cx="791439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DAEC530B-A739-4280-6E24-856391423735}"/>
              </a:ext>
            </a:extLst>
          </p:cNvPr>
          <p:cNvSpPr/>
          <p:nvPr/>
        </p:nvSpPr>
        <p:spPr>
          <a:xfrm>
            <a:off x="9178298" y="3291840"/>
            <a:ext cx="1666189" cy="6400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4F9B4E87-AEC4-D03F-0B02-0BE874F6FCAA}"/>
              </a:ext>
            </a:extLst>
          </p:cNvPr>
          <p:cNvSpPr/>
          <p:nvPr/>
        </p:nvSpPr>
        <p:spPr>
          <a:xfrm>
            <a:off x="9178298" y="3456432"/>
            <a:ext cx="166618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2FF5DB4-343A-D949-FAE3-9D44E0D1BBC7}"/>
              </a:ext>
            </a:extLst>
          </p:cNvPr>
          <p:cNvSpPr/>
          <p:nvPr/>
        </p:nvSpPr>
        <p:spPr>
          <a:xfrm>
            <a:off x="1097280" y="425196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mimics real deployment: train on past → predict immediate future.</a:t>
            </a:r>
            <a:endParaRPr lang="en-US" sz="16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75F89760-00D1-F28D-DF19-CBFF5BD911B2}"/>
              </a:ext>
            </a:extLst>
          </p:cNvPr>
          <p:cNvSpPr/>
          <p:nvPr/>
        </p:nvSpPr>
        <p:spPr>
          <a:xfrm>
            <a:off x="1097280" y="4617720"/>
            <a:ext cx="99971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aggregate results across folds (mean ± std) to assess stability.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115060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E3337B0B-0918-F6D4-53FB-E1D2A18B2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92BA-DE5A-904A-B48C-83C9489152F3}" type="datetime13">
              <a:rPr lang="he-IL" smtClean="0"/>
              <a:pPr/>
              <a:t>15/1/2026</a:t>
            </a:fld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5B0FA97F-865A-8A01-959E-4E5B76641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B0D3FFC-F640-426B-0557-7A769C4C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15CC2734-B9E2-B55B-F5A4-90685422D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F172A"/>
                </a:solidFill>
                <a:ea typeface="Calibri" panose="020F0502020204030204" pitchFamily="34" charset="0"/>
              </a:rPr>
              <a:t>Phase 1: Regression (insight: noise dominates)</a:t>
            </a:r>
            <a:endParaRPr lang="he-IL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BA9E9B15-DFA0-5075-A3E2-73618A68B663}"/>
              </a:ext>
            </a:extLst>
          </p:cNvPr>
          <p:cNvSpPr/>
          <p:nvPr/>
        </p:nvSpPr>
        <p:spPr>
          <a:xfrm>
            <a:off x="548640" y="1143000"/>
            <a:ext cx="11094415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33D58BC9-1452-7559-BD66-DD91172A9BE5}"/>
              </a:ext>
            </a:extLst>
          </p:cNvPr>
          <p:cNvSpPr/>
          <p:nvPr/>
        </p:nvSpPr>
        <p:spPr>
          <a:xfrm>
            <a:off x="960120" y="1463040"/>
            <a:ext cx="10271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(AAPL): RMSE by fold</a:t>
            </a:r>
            <a:endParaRPr lang="en-US" sz="1800" dirty="0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D9CB39C2-B1D6-3CE5-EDB9-31CB26682A96}"/>
              </a:ext>
            </a:extLst>
          </p:cNvPr>
          <p:cNvGraphicFramePr>
            <a:graphicFrameLocks noGrp="1"/>
          </p:cNvGraphicFramePr>
          <p:nvPr/>
        </p:nvGraphicFramePr>
        <p:xfrm>
          <a:off x="1005840" y="1920240"/>
          <a:ext cx="10058400" cy="186537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B_1_Tren_Prop_Vola_Mome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0.023488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B_1_Tren_Prop_Vola_Mome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0.030017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B_1_Tren_Prop_Vola_Mome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0.034502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B_1_Tren_Prop_Vola_Mome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0.035713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XGB_Aggressive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B_1_Tren_Prop_Vola_Mome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0.032245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4">
            <a:extLst>
              <a:ext uri="{FF2B5EF4-FFF2-40B4-BE49-F238E27FC236}">
                <a16:creationId xmlns:a16="http://schemas.microsoft.com/office/drawing/2014/main" id="{7CBF6080-90A3-8354-DF1F-658703454954}"/>
              </a:ext>
            </a:extLst>
          </p:cNvPr>
          <p:cNvSpPr/>
          <p:nvPr/>
        </p:nvSpPr>
        <p:spPr>
          <a:xfrm>
            <a:off x="1005840" y="4114800"/>
            <a:ext cx="101800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even simple models (Ridge) can match or beat complex ones at a 1-day horizon, suggesting a very weak and unstable signal.</a:t>
            </a:r>
            <a:endParaRPr lang="en-US" sz="16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3E1A0EF-72DB-E812-BE60-50D1741CE1E5}"/>
              </a:ext>
            </a:extLst>
          </p:cNvPr>
          <p:cNvSpPr/>
          <p:nvPr/>
        </p:nvSpPr>
        <p:spPr>
          <a:xfrm>
            <a:off x="1005840" y="484632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motivated our pivot to direction classification.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3065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379333C-B428-EE06-E5FA-6185CF6AE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92BA-DE5A-904A-B48C-83C9489152F3}" type="datetime13">
              <a:rPr lang="he-IL" smtClean="0"/>
              <a:pPr/>
              <a:t>15/1/2026</a:t>
            </a:fld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76FFC6AC-1619-47BB-4232-D1F62EB1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C1985DC-8349-90DF-6010-B3D9C8D3B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C457C60D-EE5A-1DEE-B48A-2E90E1395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F172A"/>
                </a:solidFill>
                <a:ea typeface="Calibri" panose="020F0502020204030204" pitchFamily="34" charset="0"/>
              </a:rPr>
              <a:t>Phase 2: Pivot to direction classification</a:t>
            </a:r>
            <a:endParaRPr lang="he-IL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F88363DF-CA23-C55A-544C-B75363B9F557}"/>
              </a:ext>
            </a:extLst>
          </p:cNvPr>
          <p:cNvSpPr/>
          <p:nvPr/>
        </p:nvSpPr>
        <p:spPr>
          <a:xfrm>
            <a:off x="548640" y="1143000"/>
            <a:ext cx="11094415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DB47632-A1F2-D4D2-2609-553BB179D2B7}"/>
              </a:ext>
            </a:extLst>
          </p:cNvPr>
          <p:cNvSpPr/>
          <p:nvPr/>
        </p:nvSpPr>
        <p:spPr>
          <a:xfrm>
            <a:off x="809283" y="2147569"/>
            <a:ext cx="99971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magnitude to direction</a:t>
            </a:r>
            <a:endParaRPr lang="en-US" sz="20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BC7CD82E-CA00-C461-7727-592CB439E02C}"/>
              </a:ext>
            </a:extLst>
          </p:cNvPr>
          <p:cNvSpPr/>
          <p:nvPr/>
        </p:nvSpPr>
        <p:spPr>
          <a:xfrm>
            <a:off x="3291840" y="2560320"/>
            <a:ext cx="5608015" cy="548640"/>
          </a:xfrm>
          <a:prstGeom prst="rightArrow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l" rtl="0"/>
            <a:endParaRPr lang="he-IL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E49F6F2-D98D-3C94-E9AF-4E028AA030B7}"/>
              </a:ext>
            </a:extLst>
          </p:cNvPr>
          <p:cNvSpPr/>
          <p:nvPr/>
        </p:nvSpPr>
        <p:spPr>
          <a:xfrm>
            <a:off x="809283" y="2654397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0">
              <a:buNone/>
            </a:pPr>
            <a:r>
              <a:rPr lang="en-US" sz="3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(log-return)</a:t>
            </a:r>
            <a:endParaRPr lang="en-US" sz="3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204931FF-EA16-101D-4741-F18ADDC529C2}"/>
              </a:ext>
            </a:extLst>
          </p:cNvPr>
          <p:cNvSpPr/>
          <p:nvPr/>
        </p:nvSpPr>
        <p:spPr>
          <a:xfrm>
            <a:off x="8737600" y="266097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0">
              <a:buNone/>
            </a:pPr>
            <a:r>
              <a:rPr lang="en-US" sz="2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(up/down)</a:t>
            </a:r>
            <a:endParaRPr lang="en-US" sz="28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8D3F5D6F-AAC6-2179-3B5E-115C41A1207E}"/>
              </a:ext>
            </a:extLst>
          </p:cNvPr>
          <p:cNvSpPr/>
          <p:nvPr/>
        </p:nvSpPr>
        <p:spPr>
          <a:xfrm>
            <a:off x="1920240" y="3520440"/>
            <a:ext cx="835121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5740" indent="-205740" algn="l" rtl="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is often more robust than magnitude under heavy noise</a:t>
            </a:r>
            <a:endParaRPr lang="en-US" sz="1800" dirty="0"/>
          </a:p>
          <a:p>
            <a:pPr marL="205740" indent="-205740" algn="l" rtl="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aligned with trading decisions (enter/exit)</a:t>
            </a:r>
            <a:endParaRPr lang="en-US" sz="1800" dirty="0"/>
          </a:p>
          <a:p>
            <a:pPr marL="205740" indent="-205740" algn="l" rtl="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still evaluate vs strong baselines under walk-forward splits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26639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D2ED8-2AD4-5E1F-51A7-F71BA197D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F0C082B3-5662-43DD-0914-03DE624DC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92BA-DE5A-904A-B48C-83C9489152F3}" type="datetime13">
              <a:rPr lang="he-IL" smtClean="0"/>
              <a:pPr/>
              <a:t>15/1/2026</a:t>
            </a:fld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E278791C-BC9E-A25F-ED32-90E93DDA5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917B654-3ADE-B53F-51F9-83D6D227A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D66BDDA4-EF80-A7FD-3092-1CBBA86D2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F172A"/>
                </a:solidFill>
                <a:ea typeface="Calibri" panose="020F0502020204030204" pitchFamily="34" charset="0"/>
              </a:rPr>
              <a:t>Classification results (binary direction) vs baselines</a:t>
            </a:r>
            <a:endParaRPr lang="he-IL" dirty="0"/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E46DC838-FCA7-9EC8-C248-C9FA82F6019F}"/>
              </a:ext>
            </a:extLst>
          </p:cNvPr>
          <p:cNvSpPr/>
          <p:nvPr/>
        </p:nvSpPr>
        <p:spPr>
          <a:xfrm>
            <a:off x="548640" y="1143000"/>
            <a:ext cx="11094415" cy="5120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26B450CD-FFA0-A878-A289-C019F6F55809}"/>
              </a:ext>
            </a:extLst>
          </p:cNvPr>
          <p:cNvSpPr/>
          <p:nvPr/>
        </p:nvSpPr>
        <p:spPr>
          <a:xfrm>
            <a:off x="960120" y="1463040"/>
            <a:ext cx="102714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(mean ± std) under strict temporal evaluation</a:t>
            </a:r>
            <a:endParaRPr lang="en-US" sz="1800" dirty="0"/>
          </a:p>
        </p:txBody>
      </p: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272FEE00-685F-1651-F0B9-00E760D2E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5336870"/>
              </p:ext>
            </p:extLst>
          </p:nvPr>
        </p:nvGraphicFramePr>
        <p:xfrm>
          <a:off x="1005840" y="1920240"/>
          <a:ext cx="10271455" cy="2487168"/>
        </p:xfrm>
        <a:graphic>
          <a:graphicData uri="http://schemas.openxmlformats.org/drawingml/2006/table">
            <a:tbl>
              <a:tblPr/>
              <a:tblGrid>
                <a:gridCol w="2694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88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8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FeatureSet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(mean ± std)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ClassificationBaselineMajor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B_11_Sent_Vola_Macr_Mome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0.528 ± 0.040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ClassificationBaselineOne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B_11_Sent_Vola_Macr_Mome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0.528 ± 0.040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ClassificationBaselineRandom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B_5_Tren_Mome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0.521 ± 0.026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B_16_Tren_Even_Vola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0.503 ± 0.045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XGBClassifier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B_13_Tren_Sent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0.501 ± 0.055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RandomForestClassifier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B_4_Tren_Even_Sent_Prop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0.492 ± 0.040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ClassificationBaselineZero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B_10_Prop_Tren_Mome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0.474 ± 0.037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Text 4">
            <a:extLst>
              <a:ext uri="{FF2B5EF4-FFF2-40B4-BE49-F238E27FC236}">
                <a16:creationId xmlns:a16="http://schemas.microsoft.com/office/drawing/2014/main" id="{909C1785-DAA1-E9A9-AD0B-C47C47F82232}"/>
              </a:ext>
            </a:extLst>
          </p:cNvPr>
          <p:cNvSpPr/>
          <p:nvPr/>
        </p:nvSpPr>
        <p:spPr>
          <a:xfrm>
            <a:off x="1005840" y="4846320"/>
            <a:ext cx="101800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strong baselines reach ~0.52–0.53 accuracy; our first-round ML models did not yet beat them consistently.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765033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40E1C003-29B8-3B28-E4C0-D44C6452D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92BA-DE5A-904A-B48C-83C9489152F3}" type="datetime13">
              <a:rPr lang="he-IL" smtClean="0"/>
              <a:pPr/>
              <a:t>15/1/2026</a:t>
            </a:fld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12695BBF-2E0D-ACFA-915C-C2C5781EC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C536AEA-FBC8-FD93-378A-16653420F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22429DD8-576F-AB86-4228-46B92D3DB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kern="12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What Improved: Feature &amp; Model Insights</a:t>
            </a:r>
            <a:endParaRPr lang="he-IL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41387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239A621E-7B91-99ED-267E-E6495B608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92BA-DE5A-904A-B48C-83C9489152F3}" type="datetime13">
              <a:rPr lang="he-IL" smtClean="0"/>
              <a:t>15/1/2026</a:t>
            </a:fld>
            <a:endParaRPr lang="en-US" dirty="0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FAC67815-849E-B87B-330D-EC80B9F66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Data Science Workshop - Project Options</a:t>
            </a: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5351683-CD9F-15FC-9E1A-7515DC9E6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11" name="כותרת 10">
            <a:extLst>
              <a:ext uri="{FF2B5EF4-FFF2-40B4-BE49-F238E27FC236}">
                <a16:creationId xmlns:a16="http://schemas.microsoft.com/office/drawing/2014/main" id="{F255E71F-FA36-07AF-7851-E58111427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 eaLnBrk="1" latinLnBrk="0" hangingPunct="1"/>
            <a:r>
              <a:rPr lang="en-US" sz="3600" b="1" kern="1200" dirty="0">
                <a:solidFill>
                  <a:srgbClr val="0F172A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Project Status - What’s Next </a:t>
            </a:r>
            <a:endParaRPr lang="he-IL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18106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F73970E0-6276-13D6-6CD4-CE1D5AF5A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A792BA-DE5A-904A-B48C-83C9489152F3}" type="datetime13">
              <a:rPr lang="he-IL" smtClean="0"/>
              <a:pPr/>
              <a:t>15/1/2026</a:t>
            </a:fld>
            <a:endParaRPr lang="en-US" dirty="0">
              <a:cs typeface="Calibri" panose="020F0502020204030204" pitchFamily="34" charset="0"/>
            </a:endParaRPr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71B236A8-76E1-2F34-3591-CBF487B52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Workshop in Data Science|Team 003| Final Presentation</a:t>
            </a:r>
            <a:endParaRPr lang="en-US" sz="12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F0649CFF-DE02-0C86-BFE0-4E21B6FD2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620167CA-40A7-3F0E-559C-C2D8224F2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F172A"/>
                </a:solidFill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he-IL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D4D555D-0359-E53A-3225-60050E47E771}"/>
              </a:ext>
            </a:extLst>
          </p:cNvPr>
          <p:cNvSpPr/>
          <p:nvPr/>
        </p:nvSpPr>
        <p:spPr>
          <a:xfrm>
            <a:off x="798328" y="1094541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8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E59F276-F49B-CE24-CC80-6E1D693831F6}"/>
              </a:ext>
            </a:extLst>
          </p:cNvPr>
          <p:cNvSpPr/>
          <p:nvPr/>
        </p:nvSpPr>
        <p:spPr>
          <a:xfrm>
            <a:off x="798328" y="1393296"/>
            <a:ext cx="6465045" cy="1406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l" rtl="0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>
                <a:solidFill>
                  <a:srgbClr val="282828"/>
                </a:solidFill>
                <a:latin typeface="Calibri" panose="020F0502020204030204"/>
              </a:rPr>
              <a:t>End-to-end pipeline (data → features → models)</a:t>
            </a:r>
          </a:p>
          <a:p>
            <a:pPr marL="342900" indent="-342900" algn="l" rtl="0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>
                <a:solidFill>
                  <a:srgbClr val="282828"/>
                </a:solidFill>
                <a:latin typeface="Calibri" panose="020F0502020204030204"/>
              </a:rPr>
              <a:t>Strict walk-forward evaluation (no leakage)</a:t>
            </a:r>
          </a:p>
          <a:p>
            <a:pPr marL="342900" indent="-342900" algn="l" rtl="0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>
                <a:solidFill>
                  <a:srgbClr val="282828"/>
                </a:solidFill>
                <a:latin typeface="Calibri" panose="020F0502020204030204"/>
              </a:rPr>
              <a:t>Leaderboard-style comparisons across models/feature blocks</a:t>
            </a: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6EC7137E-0173-173F-6804-9DE905C7EC64}"/>
              </a:ext>
            </a:extLst>
          </p:cNvPr>
          <p:cNvSpPr/>
          <p:nvPr/>
        </p:nvSpPr>
        <p:spPr>
          <a:xfrm>
            <a:off x="798328" y="2869018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8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E8B7941F-FF7B-9E90-22E0-A613447C6D24}"/>
              </a:ext>
            </a:extLst>
          </p:cNvPr>
          <p:cNvSpPr/>
          <p:nvPr/>
        </p:nvSpPr>
        <p:spPr>
          <a:xfrm>
            <a:off x="798328" y="3106152"/>
            <a:ext cx="7254137" cy="1406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l" rtl="0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>
                <a:solidFill>
                  <a:srgbClr val="282828"/>
                </a:solidFill>
                <a:latin typeface="Calibri" panose="020F0502020204030204"/>
              </a:rPr>
              <a:t>1-day return magnitude is extremely noisy</a:t>
            </a:r>
          </a:p>
          <a:p>
            <a:pPr marL="342900" indent="-342900" algn="l" rtl="0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>
                <a:solidFill>
                  <a:srgbClr val="282828"/>
                </a:solidFill>
                <a:latin typeface="Calibri" panose="020F0502020204030204"/>
              </a:rPr>
              <a:t>Baselines are strong and hard to beat honestly</a:t>
            </a:r>
          </a:p>
          <a:p>
            <a:pPr marL="342900" indent="-342900" algn="l" rtl="0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>
                <a:solidFill>
                  <a:srgbClr val="282828"/>
                </a:solidFill>
                <a:latin typeface="Calibri" panose="020F0502020204030204"/>
              </a:rPr>
              <a:t>Data coverage shifts matter (sentiment stability)</a:t>
            </a: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B0A54E4C-98B8-55B6-FEDB-70DC904CACDD}"/>
              </a:ext>
            </a:extLst>
          </p:cNvPr>
          <p:cNvSpPr/>
          <p:nvPr/>
        </p:nvSpPr>
        <p:spPr>
          <a:xfrm>
            <a:off x="798328" y="4544976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4B925138-FE34-3E67-58D5-1D3A65D3C0AF}"/>
              </a:ext>
            </a:extLst>
          </p:cNvPr>
          <p:cNvSpPr/>
          <p:nvPr/>
        </p:nvSpPr>
        <p:spPr>
          <a:xfrm>
            <a:off x="798328" y="4749953"/>
            <a:ext cx="6897872" cy="1406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342900" indent="-342900" algn="l" rtl="0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>
                <a:solidFill>
                  <a:srgbClr val="282828"/>
                </a:solidFill>
                <a:latin typeface="Calibri" panose="020F0502020204030204"/>
              </a:rPr>
              <a:t>Try longer horizons / “flat” class to reduce noise</a:t>
            </a:r>
          </a:p>
          <a:p>
            <a:pPr marL="342900" indent="-342900" algn="l" rtl="0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>
                <a:solidFill>
                  <a:srgbClr val="282828"/>
                </a:solidFill>
                <a:latin typeface="Calibri" panose="020F0502020204030204"/>
              </a:rPr>
              <a:t>Confidence-based decisions (predict only when confident)</a:t>
            </a:r>
          </a:p>
          <a:p>
            <a:pPr marL="342900" indent="-342900" algn="l" rtl="0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en-US" dirty="0">
                <a:solidFill>
                  <a:srgbClr val="282828"/>
                </a:solidFill>
                <a:latin typeface="Calibri" panose="020F0502020204030204"/>
              </a:rPr>
              <a:t>Richer news sources + better time alignment to market hours</a:t>
            </a: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22239E7E-BD89-53F6-7573-A1B1406D510F}"/>
              </a:ext>
            </a:extLst>
          </p:cNvPr>
          <p:cNvSpPr/>
          <p:nvPr/>
        </p:nvSpPr>
        <p:spPr>
          <a:xfrm>
            <a:off x="7549212" y="2096629"/>
            <a:ext cx="4572000" cy="27093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 rtl="0">
              <a:buNone/>
            </a:pPr>
            <a:r>
              <a:rPr lang="en-US" sz="3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you- Questions?</a:t>
            </a:r>
            <a:endParaRPr lang="en-US" sz="3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6164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lef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501167-4D45-AB41-B982-6ACB66D6C64D}">
  <we:reference id="WA200005669" version="2.0.0.0" store="Omex" storeType="OMEX"/>
  <we:alternateReferences>
    <we:reference id="WA200005669" version="2.0.0.0" store="WA20000566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649</TotalTime>
  <Words>1036</Words>
  <Application>Microsoft Macintosh PowerPoint</Application>
  <PresentationFormat>מסך רחב</PresentationFormat>
  <Paragraphs>221</Paragraphs>
  <Slides>15</Slides>
  <Notes>12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מצגת של PowerPoint‏</vt:lpstr>
      <vt:lpstr>Agenda</vt:lpstr>
      <vt:lpstr>Reminder</vt:lpstr>
      <vt:lpstr>Project Rodemap</vt:lpstr>
      <vt:lpstr>Progress</vt:lpstr>
      <vt:lpstr>Benchmarks and Success Criteria</vt:lpstr>
      <vt:lpstr>Tasks and Metrics</vt:lpstr>
      <vt:lpstr>Data &amp; feature engineering (block-based)</vt:lpstr>
      <vt:lpstr>Evaluation: the “no cheating” zone (walk-forward)</vt:lpstr>
      <vt:lpstr>Phase 1: Regression (insight: noise dominates)</vt:lpstr>
      <vt:lpstr>Phase 2: Pivot to direction classification</vt:lpstr>
      <vt:lpstr>Classification results (binary direction) vs baselines</vt:lpstr>
      <vt:lpstr>What Improved: Feature &amp; Model Insights</vt:lpstr>
      <vt:lpstr>Project Status - What’s Next </vt:lpstr>
      <vt:lpstr>Conclusions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אורי מוצפי</dc:creator>
  <cp:lastModifiedBy>Shaked Schnarch</cp:lastModifiedBy>
  <cp:revision>13</cp:revision>
  <dcterms:created xsi:type="dcterms:W3CDTF">2025-12-14T11:17:02Z</dcterms:created>
  <dcterms:modified xsi:type="dcterms:W3CDTF">2026-01-15T16:47:28Z</dcterms:modified>
</cp:coreProperties>
</file>