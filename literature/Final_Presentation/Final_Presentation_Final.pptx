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21"/>
  </p:notesMasterIdLst>
  <p:sldIdLst>
    <p:sldId id="268" r:id="rId2"/>
    <p:sldId id="319" r:id="rId3"/>
    <p:sldId id="311" r:id="rId4"/>
    <p:sldId id="370" r:id="rId5"/>
    <p:sldId id="367" r:id="rId6"/>
    <p:sldId id="357" r:id="rId7"/>
    <p:sldId id="376" r:id="rId8"/>
    <p:sldId id="372" r:id="rId9"/>
    <p:sldId id="358" r:id="rId10"/>
    <p:sldId id="364" r:id="rId11"/>
    <p:sldId id="363" r:id="rId12"/>
    <p:sldId id="359" r:id="rId13"/>
    <p:sldId id="365" r:id="rId14"/>
    <p:sldId id="366" r:id="rId15"/>
    <p:sldId id="373" r:id="rId16"/>
    <p:sldId id="361" r:id="rId17"/>
    <p:sldId id="368" r:id="rId18"/>
    <p:sldId id="369" r:id="rId19"/>
    <p:sldId id="374" r:id="rId20"/>
  </p:sldIdLst>
  <p:sldSz cx="12192000" cy="6858000"/>
  <p:notesSz cx="6858000" cy="9144000"/>
  <p:defaultTextStyle>
    <a:defPPr>
      <a:defRPr lang="en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56" autoAdjust="0"/>
    <p:restoredTop sz="96315" autoAdjust="0"/>
  </p:normalViewPr>
  <p:slideViewPr>
    <p:cSldViewPr snapToGrid="0">
      <p:cViewPr>
        <p:scale>
          <a:sx n="95" d="100"/>
          <a:sy n="95" d="100"/>
        </p:scale>
        <p:origin x="8112" y="28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56AD31-8726-2D47-8EF2-E68FF98CBA3F}" type="doc">
      <dgm:prSet loTypeId="urn:microsoft.com/office/officeart/2005/8/layout/vList2" loCatId="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pPr rtl="1"/>
          <a:endParaRPr lang="he-IL"/>
        </a:p>
      </dgm:t>
    </dgm:pt>
    <dgm:pt modelId="{7055AE6A-8471-4B40-AF0D-981D38B7394D}">
      <dgm:prSet/>
      <dgm:spPr>
        <a:solidFill>
          <a:schemeClr val="tx2">
            <a:lumMod val="75000"/>
          </a:schemeClr>
        </a:solidFill>
      </dgm:spPr>
      <dgm:t>
        <a:bodyPr/>
        <a:lstStyle/>
        <a:p>
          <a:pPr rtl="0">
            <a:buNone/>
          </a:pPr>
          <a:r>
            <a:rPr lang="en" b="0" i="0" dirty="0"/>
            <a:t>Reminder</a:t>
          </a:r>
        </a:p>
      </dgm:t>
    </dgm:pt>
    <dgm:pt modelId="{23BE5F57-C5B8-A644-B027-2CA2E51C640B}" type="parTrans" cxnId="{6A2655F8-0ED8-4A46-BDE9-2E81139A0006}">
      <dgm:prSet/>
      <dgm:spPr/>
      <dgm:t>
        <a:bodyPr/>
        <a:lstStyle/>
        <a:p>
          <a:pPr rtl="0"/>
          <a:endParaRPr lang="he-IL"/>
        </a:p>
      </dgm:t>
    </dgm:pt>
    <dgm:pt modelId="{9EEAF207-876F-4A42-856E-A7A10D020DD9}" type="sibTrans" cxnId="{6A2655F8-0ED8-4A46-BDE9-2E81139A0006}">
      <dgm:prSet/>
      <dgm:spPr/>
      <dgm:t>
        <a:bodyPr/>
        <a:lstStyle/>
        <a:p>
          <a:pPr rtl="0"/>
          <a:endParaRPr lang="he-IL"/>
        </a:p>
      </dgm:t>
    </dgm:pt>
    <dgm:pt modelId="{C762D7F4-8F39-5940-ADA8-6083405134E8}">
      <dgm:prSet/>
      <dgm:spPr/>
      <dgm:t>
        <a:bodyPr/>
        <a:lstStyle/>
        <a:p>
          <a:pPr rtl="0">
            <a:buNone/>
          </a:pPr>
          <a:r>
            <a:rPr lang="en" dirty="0"/>
            <a:t>Foundations &amp; Baseline (Pre-Checkpoint)</a:t>
          </a:r>
          <a:endParaRPr lang="en" b="0" i="0" dirty="0"/>
        </a:p>
      </dgm:t>
    </dgm:pt>
    <dgm:pt modelId="{69B1478B-5950-1C47-8996-17EA4280CE8A}" type="parTrans" cxnId="{55AFC39F-A47C-C340-A110-5BD82EC8A13B}">
      <dgm:prSet/>
      <dgm:spPr/>
      <dgm:t>
        <a:bodyPr/>
        <a:lstStyle/>
        <a:p>
          <a:pPr rtl="0"/>
          <a:endParaRPr lang="he-IL"/>
        </a:p>
      </dgm:t>
    </dgm:pt>
    <dgm:pt modelId="{9E2DFE44-66DF-274A-8117-88959635DCEF}" type="sibTrans" cxnId="{55AFC39F-A47C-C340-A110-5BD82EC8A13B}">
      <dgm:prSet/>
      <dgm:spPr/>
      <dgm:t>
        <a:bodyPr/>
        <a:lstStyle/>
        <a:p>
          <a:pPr rtl="0"/>
          <a:endParaRPr lang="he-IL"/>
        </a:p>
      </dgm:t>
    </dgm:pt>
    <dgm:pt modelId="{D505491F-5793-D847-8174-8D2C2514A554}">
      <dgm:prSet/>
      <dgm:spPr>
        <a:solidFill>
          <a:schemeClr val="tx2">
            <a:lumMod val="75000"/>
          </a:schemeClr>
        </a:solidFill>
      </dgm:spPr>
      <dgm:t>
        <a:bodyPr/>
        <a:lstStyle/>
        <a:p>
          <a:pPr rtl="0">
            <a:buNone/>
          </a:pPr>
          <a:r>
            <a:rPr lang="en" b="0" i="0" dirty="0"/>
            <a:t>Recent Progress And Main Challenges</a:t>
          </a:r>
        </a:p>
      </dgm:t>
    </dgm:pt>
    <dgm:pt modelId="{0D060753-40DB-F84B-B155-F09473F50D28}" type="parTrans" cxnId="{82A9EEE8-269B-0D44-A67C-4BF4D226E70B}">
      <dgm:prSet/>
      <dgm:spPr/>
      <dgm:t>
        <a:bodyPr/>
        <a:lstStyle/>
        <a:p>
          <a:pPr rtl="0"/>
          <a:endParaRPr lang="he-IL"/>
        </a:p>
      </dgm:t>
    </dgm:pt>
    <dgm:pt modelId="{38618AB2-1DDE-E24E-849E-3DA2561B0C05}" type="sibTrans" cxnId="{82A9EEE8-269B-0D44-A67C-4BF4D226E70B}">
      <dgm:prSet/>
      <dgm:spPr/>
      <dgm:t>
        <a:bodyPr/>
        <a:lstStyle/>
        <a:p>
          <a:pPr rtl="0"/>
          <a:endParaRPr lang="he-IL"/>
        </a:p>
      </dgm:t>
    </dgm:pt>
    <dgm:pt modelId="{86EE90E8-41DB-484B-86A1-7A1CEA5587B2}">
      <dgm:prSet/>
      <dgm:spPr/>
      <dgm:t>
        <a:bodyPr/>
        <a:lstStyle/>
        <a:p>
          <a:pPr rtl="0">
            <a:buNone/>
          </a:pPr>
          <a:r>
            <a:rPr lang="en-US" dirty="0"/>
            <a:t>Feature Engineering</a:t>
          </a:r>
          <a:endParaRPr lang="en" b="0" i="0" dirty="0"/>
        </a:p>
      </dgm:t>
    </dgm:pt>
    <dgm:pt modelId="{EDFDE427-3A84-E849-A846-491DE66EC558}" type="parTrans" cxnId="{2C5E9E16-146D-4148-BD7D-E26F33F6C1E3}">
      <dgm:prSet/>
      <dgm:spPr/>
      <dgm:t>
        <a:bodyPr/>
        <a:lstStyle/>
        <a:p>
          <a:pPr rtl="0"/>
          <a:endParaRPr lang="he-IL"/>
        </a:p>
      </dgm:t>
    </dgm:pt>
    <dgm:pt modelId="{D6FED4F8-61FC-D146-9DA6-76F5740719F8}" type="sibTrans" cxnId="{2C5E9E16-146D-4148-BD7D-E26F33F6C1E3}">
      <dgm:prSet/>
      <dgm:spPr/>
      <dgm:t>
        <a:bodyPr/>
        <a:lstStyle/>
        <a:p>
          <a:pPr rtl="0"/>
          <a:endParaRPr lang="he-IL"/>
        </a:p>
      </dgm:t>
    </dgm:pt>
    <dgm:pt modelId="{8B35E9CB-9CC6-094E-AC51-F39526347D42}">
      <dgm:prSet/>
      <dgm:spPr/>
      <dgm:t>
        <a:bodyPr/>
        <a:lstStyle/>
        <a:p>
          <a:pPr rtl="0">
            <a:buNone/>
          </a:pPr>
          <a:r>
            <a:rPr lang="en-US" dirty="0"/>
            <a:t>“Model Zoo” Experiment- F</a:t>
          </a:r>
          <a:r>
            <a:rPr lang="he-IL" dirty="0" err="1"/>
            <a:t>ramework</a:t>
          </a:r>
          <a:endParaRPr lang="en" b="0" i="0" dirty="0"/>
        </a:p>
      </dgm:t>
    </dgm:pt>
    <dgm:pt modelId="{FB98CD0F-C3D0-5D41-BD07-9D88DA1F2EBB}" type="parTrans" cxnId="{3DF7B5CE-1D6C-514D-A39A-D20B21C37534}">
      <dgm:prSet/>
      <dgm:spPr/>
      <dgm:t>
        <a:bodyPr/>
        <a:lstStyle/>
        <a:p>
          <a:pPr rtl="0"/>
          <a:endParaRPr lang="he-IL"/>
        </a:p>
      </dgm:t>
    </dgm:pt>
    <dgm:pt modelId="{3EA1E6EA-0AAD-5E47-A69A-47E1B58D624B}" type="sibTrans" cxnId="{3DF7B5CE-1D6C-514D-A39A-D20B21C37534}">
      <dgm:prSet/>
      <dgm:spPr/>
      <dgm:t>
        <a:bodyPr/>
        <a:lstStyle/>
        <a:p>
          <a:pPr rtl="0"/>
          <a:endParaRPr lang="he-IL"/>
        </a:p>
      </dgm:t>
    </dgm:pt>
    <dgm:pt modelId="{6CE55C95-C11F-A94C-9B16-8A6620B25145}">
      <dgm:prSet/>
      <dgm:spPr>
        <a:solidFill>
          <a:schemeClr val="tx2">
            <a:lumMod val="75000"/>
          </a:schemeClr>
        </a:solidFill>
      </dgm:spPr>
      <dgm:t>
        <a:bodyPr/>
        <a:lstStyle/>
        <a:p>
          <a:pPr rtl="0">
            <a:buNone/>
          </a:pPr>
          <a:r>
            <a:rPr lang="en-US" dirty="0"/>
            <a:t>Project status </a:t>
          </a:r>
          <a:endParaRPr lang="en" b="0" i="0" dirty="0"/>
        </a:p>
      </dgm:t>
    </dgm:pt>
    <dgm:pt modelId="{0121D91D-4961-7B45-ABAC-A960BB2F4B5A}" type="parTrans" cxnId="{4C61AD79-B0A5-574D-AAB4-35E37927FD0D}">
      <dgm:prSet/>
      <dgm:spPr/>
      <dgm:t>
        <a:bodyPr/>
        <a:lstStyle/>
        <a:p>
          <a:pPr rtl="0"/>
          <a:endParaRPr lang="he-IL"/>
        </a:p>
      </dgm:t>
    </dgm:pt>
    <dgm:pt modelId="{9BABD29F-41F2-9241-AD56-7A59DC684738}" type="sibTrans" cxnId="{4C61AD79-B0A5-574D-AAB4-35E37927FD0D}">
      <dgm:prSet/>
      <dgm:spPr/>
      <dgm:t>
        <a:bodyPr/>
        <a:lstStyle/>
        <a:p>
          <a:pPr rtl="0"/>
          <a:endParaRPr lang="he-IL"/>
        </a:p>
      </dgm:t>
    </dgm:pt>
    <dgm:pt modelId="{B96E93B2-E405-2046-B772-6388DF07F5F2}">
      <dgm:prSet/>
      <dgm:spPr/>
      <dgm:t>
        <a:bodyPr/>
        <a:lstStyle/>
        <a:p>
          <a:pPr rtl="0">
            <a:buNone/>
          </a:pPr>
          <a:r>
            <a:rPr lang="en-US" dirty="0"/>
            <a:t>Project status – Finished tasks</a:t>
          </a:r>
          <a:endParaRPr lang="en" b="0" i="0" dirty="0"/>
        </a:p>
      </dgm:t>
    </dgm:pt>
    <dgm:pt modelId="{C6FBEC25-3D75-6A4D-97CB-F5C2EE7E32B5}" type="parTrans" cxnId="{3DD69CBA-EDA6-9F4F-8C86-2C95D9AFA2EA}">
      <dgm:prSet/>
      <dgm:spPr/>
      <dgm:t>
        <a:bodyPr/>
        <a:lstStyle/>
        <a:p>
          <a:pPr rtl="0"/>
          <a:endParaRPr lang="he-IL"/>
        </a:p>
      </dgm:t>
    </dgm:pt>
    <dgm:pt modelId="{99DDFE89-65A2-C145-B54E-FCA4CC831C3D}" type="sibTrans" cxnId="{3DD69CBA-EDA6-9F4F-8C86-2C95D9AFA2EA}">
      <dgm:prSet/>
      <dgm:spPr/>
      <dgm:t>
        <a:bodyPr/>
        <a:lstStyle/>
        <a:p>
          <a:pPr rtl="0"/>
          <a:endParaRPr lang="he-IL"/>
        </a:p>
      </dgm:t>
    </dgm:pt>
    <dgm:pt modelId="{BF162617-F3C0-1041-BAC2-57411E459941}">
      <dgm:prSet/>
      <dgm:spPr/>
      <dgm:t>
        <a:bodyPr/>
        <a:lstStyle/>
        <a:p>
          <a:pPr rtl="0">
            <a:buNone/>
          </a:pPr>
          <a:r>
            <a:rPr lang="en-US" dirty="0"/>
            <a:t>Roadmap And Progress</a:t>
          </a:r>
          <a:endParaRPr lang="en" b="0" i="0" dirty="0"/>
        </a:p>
      </dgm:t>
    </dgm:pt>
    <dgm:pt modelId="{CE86E852-834F-5F4C-9A78-2A0B79941343}" type="parTrans" cxnId="{DC306A94-2971-DC4D-8054-9D40D4903AAC}">
      <dgm:prSet/>
      <dgm:spPr/>
      <dgm:t>
        <a:bodyPr/>
        <a:lstStyle/>
        <a:p>
          <a:pPr rtl="1"/>
          <a:endParaRPr lang="he-IL"/>
        </a:p>
      </dgm:t>
    </dgm:pt>
    <dgm:pt modelId="{9747DB30-3085-A047-91F9-164FD5A30963}" type="sibTrans" cxnId="{DC306A94-2971-DC4D-8054-9D40D4903AAC}">
      <dgm:prSet/>
      <dgm:spPr/>
      <dgm:t>
        <a:bodyPr/>
        <a:lstStyle/>
        <a:p>
          <a:pPr rtl="1"/>
          <a:endParaRPr lang="he-IL"/>
        </a:p>
      </dgm:t>
    </dgm:pt>
    <dgm:pt modelId="{79B8F341-90D7-5C42-8BE0-3F2AF303F2E5}">
      <dgm:prSet/>
      <dgm:spPr/>
      <dgm:t>
        <a:bodyPr/>
        <a:lstStyle/>
        <a:p>
          <a:pPr rtl="0">
            <a:buNone/>
          </a:pPr>
          <a:r>
            <a:rPr lang="en" dirty="0"/>
            <a:t>Benchmarks and </a:t>
          </a:r>
          <a:r>
            <a:rPr lang="en-US" dirty="0"/>
            <a:t>Success Criteria</a:t>
          </a:r>
          <a:endParaRPr lang="en" b="0" i="0" dirty="0"/>
        </a:p>
      </dgm:t>
    </dgm:pt>
    <dgm:pt modelId="{6E9F449C-C526-454C-BE53-F4DAD1626398}" type="parTrans" cxnId="{62387F0C-B436-7845-BBBD-61DBF41D01F6}">
      <dgm:prSet/>
      <dgm:spPr/>
      <dgm:t>
        <a:bodyPr/>
        <a:lstStyle/>
        <a:p>
          <a:endParaRPr lang="en-US"/>
        </a:p>
      </dgm:t>
    </dgm:pt>
    <dgm:pt modelId="{71EC6086-CD90-8247-8D27-CFE35D53AAC7}" type="sibTrans" cxnId="{62387F0C-B436-7845-BBBD-61DBF41D01F6}">
      <dgm:prSet/>
      <dgm:spPr/>
      <dgm:t>
        <a:bodyPr/>
        <a:lstStyle/>
        <a:p>
          <a:endParaRPr lang="en-US"/>
        </a:p>
      </dgm:t>
    </dgm:pt>
    <dgm:pt modelId="{B17451E7-186F-6947-B5D0-E0F08E3EFBA8}">
      <dgm:prSet/>
      <dgm:spPr/>
      <dgm:t>
        <a:bodyPr/>
        <a:lstStyle/>
        <a:p>
          <a:pPr rtl="0">
            <a:buNone/>
          </a:pPr>
          <a:r>
            <a:rPr lang="en-US" dirty="0"/>
            <a:t>“Model Zoo” Experiment- Results</a:t>
          </a:r>
          <a:endParaRPr lang="en" b="0" i="0" dirty="0"/>
        </a:p>
      </dgm:t>
    </dgm:pt>
    <dgm:pt modelId="{1D50E6EB-ADB1-9741-A848-0D18C098C3B5}" type="parTrans" cxnId="{87A22C7D-B0CD-DE42-BE94-45F119452EBE}">
      <dgm:prSet/>
      <dgm:spPr/>
      <dgm:t>
        <a:bodyPr/>
        <a:lstStyle/>
        <a:p>
          <a:endParaRPr lang="en-US"/>
        </a:p>
      </dgm:t>
    </dgm:pt>
    <dgm:pt modelId="{DBEFFF38-DC2B-BA42-BD29-D747BBC1651E}" type="sibTrans" cxnId="{87A22C7D-B0CD-DE42-BE94-45F119452EBE}">
      <dgm:prSet/>
      <dgm:spPr/>
      <dgm:t>
        <a:bodyPr/>
        <a:lstStyle/>
        <a:p>
          <a:endParaRPr lang="en-US"/>
        </a:p>
      </dgm:t>
    </dgm:pt>
    <dgm:pt modelId="{C62565C1-2AC2-054A-8C79-AB542A541A0A}">
      <dgm:prSet/>
      <dgm:spPr/>
      <dgm:t>
        <a:bodyPr/>
        <a:lstStyle/>
        <a:p>
          <a:pPr rtl="0">
            <a:buNone/>
          </a:pPr>
          <a:r>
            <a:rPr lang="en-US" dirty="0"/>
            <a:t>Feature Selection</a:t>
          </a:r>
          <a:endParaRPr lang="en" b="0" i="0" dirty="0"/>
        </a:p>
      </dgm:t>
    </dgm:pt>
    <dgm:pt modelId="{E9BAF9C0-5162-8840-8372-D006F2D24104}" type="parTrans" cxnId="{A6344512-80B4-134A-B884-54ECF52B2181}">
      <dgm:prSet/>
      <dgm:spPr/>
      <dgm:t>
        <a:bodyPr/>
        <a:lstStyle/>
        <a:p>
          <a:endParaRPr lang="en-US"/>
        </a:p>
      </dgm:t>
    </dgm:pt>
    <dgm:pt modelId="{BE680B56-34EE-F944-9FFE-D80EFAFD97DA}" type="sibTrans" cxnId="{A6344512-80B4-134A-B884-54ECF52B2181}">
      <dgm:prSet/>
      <dgm:spPr/>
      <dgm:t>
        <a:bodyPr/>
        <a:lstStyle/>
        <a:p>
          <a:endParaRPr lang="en-US"/>
        </a:p>
      </dgm:t>
    </dgm:pt>
    <dgm:pt modelId="{0BD17DDF-9407-6E41-97B5-59C0C8264288}">
      <dgm:prSet/>
      <dgm:spPr/>
      <dgm:t>
        <a:bodyPr/>
        <a:lstStyle/>
        <a:p>
          <a:pPr rtl="0">
            <a:buNone/>
          </a:pPr>
          <a:r>
            <a:rPr lang="en-US" dirty="0"/>
            <a:t>Bull &amp; Bear regimes</a:t>
          </a:r>
          <a:endParaRPr lang="en" b="0" i="0" dirty="0"/>
        </a:p>
      </dgm:t>
    </dgm:pt>
    <dgm:pt modelId="{F019B648-57AB-7A4C-9B56-51F6778F7B27}" type="parTrans" cxnId="{99DCA719-643A-9240-B949-11AFA822F002}">
      <dgm:prSet/>
      <dgm:spPr/>
      <dgm:t>
        <a:bodyPr/>
        <a:lstStyle/>
        <a:p>
          <a:endParaRPr lang="en-US"/>
        </a:p>
      </dgm:t>
    </dgm:pt>
    <dgm:pt modelId="{AEFE95ED-C09A-BB47-B2DF-619D89BD423D}" type="sibTrans" cxnId="{99DCA719-643A-9240-B949-11AFA822F002}">
      <dgm:prSet/>
      <dgm:spPr/>
      <dgm:t>
        <a:bodyPr/>
        <a:lstStyle/>
        <a:p>
          <a:endParaRPr lang="en-US"/>
        </a:p>
      </dgm:t>
    </dgm:pt>
    <dgm:pt modelId="{A800DEB8-CA12-EC4E-BE81-7CF6454F7D16}">
      <dgm:prSet/>
      <dgm:spPr/>
      <dgm:t>
        <a:bodyPr/>
        <a:lstStyle/>
        <a:p>
          <a:pPr rtl="0">
            <a:buNone/>
          </a:pPr>
          <a:r>
            <a:rPr lang="en-US" dirty="0"/>
            <a:t>Project status – Future Directions</a:t>
          </a:r>
          <a:endParaRPr lang="en" b="0" i="0" dirty="0"/>
        </a:p>
      </dgm:t>
    </dgm:pt>
    <dgm:pt modelId="{86D3F697-BFAC-EC4E-A886-B90152850A89}" type="parTrans" cxnId="{A71E2F4F-DA81-5246-A95F-F851A562B8F0}">
      <dgm:prSet/>
      <dgm:spPr/>
      <dgm:t>
        <a:bodyPr/>
        <a:lstStyle/>
        <a:p>
          <a:endParaRPr lang="en-US"/>
        </a:p>
      </dgm:t>
    </dgm:pt>
    <dgm:pt modelId="{D0598872-F8C8-0345-8FBC-224B55FD22B5}" type="sibTrans" cxnId="{A71E2F4F-DA81-5246-A95F-F851A562B8F0}">
      <dgm:prSet/>
      <dgm:spPr/>
      <dgm:t>
        <a:bodyPr/>
        <a:lstStyle/>
        <a:p>
          <a:endParaRPr lang="en-US"/>
        </a:p>
      </dgm:t>
    </dgm:pt>
    <dgm:pt modelId="{D846E2CB-C070-3A4B-90AA-696447A48F86}" type="pres">
      <dgm:prSet presAssocID="{5C56AD31-8726-2D47-8EF2-E68FF98CBA3F}" presName="linear" presStyleCnt="0">
        <dgm:presLayoutVars>
          <dgm:animLvl val="lvl"/>
          <dgm:resizeHandles val="exact"/>
        </dgm:presLayoutVars>
      </dgm:prSet>
      <dgm:spPr/>
    </dgm:pt>
    <dgm:pt modelId="{3606870A-DAB5-334F-A0BE-A083B22B7DA4}" type="pres">
      <dgm:prSet presAssocID="{7055AE6A-8471-4B40-AF0D-981D38B7394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F690795-15E4-6C4E-97D0-34B2E957BA7B}" type="pres">
      <dgm:prSet presAssocID="{7055AE6A-8471-4B40-AF0D-981D38B7394D}" presName="childText" presStyleLbl="revTx" presStyleIdx="0" presStyleCnt="3">
        <dgm:presLayoutVars>
          <dgm:bulletEnabled val="1"/>
        </dgm:presLayoutVars>
      </dgm:prSet>
      <dgm:spPr/>
    </dgm:pt>
    <dgm:pt modelId="{D2581B42-5C9E-DF4F-B6EA-8C219719E7B5}" type="pres">
      <dgm:prSet presAssocID="{D505491F-5793-D847-8174-8D2C2514A55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9760C75-765E-4F41-8938-18FA0560BDAF}" type="pres">
      <dgm:prSet presAssocID="{D505491F-5793-D847-8174-8D2C2514A554}" presName="childText" presStyleLbl="revTx" presStyleIdx="1" presStyleCnt="3">
        <dgm:presLayoutVars>
          <dgm:bulletEnabled val="1"/>
        </dgm:presLayoutVars>
      </dgm:prSet>
      <dgm:spPr/>
    </dgm:pt>
    <dgm:pt modelId="{FD1514AF-9F2D-494C-895E-53CE3968FFA4}" type="pres">
      <dgm:prSet presAssocID="{6CE55C95-C11F-A94C-9B16-8A6620B2514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A186B5F-B9F8-B649-9488-0C29CB4C3F17}" type="pres">
      <dgm:prSet presAssocID="{6CE55C95-C11F-A94C-9B16-8A6620B25145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95C75201-2AA3-8C4D-828E-DB8721A3F26A}" type="presOf" srcId="{A800DEB8-CA12-EC4E-BE81-7CF6454F7D16}" destId="{EA186B5F-B9F8-B649-9488-0C29CB4C3F17}" srcOrd="0" destOrd="1" presId="urn:microsoft.com/office/officeart/2005/8/layout/vList2"/>
    <dgm:cxn modelId="{98F10206-C2AF-E042-93A6-34D28B3817A9}" type="presOf" srcId="{86EE90E8-41DB-484B-86A1-7A1CEA5587B2}" destId="{49760C75-765E-4F41-8938-18FA0560BDAF}" srcOrd="0" destOrd="0" presId="urn:microsoft.com/office/officeart/2005/8/layout/vList2"/>
    <dgm:cxn modelId="{62387F0C-B436-7845-BBBD-61DBF41D01F6}" srcId="{7055AE6A-8471-4B40-AF0D-981D38B7394D}" destId="{79B8F341-90D7-5C42-8BE0-3F2AF303F2E5}" srcOrd="2" destOrd="0" parTransId="{6E9F449C-C526-454C-BE53-F4DAD1626398}" sibTransId="{71EC6086-CD90-8247-8D27-CFE35D53AAC7}"/>
    <dgm:cxn modelId="{E2AA400D-AB05-F545-968D-FC3C44A8A6AA}" type="presOf" srcId="{6CE55C95-C11F-A94C-9B16-8A6620B25145}" destId="{FD1514AF-9F2D-494C-895E-53CE3968FFA4}" srcOrd="0" destOrd="0" presId="urn:microsoft.com/office/officeart/2005/8/layout/vList2"/>
    <dgm:cxn modelId="{AF3C000E-21B8-334C-A64B-620849F13BA1}" type="presOf" srcId="{8B35E9CB-9CC6-094E-AC51-F39526347D42}" destId="{49760C75-765E-4F41-8938-18FA0560BDAF}" srcOrd="0" destOrd="1" presId="urn:microsoft.com/office/officeart/2005/8/layout/vList2"/>
    <dgm:cxn modelId="{A6344512-80B4-134A-B884-54ECF52B2181}" srcId="{D505491F-5793-D847-8174-8D2C2514A554}" destId="{C62565C1-2AC2-054A-8C79-AB542A541A0A}" srcOrd="3" destOrd="0" parTransId="{E9BAF9C0-5162-8840-8372-D006F2D24104}" sibTransId="{BE680B56-34EE-F944-9FFE-D80EFAFD97DA}"/>
    <dgm:cxn modelId="{2C5E9E16-146D-4148-BD7D-E26F33F6C1E3}" srcId="{D505491F-5793-D847-8174-8D2C2514A554}" destId="{86EE90E8-41DB-484B-86A1-7A1CEA5587B2}" srcOrd="0" destOrd="0" parTransId="{EDFDE427-3A84-E849-A846-491DE66EC558}" sibTransId="{D6FED4F8-61FC-D146-9DA6-76F5740719F8}"/>
    <dgm:cxn modelId="{99DCA719-643A-9240-B949-11AFA822F002}" srcId="{D505491F-5793-D847-8174-8D2C2514A554}" destId="{0BD17DDF-9407-6E41-97B5-59C0C8264288}" srcOrd="4" destOrd="0" parTransId="{F019B648-57AB-7A4C-9B56-51F6778F7B27}" sibTransId="{AEFE95ED-C09A-BB47-B2DF-619D89BD423D}"/>
    <dgm:cxn modelId="{5CCE6422-E721-684B-ABB1-4636AE32C203}" type="presOf" srcId="{C762D7F4-8F39-5940-ADA8-6083405134E8}" destId="{2F690795-15E4-6C4E-97D0-34B2E957BA7B}" srcOrd="0" destOrd="0" presId="urn:microsoft.com/office/officeart/2005/8/layout/vList2"/>
    <dgm:cxn modelId="{20640445-98DD-284E-BD3B-5C7C58A9CCB8}" type="presOf" srcId="{B17451E7-186F-6947-B5D0-E0F08E3EFBA8}" destId="{49760C75-765E-4F41-8938-18FA0560BDAF}" srcOrd="0" destOrd="2" presId="urn:microsoft.com/office/officeart/2005/8/layout/vList2"/>
    <dgm:cxn modelId="{A71E2F4F-DA81-5246-A95F-F851A562B8F0}" srcId="{6CE55C95-C11F-A94C-9B16-8A6620B25145}" destId="{A800DEB8-CA12-EC4E-BE81-7CF6454F7D16}" srcOrd="1" destOrd="0" parTransId="{86D3F697-BFAC-EC4E-A886-B90152850A89}" sibTransId="{D0598872-F8C8-0345-8FBC-224B55FD22B5}"/>
    <dgm:cxn modelId="{4C61AD79-B0A5-574D-AAB4-35E37927FD0D}" srcId="{5C56AD31-8726-2D47-8EF2-E68FF98CBA3F}" destId="{6CE55C95-C11F-A94C-9B16-8A6620B25145}" srcOrd="2" destOrd="0" parTransId="{0121D91D-4961-7B45-ABAC-A960BB2F4B5A}" sibTransId="{9BABD29F-41F2-9241-AD56-7A59DC684738}"/>
    <dgm:cxn modelId="{87A22C7D-B0CD-DE42-BE94-45F119452EBE}" srcId="{D505491F-5793-D847-8174-8D2C2514A554}" destId="{B17451E7-186F-6947-B5D0-E0F08E3EFBA8}" srcOrd="2" destOrd="0" parTransId="{1D50E6EB-ADB1-9741-A848-0D18C098C3B5}" sibTransId="{DBEFFF38-DC2B-BA42-BD29-D747BBC1651E}"/>
    <dgm:cxn modelId="{0422508A-2337-6B4D-8E97-1AC5D7C528B8}" type="presOf" srcId="{BF162617-F3C0-1041-BAC2-57411E459941}" destId="{2F690795-15E4-6C4E-97D0-34B2E957BA7B}" srcOrd="0" destOrd="1" presId="urn:microsoft.com/office/officeart/2005/8/layout/vList2"/>
    <dgm:cxn modelId="{FF52EF8D-F857-734C-9023-A6F241A308D2}" type="presOf" srcId="{79B8F341-90D7-5C42-8BE0-3F2AF303F2E5}" destId="{2F690795-15E4-6C4E-97D0-34B2E957BA7B}" srcOrd="0" destOrd="2" presId="urn:microsoft.com/office/officeart/2005/8/layout/vList2"/>
    <dgm:cxn modelId="{DC306A94-2971-DC4D-8054-9D40D4903AAC}" srcId="{7055AE6A-8471-4B40-AF0D-981D38B7394D}" destId="{BF162617-F3C0-1041-BAC2-57411E459941}" srcOrd="1" destOrd="0" parTransId="{CE86E852-834F-5F4C-9A78-2A0B79941343}" sibTransId="{9747DB30-3085-A047-91F9-164FD5A30963}"/>
    <dgm:cxn modelId="{0E947D9B-38BA-D84B-8DDC-EFCAD1D0230A}" type="presOf" srcId="{0BD17DDF-9407-6E41-97B5-59C0C8264288}" destId="{49760C75-765E-4F41-8938-18FA0560BDAF}" srcOrd="0" destOrd="4" presId="urn:microsoft.com/office/officeart/2005/8/layout/vList2"/>
    <dgm:cxn modelId="{55AFC39F-A47C-C340-A110-5BD82EC8A13B}" srcId="{7055AE6A-8471-4B40-AF0D-981D38B7394D}" destId="{C762D7F4-8F39-5940-ADA8-6083405134E8}" srcOrd="0" destOrd="0" parTransId="{69B1478B-5950-1C47-8996-17EA4280CE8A}" sibTransId="{9E2DFE44-66DF-274A-8117-88959635DCEF}"/>
    <dgm:cxn modelId="{4AB347AA-7B13-E943-95B4-3FD7BB5FBA63}" type="presOf" srcId="{C62565C1-2AC2-054A-8C79-AB542A541A0A}" destId="{49760C75-765E-4F41-8938-18FA0560BDAF}" srcOrd="0" destOrd="3" presId="urn:microsoft.com/office/officeart/2005/8/layout/vList2"/>
    <dgm:cxn modelId="{800807B4-92EC-554D-8A20-04ED730F4304}" type="presOf" srcId="{B96E93B2-E405-2046-B772-6388DF07F5F2}" destId="{EA186B5F-B9F8-B649-9488-0C29CB4C3F17}" srcOrd="0" destOrd="0" presId="urn:microsoft.com/office/officeart/2005/8/layout/vList2"/>
    <dgm:cxn modelId="{3DD69CBA-EDA6-9F4F-8C86-2C95D9AFA2EA}" srcId="{6CE55C95-C11F-A94C-9B16-8A6620B25145}" destId="{B96E93B2-E405-2046-B772-6388DF07F5F2}" srcOrd="0" destOrd="0" parTransId="{C6FBEC25-3D75-6A4D-97CB-F5C2EE7E32B5}" sibTransId="{99DDFE89-65A2-C145-B54E-FCA4CC831C3D}"/>
    <dgm:cxn modelId="{3DF7B5CE-1D6C-514D-A39A-D20B21C37534}" srcId="{D505491F-5793-D847-8174-8D2C2514A554}" destId="{8B35E9CB-9CC6-094E-AC51-F39526347D42}" srcOrd="1" destOrd="0" parTransId="{FB98CD0F-C3D0-5D41-BD07-9D88DA1F2EBB}" sibTransId="{3EA1E6EA-0AAD-5E47-A69A-47E1B58D624B}"/>
    <dgm:cxn modelId="{B16CBBDB-BE5C-684C-84E0-58487D6ADE2B}" type="presOf" srcId="{5C56AD31-8726-2D47-8EF2-E68FF98CBA3F}" destId="{D846E2CB-C070-3A4B-90AA-696447A48F86}" srcOrd="0" destOrd="0" presId="urn:microsoft.com/office/officeart/2005/8/layout/vList2"/>
    <dgm:cxn modelId="{7A7B01E4-D440-8641-A1B6-E471828A2DE5}" type="presOf" srcId="{D505491F-5793-D847-8174-8D2C2514A554}" destId="{D2581B42-5C9E-DF4F-B6EA-8C219719E7B5}" srcOrd="0" destOrd="0" presId="urn:microsoft.com/office/officeart/2005/8/layout/vList2"/>
    <dgm:cxn modelId="{82A9EEE8-269B-0D44-A67C-4BF4D226E70B}" srcId="{5C56AD31-8726-2D47-8EF2-E68FF98CBA3F}" destId="{D505491F-5793-D847-8174-8D2C2514A554}" srcOrd="1" destOrd="0" parTransId="{0D060753-40DB-F84B-B155-F09473F50D28}" sibTransId="{38618AB2-1DDE-E24E-849E-3DA2561B0C05}"/>
    <dgm:cxn modelId="{6A2655F8-0ED8-4A46-BDE9-2E81139A0006}" srcId="{5C56AD31-8726-2D47-8EF2-E68FF98CBA3F}" destId="{7055AE6A-8471-4B40-AF0D-981D38B7394D}" srcOrd="0" destOrd="0" parTransId="{23BE5F57-C5B8-A644-B027-2CA2E51C640B}" sibTransId="{9EEAF207-876F-4A42-856E-A7A10D020DD9}"/>
    <dgm:cxn modelId="{29F375FA-807E-CE40-A512-E81279074ECD}" type="presOf" srcId="{7055AE6A-8471-4B40-AF0D-981D38B7394D}" destId="{3606870A-DAB5-334F-A0BE-A083B22B7DA4}" srcOrd="0" destOrd="0" presId="urn:microsoft.com/office/officeart/2005/8/layout/vList2"/>
    <dgm:cxn modelId="{D4E25DB5-F84C-C54A-94DF-F8ED37B04EA0}" type="presParOf" srcId="{D846E2CB-C070-3A4B-90AA-696447A48F86}" destId="{3606870A-DAB5-334F-A0BE-A083B22B7DA4}" srcOrd="0" destOrd="0" presId="urn:microsoft.com/office/officeart/2005/8/layout/vList2"/>
    <dgm:cxn modelId="{E57D4E19-87E9-4245-B537-CC53D5840108}" type="presParOf" srcId="{D846E2CB-C070-3A4B-90AA-696447A48F86}" destId="{2F690795-15E4-6C4E-97D0-34B2E957BA7B}" srcOrd="1" destOrd="0" presId="urn:microsoft.com/office/officeart/2005/8/layout/vList2"/>
    <dgm:cxn modelId="{A783E0F4-CC15-A448-AC31-9810EE137306}" type="presParOf" srcId="{D846E2CB-C070-3A4B-90AA-696447A48F86}" destId="{D2581B42-5C9E-DF4F-B6EA-8C219719E7B5}" srcOrd="2" destOrd="0" presId="urn:microsoft.com/office/officeart/2005/8/layout/vList2"/>
    <dgm:cxn modelId="{E995760B-09C3-5843-82D1-91604901A328}" type="presParOf" srcId="{D846E2CB-C070-3A4B-90AA-696447A48F86}" destId="{49760C75-765E-4F41-8938-18FA0560BDAF}" srcOrd="3" destOrd="0" presId="urn:microsoft.com/office/officeart/2005/8/layout/vList2"/>
    <dgm:cxn modelId="{B787F991-54E2-654A-8B2E-9A598DEA5C01}" type="presParOf" srcId="{D846E2CB-C070-3A4B-90AA-696447A48F86}" destId="{FD1514AF-9F2D-494C-895E-53CE3968FFA4}" srcOrd="4" destOrd="0" presId="urn:microsoft.com/office/officeart/2005/8/layout/vList2"/>
    <dgm:cxn modelId="{65D14D38-DABC-BC4B-8736-1A5788E6D89B}" type="presParOf" srcId="{D846E2CB-C070-3A4B-90AA-696447A48F86}" destId="{EA186B5F-B9F8-B649-9488-0C29CB4C3F17}" srcOrd="5" destOrd="0" presId="urn:microsoft.com/office/officeart/2005/8/layout/vList2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06870A-DAB5-334F-A0BE-A083B22B7DA4}">
      <dsp:nvSpPr>
        <dsp:cNvPr id="0" name=""/>
        <dsp:cNvSpPr/>
      </dsp:nvSpPr>
      <dsp:spPr>
        <a:xfrm>
          <a:off x="0" y="68623"/>
          <a:ext cx="10540330" cy="551655"/>
        </a:xfrm>
        <a:prstGeom prst="roundRect">
          <a:avLst/>
        </a:prstGeom>
        <a:solidFill>
          <a:schemeClr val="tx2">
            <a:lumMod val="7500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2300" b="0" i="0" kern="1200" dirty="0"/>
            <a:t>Reminder</a:t>
          </a:r>
        </a:p>
      </dsp:txBody>
      <dsp:txXfrm>
        <a:off x="26930" y="95553"/>
        <a:ext cx="10486470" cy="497795"/>
      </dsp:txXfrm>
    </dsp:sp>
    <dsp:sp modelId="{2F690795-15E4-6C4E-97D0-34B2E957BA7B}">
      <dsp:nvSpPr>
        <dsp:cNvPr id="0" name=""/>
        <dsp:cNvSpPr/>
      </dsp:nvSpPr>
      <dsp:spPr>
        <a:xfrm>
          <a:off x="0" y="620278"/>
          <a:ext cx="10540330" cy="928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4655" tIns="29210" rIns="163576" bIns="2921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" sz="1800" kern="1200" dirty="0"/>
            <a:t>Foundations &amp; Baseline (Pre-Checkpoint)</a:t>
          </a:r>
          <a:endParaRPr lang="en" sz="1800" b="0" i="0" kern="1200" dirty="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800" kern="1200" dirty="0"/>
            <a:t>Roadmap And Progress</a:t>
          </a:r>
          <a:endParaRPr lang="en" sz="1800" b="0" i="0" kern="1200" dirty="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" sz="1800" kern="1200" dirty="0"/>
            <a:t>Benchmarks and </a:t>
          </a:r>
          <a:r>
            <a:rPr lang="en-US" sz="1800" kern="1200" dirty="0"/>
            <a:t>Success Criteria</a:t>
          </a:r>
          <a:endParaRPr lang="en" sz="1800" b="0" i="0" kern="1200" dirty="0"/>
        </a:p>
      </dsp:txBody>
      <dsp:txXfrm>
        <a:off x="0" y="620278"/>
        <a:ext cx="10540330" cy="928395"/>
      </dsp:txXfrm>
    </dsp:sp>
    <dsp:sp modelId="{D2581B42-5C9E-DF4F-B6EA-8C219719E7B5}">
      <dsp:nvSpPr>
        <dsp:cNvPr id="0" name=""/>
        <dsp:cNvSpPr/>
      </dsp:nvSpPr>
      <dsp:spPr>
        <a:xfrm>
          <a:off x="0" y="1548673"/>
          <a:ext cx="10540330" cy="551655"/>
        </a:xfrm>
        <a:prstGeom prst="roundRect">
          <a:avLst/>
        </a:prstGeom>
        <a:solidFill>
          <a:schemeClr val="tx2">
            <a:lumMod val="7500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2300" b="0" i="0" kern="1200" dirty="0"/>
            <a:t>Recent Progress And Main Challenges</a:t>
          </a:r>
        </a:p>
      </dsp:txBody>
      <dsp:txXfrm>
        <a:off x="26930" y="1575603"/>
        <a:ext cx="10486470" cy="497795"/>
      </dsp:txXfrm>
    </dsp:sp>
    <dsp:sp modelId="{49760C75-765E-4F41-8938-18FA0560BDAF}">
      <dsp:nvSpPr>
        <dsp:cNvPr id="0" name=""/>
        <dsp:cNvSpPr/>
      </dsp:nvSpPr>
      <dsp:spPr>
        <a:xfrm>
          <a:off x="0" y="2100328"/>
          <a:ext cx="10540330" cy="1571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4655" tIns="29210" rIns="163576" bIns="2921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800" kern="1200" dirty="0"/>
            <a:t>Feature Engineering</a:t>
          </a:r>
          <a:endParaRPr lang="en" sz="1800" b="0" i="0" kern="1200" dirty="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800" kern="1200" dirty="0"/>
            <a:t>“Model Zoo” Experiment- F</a:t>
          </a:r>
          <a:r>
            <a:rPr lang="he-IL" sz="1800" kern="1200" dirty="0" err="1"/>
            <a:t>ramework</a:t>
          </a:r>
          <a:endParaRPr lang="en" sz="1800" b="0" i="0" kern="1200" dirty="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800" kern="1200" dirty="0"/>
            <a:t>“Model Zoo” Experiment- Results</a:t>
          </a:r>
          <a:endParaRPr lang="en" sz="1800" b="0" i="0" kern="1200" dirty="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800" kern="1200" dirty="0"/>
            <a:t>Feature Selection</a:t>
          </a:r>
          <a:endParaRPr lang="en" sz="1800" b="0" i="0" kern="1200" dirty="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800" kern="1200" dirty="0"/>
            <a:t>Bull &amp; Bear regimes</a:t>
          </a:r>
          <a:endParaRPr lang="en" sz="1800" b="0" i="0" kern="1200" dirty="0"/>
        </a:p>
      </dsp:txBody>
      <dsp:txXfrm>
        <a:off x="0" y="2100328"/>
        <a:ext cx="10540330" cy="1571130"/>
      </dsp:txXfrm>
    </dsp:sp>
    <dsp:sp modelId="{FD1514AF-9F2D-494C-895E-53CE3968FFA4}">
      <dsp:nvSpPr>
        <dsp:cNvPr id="0" name=""/>
        <dsp:cNvSpPr/>
      </dsp:nvSpPr>
      <dsp:spPr>
        <a:xfrm>
          <a:off x="0" y="3671458"/>
          <a:ext cx="10540330" cy="551655"/>
        </a:xfrm>
        <a:prstGeom prst="roundRect">
          <a:avLst/>
        </a:prstGeom>
        <a:solidFill>
          <a:schemeClr val="tx2">
            <a:lumMod val="7500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Project status </a:t>
          </a:r>
          <a:endParaRPr lang="en" sz="2300" b="0" i="0" kern="1200" dirty="0"/>
        </a:p>
      </dsp:txBody>
      <dsp:txXfrm>
        <a:off x="26930" y="3698388"/>
        <a:ext cx="10486470" cy="497795"/>
      </dsp:txXfrm>
    </dsp:sp>
    <dsp:sp modelId="{EA186B5F-B9F8-B649-9488-0C29CB4C3F17}">
      <dsp:nvSpPr>
        <dsp:cNvPr id="0" name=""/>
        <dsp:cNvSpPr/>
      </dsp:nvSpPr>
      <dsp:spPr>
        <a:xfrm>
          <a:off x="0" y="4223113"/>
          <a:ext cx="10540330" cy="618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4655" tIns="29210" rIns="163576" bIns="2921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800" kern="1200" dirty="0"/>
            <a:t>Project status – Finished tasks</a:t>
          </a:r>
          <a:endParaRPr lang="en" sz="1800" b="0" i="0" kern="1200" dirty="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800" kern="1200" dirty="0"/>
            <a:t>Project status – Future Directions</a:t>
          </a:r>
          <a:endParaRPr lang="en" sz="1800" b="0" i="0" kern="1200" dirty="0"/>
        </a:p>
      </dsp:txBody>
      <dsp:txXfrm>
        <a:off x="0" y="4223113"/>
        <a:ext cx="10540330" cy="618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EBB1BE45-1CB7-4396-9169-B755BB6ADE02}" type="datetimeFigureOut">
              <a:rPr lang="en-IL" smtClean="0"/>
              <a:t>1/19/26</a:t>
            </a:fld>
            <a:endParaRPr lang="en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C7A60F00-D350-442A-BC31-6786C900FC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12649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2AB27-2F86-BD38-5D35-A9375DCE5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F27235-F891-35D8-6CBF-1F8427F2BE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75A4D0-582B-45CD-E0B8-8CE2CAF38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95894F-921E-B693-98AA-BE949CA920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578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60F00-D350-442A-BC31-6786C900FCCD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4619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60F00-D350-442A-BC31-6786C900FCCD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87925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CFD5B-53E2-D8AA-E57E-CD45F86E0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0D7A5884-9F56-E457-18BE-C40E4DCE79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DEF95742-A4A0-0154-DEDF-410DD9A3C9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7F1F426-2191-162B-6244-46BEC8EFA9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60F00-D350-442A-BC31-6786C900FCCD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72238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64923-EDDE-DD44-C908-E19BABC03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BF79A72C-0AF7-3C57-40B5-4761E37A2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61DDE9DD-9977-5D66-E2DB-999AEC63A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C2FAC765-5B6D-D357-E1BC-B9E9D70EAC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60F00-D350-442A-BC31-6786C900FCCD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48237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8B9DA-8E1A-5656-6035-CE310E792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FF9AC7E9-A05D-2EEF-4ADE-56DBBA5841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C9F2DA91-4B30-CCFE-40A1-04F0173BD4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421A2422-72D9-1AED-76DB-4ABAE1B034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60F00-D350-442A-BC31-6786C900FCCD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848921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04805-C1D3-EAFD-25FE-E01462D08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7AC04CC6-BFAD-6AD2-AC67-D3CEE88207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AB953DC9-E4A5-F648-5700-14E366B82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6F95429-784A-75BA-3563-99456F97AC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60F00-D350-442A-BC31-6786C900FCCD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999446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9EA0A-D485-FEFB-B53C-27E755DA8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43FB2A8-2570-EA33-2AA7-422CA492A8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7556467-A428-9495-DCE6-C7BC30A93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68E8529-62B9-4430-ACE4-C2744AEC1B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60F00-D350-442A-BC31-6786C900FCCD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666295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8BB75-413A-D82F-7D1C-4167CCBAD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E535B98F-F361-3B5F-220F-73FC436334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13E0A975-0CE8-D7F4-9D48-AD105A06E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D25CD37-86D3-2102-82EE-D5081310FB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60F00-D350-442A-BC31-6786C900FCCD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670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4B9C7-584C-80CE-EDB5-884BCAA3B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937B61D1-F0A5-C72D-5BE0-48983791D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B6230886-6B82-8483-F465-9C094FB888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425854C9-75F9-3983-DE80-66457B3EBC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60F00-D350-442A-BC31-6786C900FCCD}" type="slidenum">
              <a:rPr lang="en-IL" smtClean="0"/>
              <a:t>12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845545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508A6-2059-D9BE-DAF6-36A572A4E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223C42F1-EA41-7B80-ECF5-B52C116DE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76D71B4D-55B9-6946-860B-EEA8ABB43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9C98A106-4BC5-A5F0-E395-28CE4022CA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60F00-D350-442A-BC31-6786C900FCCD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222567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53E50-A1A3-98BB-6B4B-F3A164C8F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1408384B-806C-C77B-8971-BC45BBD29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18E7412-8281-6ECF-FCED-69891F8BB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9DA14E20-3B0B-E4BB-20FB-13A7CCFEE3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60F00-D350-442A-BC31-6786C900FCCD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011097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BB6D7-3438-48F0-F175-D62F3DA55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10E57ED5-04FE-45C8-63C0-8A88E3B13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C6B282AF-A352-D2ED-E656-BA1055C83C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F040DE87-B6CF-6DDA-7854-96F660037C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60F00-D350-442A-BC31-6786C900FCCD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914124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C5176-FDBF-D84D-E0D4-505361024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07BEF031-EF31-ECFF-141A-931BDF39E7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7817732F-B7A1-1953-7F73-A3AC9F0D6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0A07107-D31F-17D1-E041-46DCD98BF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60F00-D350-442A-BC31-6786C900FCCD}" type="slidenum">
              <a:rPr lang="en-IL" smtClean="0"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84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013E2-91A7-D89F-60B4-3752D4962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63D4CDDF-FD60-34AD-4DAA-E5A74FC1BF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2BB13A7E-2DBD-F77A-3DFD-4B766E1B9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DC275E1-17F4-0180-781D-E556AD5DBE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60F00-D350-442A-BC31-6786C900FCCD}" type="slidenum">
              <a:rPr lang="en-IL" smtClean="0"/>
              <a:t>17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286098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261C9-E3F7-146B-9FB0-BF228897E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88B1C9E9-2FE6-B783-B678-2D7BB97CBA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117C3821-217B-5AC0-6B47-F75FAC2FE6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C022E127-4C8D-D462-6C09-DA046E01DC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60F00-D350-442A-BC31-6786C900FCCD}" type="slidenum">
              <a:rPr lang="en-IL" smtClean="0"/>
              <a:t>18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46906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F66E4-06DE-0B40-BCA4-D92B925EC948}" type="datetime13">
              <a:rPr lang="he-IL" smtClean="0"/>
              <a:t>19/1/2026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Workshop - Project Options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62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310-300F-EA41-93E9-AF345995A55A}" type="datetime13">
              <a:rPr lang="he-IL" smtClean="0"/>
              <a:t>19/1/2026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Workshop - Project Options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39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02750-F344-EA49-A46F-381423429D01}" type="datetime13">
              <a:rPr lang="he-IL" smtClean="0"/>
              <a:t>19/1/2026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Workshop - Project Options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510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7DBA8-90D0-AA42-9A42-ED7A3AEB6C51}" type="datetime13">
              <a:rPr lang="he-IL" smtClean="0"/>
              <a:t>19/1/2026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Workshop - Project Options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93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F3303-2B75-724A-9960-61AFF1FB627A}" type="datetime13">
              <a:rPr lang="he-IL" smtClean="0"/>
              <a:t>19/1/2026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Workshop - Project Options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660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5A8D-213E-BE43-978A-A6A5A5743FF1}" type="datetime13">
              <a:rPr lang="he-IL" smtClean="0"/>
              <a:t>19/1/2026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</a:t>
            </a:r>
            <a:r>
              <a:rPr lang="en-US" sz="1200" kern="120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Science|Team</a:t>
            </a:r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 003| Final Presentation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010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1A792BA-DE5A-904A-B48C-83C9489152F3}" type="datetime13">
              <a:rPr lang="he-IL" smtClean="0"/>
              <a:pPr/>
              <a:t>19/1/2026</a:t>
            </a:fld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</a:t>
            </a:r>
            <a:r>
              <a:rPr lang="en-US" sz="1200" kern="120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Science|Team</a:t>
            </a:r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 003| Final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Picture 8" descr="Blavatnik School of Computer Science and AI, Tel Aviv University: Alumni  and Graduates | LinkedIn">
            <a:extLst>
              <a:ext uri="{FF2B5EF4-FFF2-40B4-BE49-F238E27FC236}">
                <a16:creationId xmlns:a16="http://schemas.microsoft.com/office/drawing/2014/main" id="{D8F90D1E-20E7-6194-9BE3-D1E1A074056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23" y="0"/>
            <a:ext cx="766188" cy="766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A1E79E24-B96C-E9D8-2B27-9FEBED8A5E8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66113" y1="50293" x2="66113" y2="50293"/>
                        <a14:foregroundMark x1="79883" y1="34863" x2="79883" y2="34863"/>
                        <a14:foregroundMark x1="72559" y1="34473" x2="72559" y2="34473"/>
                        <a14:foregroundMark x1="74609" y1="38965" x2="74609" y2="38965"/>
                        <a14:foregroundMark x1="66504" y1="59961" x2="66504" y2="59961"/>
                        <a14:foregroundMark x1="66113" y1="66406" x2="66113" y2="66406"/>
                        <a14:foregroundMark x1="65332" y1="73340" x2="65332" y2="73340"/>
                        <a14:foregroundMark x1="45410" y1="67285" x2="45410" y2="67285"/>
                        <a14:foregroundMark x1="38184" y1="67285" x2="38184" y2="67285"/>
                        <a14:foregroundMark x1="25586" y1="68457" x2="25586" y2="68457"/>
                        <a14:foregroundMark x1="28906" y1="62012" x2="28906" y2="62012"/>
                        <a14:foregroundMark x1="19141" y1="71680" x2="19141" y2="71680"/>
                      </a14:backgroundRemoval>
                    </a14:imgEffect>
                  </a14:imgLayer>
                </a14:imgProps>
              </a:ext>
            </a:extLst>
          </a:blip>
          <a:srcRect l="12615" t="13933" r="15503" b="14186"/>
          <a:stretch>
            <a:fillRect/>
          </a:stretch>
        </p:blipFill>
        <p:spPr>
          <a:xfrm>
            <a:off x="11350257" y="1186"/>
            <a:ext cx="841743" cy="841743"/>
          </a:xfrm>
          <a:prstGeom prst="rect">
            <a:avLst/>
          </a:prstGeom>
          <a:effectLst/>
        </p:spPr>
      </p:pic>
      <p:sp>
        <p:nvSpPr>
          <p:cNvPr id="8" name="Shape 1">
            <a:extLst>
              <a:ext uri="{FF2B5EF4-FFF2-40B4-BE49-F238E27FC236}">
                <a16:creationId xmlns:a16="http://schemas.microsoft.com/office/drawing/2014/main" id="{87F0A4E3-DF9F-7DE1-60CC-38405390CAA1}"/>
              </a:ext>
            </a:extLst>
          </p:cNvPr>
          <p:cNvSpPr/>
          <p:nvPr userDrawn="1"/>
        </p:nvSpPr>
        <p:spPr>
          <a:xfrm>
            <a:off x="757799" y="752384"/>
            <a:ext cx="4068201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chemeClr val="tx2">
                <a:lumMod val="50000"/>
              </a:schemeClr>
            </a:solidFill>
            <a:prstDash val="solid"/>
          </a:ln>
        </p:spPr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1C66FF52-6A5B-99AD-6E7F-F44B8FFEE855}"/>
              </a:ext>
            </a:extLst>
          </p:cNvPr>
          <p:cNvSpPr/>
          <p:nvPr userDrawn="1"/>
        </p:nvSpPr>
        <p:spPr>
          <a:xfrm>
            <a:off x="4947814" y="752384"/>
            <a:ext cx="3077751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E9DFF395-35A5-F46A-7F7A-58BDC45ED0AB}"/>
              </a:ext>
            </a:extLst>
          </p:cNvPr>
          <p:cNvSpPr/>
          <p:nvPr userDrawn="1"/>
        </p:nvSpPr>
        <p:spPr>
          <a:xfrm>
            <a:off x="8147380" y="752384"/>
            <a:ext cx="1896350" cy="4571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2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6A8CA0FE-EEF4-B794-0772-1D110613737D}"/>
              </a:ext>
            </a:extLst>
          </p:cNvPr>
          <p:cNvSpPr/>
          <p:nvPr userDrawn="1"/>
        </p:nvSpPr>
        <p:spPr>
          <a:xfrm>
            <a:off x="10160000" y="752383"/>
            <a:ext cx="1178658" cy="457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12" name="כותרת 11">
            <a:extLst>
              <a:ext uri="{FF2B5EF4-FFF2-40B4-BE49-F238E27FC236}">
                <a16:creationId xmlns:a16="http://schemas.microsoft.com/office/drawing/2014/main" id="{2C15EBFE-6E02-6695-88E3-71E0F7965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328" y="136523"/>
            <a:ext cx="10540330" cy="614483"/>
          </a:xfrm>
        </p:spPr>
        <p:txBody>
          <a:bodyPr/>
          <a:lstStyle>
            <a:lvl1pPr algn="l" rtl="0">
              <a:defRPr sz="40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</p:spTree>
    <p:extLst>
      <p:ext uri="{BB962C8B-B14F-4D97-AF65-F5344CB8AC3E}">
        <p14:creationId xmlns:p14="http://schemas.microsoft.com/office/powerpoint/2010/main" val="2105589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403C-09DB-3844-9712-8DBC90134995}" type="datetime13">
              <a:rPr lang="he-IL" smtClean="0"/>
              <a:t>19/1/2026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Workshop - Project Options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74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4B927-E40F-1F45-B303-502F6E359B11}" type="datetime13">
              <a:rPr lang="he-IL" smtClean="0"/>
              <a:t>19/1/2026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Workshop - Project Options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202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D2B9-D026-6142-837F-6E665A79104F}" type="datetime13">
              <a:rPr lang="he-IL" smtClean="0"/>
              <a:t>19/1/2026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Workshop - Project Options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220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DE16-B89B-4947-B45B-F5CDDF51DE33}" type="datetime13">
              <a:rPr lang="he-IL" smtClean="0"/>
              <a:t>19/1/2026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Workshop - Project Options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27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722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800AD9-F236-2F43-BB94-EFEF07D6F6F7}" type="datetime13">
              <a:rPr lang="he-IL" smtClean="0"/>
              <a:t>19/1/2026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1" eaLnBrk="1" latinLnBrk="0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</a:t>
            </a:r>
            <a:r>
              <a:rPr lang="en-US" sz="1200" kern="120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Science|Team</a:t>
            </a:r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 003| Final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711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15097-9DAB-AFE1-5759-8CD3E79EA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1544910-D0B2-705A-6816-3265B4C0A25F}"/>
              </a:ext>
            </a:extLst>
          </p:cNvPr>
          <p:cNvSpPr/>
          <p:nvPr/>
        </p:nvSpPr>
        <p:spPr>
          <a:xfrm>
            <a:off x="548640" y="4663440"/>
            <a:ext cx="1331330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  <a:alpha val="30000"/>
              </a:schemeClr>
            </a:solidFill>
            <a:prstDash val="solid"/>
          </a:ln>
        </p:spPr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BD82E48-D8C2-6723-5B4D-466194B7B730}"/>
              </a:ext>
            </a:extLst>
          </p:cNvPr>
          <p:cNvSpPr/>
          <p:nvPr/>
        </p:nvSpPr>
        <p:spPr>
          <a:xfrm>
            <a:off x="1879970" y="4498848"/>
            <a:ext cx="2329827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FE9EB95-89F7-E176-E69E-F1D2EC6E253E}"/>
              </a:ext>
            </a:extLst>
          </p:cNvPr>
          <p:cNvSpPr/>
          <p:nvPr/>
        </p:nvSpPr>
        <p:spPr>
          <a:xfrm>
            <a:off x="4209797" y="4334256"/>
            <a:ext cx="1664162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E08706D-DA77-53B5-451C-C6DB8E043F2F}"/>
              </a:ext>
            </a:extLst>
          </p:cNvPr>
          <p:cNvSpPr/>
          <p:nvPr/>
        </p:nvSpPr>
        <p:spPr>
          <a:xfrm>
            <a:off x="5873959" y="4169664"/>
            <a:ext cx="1553218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AA30F62-C748-B484-34EE-B64654D53EEB}"/>
              </a:ext>
            </a:extLst>
          </p:cNvPr>
          <p:cNvSpPr/>
          <p:nvPr/>
        </p:nvSpPr>
        <p:spPr>
          <a:xfrm>
            <a:off x="7427177" y="4037990"/>
            <a:ext cx="1775106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72F8266-72D9-2013-6222-5867F8456608}"/>
              </a:ext>
            </a:extLst>
          </p:cNvPr>
          <p:cNvSpPr/>
          <p:nvPr/>
        </p:nvSpPr>
        <p:spPr>
          <a:xfrm>
            <a:off x="9202284" y="3928262"/>
            <a:ext cx="776609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C40EC7A-AA33-A29C-1C4E-8B66960D247A}"/>
              </a:ext>
            </a:extLst>
          </p:cNvPr>
          <p:cNvSpPr/>
          <p:nvPr/>
        </p:nvSpPr>
        <p:spPr>
          <a:xfrm>
            <a:off x="548640" y="14630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46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D9E219C-BDF3-BA29-26BD-395943EF5FC1}"/>
              </a:ext>
            </a:extLst>
          </p:cNvPr>
          <p:cNvSpPr/>
          <p:nvPr/>
        </p:nvSpPr>
        <p:spPr>
          <a:xfrm>
            <a:off x="548640" y="2971800"/>
            <a:ext cx="3474720" cy="54864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chemeClr val="tx2">
                <a:lumMod val="50000"/>
              </a:schemeClr>
            </a:solidFill>
            <a:prstDash val="solid"/>
          </a:ln>
        </p:spPr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D48CFC7-9B6F-D69D-9C69-755A69CAACFE}"/>
              </a:ext>
            </a:extLst>
          </p:cNvPr>
          <p:cNvSpPr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003: Itay Mutzafi | Moran Zaks | Shaked Schnarch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E8C23FD-33E6-468F-3D59-E0497B62CB8A}"/>
              </a:ext>
            </a:extLst>
          </p:cNvPr>
          <p:cNvSpPr/>
          <p:nvPr/>
        </p:nvSpPr>
        <p:spPr>
          <a:xfrm>
            <a:off x="548640" y="617220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in Data Science |Fall 2025</a:t>
            </a:r>
            <a:endParaRPr lang="en-US" sz="1400" dirty="0"/>
          </a:p>
        </p:txBody>
      </p:sp>
      <p:pic>
        <p:nvPicPr>
          <p:cNvPr id="13" name="Picture 8" descr="Blavatnik School of Computer Science and AI, Tel Aviv University: Alumni  and Graduates | LinkedIn">
            <a:extLst>
              <a:ext uri="{FF2B5EF4-FFF2-40B4-BE49-F238E27FC236}">
                <a16:creationId xmlns:a16="http://schemas.microsoft.com/office/drawing/2014/main" id="{172AA001-782D-EC62-FDE0-5F89E7111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23" y="0"/>
            <a:ext cx="766188" cy="766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9EFEA11E-80D3-1130-3435-35B23734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66113" y1="50293" x2="66113" y2="50293"/>
                        <a14:foregroundMark x1="79883" y1="34863" x2="79883" y2="34863"/>
                        <a14:foregroundMark x1="72559" y1="34473" x2="72559" y2="34473"/>
                        <a14:foregroundMark x1="74609" y1="38965" x2="74609" y2="38965"/>
                        <a14:foregroundMark x1="66504" y1="59961" x2="66504" y2="59961"/>
                        <a14:foregroundMark x1="66113" y1="66406" x2="66113" y2="66406"/>
                        <a14:foregroundMark x1="65332" y1="73340" x2="65332" y2="73340"/>
                        <a14:foregroundMark x1="45410" y1="67285" x2="45410" y2="67285"/>
                        <a14:foregroundMark x1="38184" y1="67285" x2="38184" y2="67285"/>
                        <a14:foregroundMark x1="25586" y1="68457" x2="25586" y2="68457"/>
                        <a14:foregroundMark x1="28906" y1="62012" x2="28906" y2="62012"/>
                        <a14:foregroundMark x1="19141" y1="71680" x2="19141" y2="71680"/>
                      </a14:backgroundRemoval>
                    </a14:imgEffect>
                  </a14:imgLayer>
                </a14:imgProps>
              </a:ext>
            </a:extLst>
          </a:blip>
          <a:srcRect l="12615" t="13933" r="15503" b="14186"/>
          <a:stretch>
            <a:fillRect/>
          </a:stretch>
        </p:blipFill>
        <p:spPr>
          <a:xfrm>
            <a:off x="11350257" y="-6408"/>
            <a:ext cx="841743" cy="841743"/>
          </a:xfrm>
          <a:prstGeom prst="rect">
            <a:avLst/>
          </a:prstGeom>
          <a:effectLst/>
        </p:spPr>
      </p:pic>
      <p:sp>
        <p:nvSpPr>
          <p:cNvPr id="15" name="Text 6">
            <a:extLst>
              <a:ext uri="{FF2B5EF4-FFF2-40B4-BE49-F238E27FC236}">
                <a16:creationId xmlns:a16="http://schemas.microsoft.com/office/drawing/2014/main" id="{DDBAA585-F140-A59F-B411-7BB0AD6CB548}"/>
              </a:ext>
            </a:extLst>
          </p:cNvPr>
          <p:cNvSpPr/>
          <p:nvPr/>
        </p:nvSpPr>
        <p:spPr>
          <a:xfrm>
            <a:off x="548639" y="2127686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Stock Direction Prediction</a:t>
            </a:r>
          </a:p>
        </p:txBody>
      </p:sp>
    </p:spTree>
    <p:extLst>
      <p:ext uri="{BB962C8B-B14F-4D97-AF65-F5344CB8AC3E}">
        <p14:creationId xmlns:p14="http://schemas.microsoft.com/office/powerpoint/2010/main" val="837070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BCCC4B58-CEB7-CA70-563A-BDA2F590E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e-IL" dirty="0"/>
              <a:t>19/1/2026</a:t>
            </a:r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F375F818-91E0-1B0D-8436-21EBCAD0C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Science|Team 003| Final Presentation</a:t>
            </a:r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857DFDA-2CB2-F6A7-A083-42AE999A0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כותרת 4">
            <a:extLst>
              <a:ext uri="{FF2B5EF4-FFF2-40B4-BE49-F238E27FC236}">
                <a16:creationId xmlns:a16="http://schemas.microsoft.com/office/drawing/2014/main" id="{C1D6AE9E-37E0-5A11-4B79-DE2D39507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 defTabSz="457200" rtl="0" eaLnBrk="1" latinLnBrk="0" hangingPunct="1">
              <a:spcBef>
                <a:spcPct val="0"/>
              </a:spcBef>
              <a:buNone/>
            </a:pPr>
            <a:r>
              <a:rPr lang="en-US" dirty="0"/>
              <a:t>Agenda</a:t>
            </a:r>
            <a:endParaRPr lang="he-IL" dirty="0"/>
          </a:p>
        </p:txBody>
      </p:sp>
      <p:graphicFrame>
        <p:nvGraphicFramePr>
          <p:cNvPr id="12" name="דיאגרמה 11">
            <a:extLst>
              <a:ext uri="{FF2B5EF4-FFF2-40B4-BE49-F238E27FC236}">
                <a16:creationId xmlns:a16="http://schemas.microsoft.com/office/drawing/2014/main" id="{9B12472B-F697-16A5-A088-A7057B256A42}"/>
              </a:ext>
            </a:extLst>
          </p:cNvPr>
          <p:cNvGraphicFramePr/>
          <p:nvPr/>
        </p:nvGraphicFramePr>
        <p:xfrm>
          <a:off x="798328" y="1098345"/>
          <a:ext cx="10540330" cy="4910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04705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D0A8A25A-56E2-8E84-1F36-6E223A65B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Science|Team 003| Final Presentation</a:t>
            </a:r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A1BD4EB-4E5A-797B-C608-619324280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כותרת 4">
            <a:extLst>
              <a:ext uri="{FF2B5EF4-FFF2-40B4-BE49-F238E27FC236}">
                <a16:creationId xmlns:a16="http://schemas.microsoft.com/office/drawing/2014/main" id="{0BD67A6E-5590-DF4A-E058-03D5C108B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 defTabSz="457200" rtl="0" eaLnBrk="1" latinLnBrk="0" hangingPunct="1">
              <a:spcBef>
                <a:spcPct val="0"/>
              </a:spcBef>
              <a:buNone/>
            </a:pPr>
            <a:r>
              <a:rPr lang="en-US" dirty="0"/>
              <a:t>Reminder</a:t>
            </a:r>
            <a:endParaRPr lang="he-IL" dirty="0"/>
          </a:p>
        </p:txBody>
      </p:sp>
      <p:sp>
        <p:nvSpPr>
          <p:cNvPr id="50" name="תיבת טקסט 49">
            <a:extLst>
              <a:ext uri="{FF2B5EF4-FFF2-40B4-BE49-F238E27FC236}">
                <a16:creationId xmlns:a16="http://schemas.microsoft.com/office/drawing/2014/main" id="{36820456-767D-49AB-AD65-A0B008DCBA8D}"/>
              </a:ext>
            </a:extLst>
          </p:cNvPr>
          <p:cNvSpPr txBox="1"/>
          <p:nvPr/>
        </p:nvSpPr>
        <p:spPr>
          <a:xfrm>
            <a:off x="798328" y="948073"/>
            <a:ext cx="11094109" cy="1449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rtl="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b="1" dirty="0">
                <a:solidFill>
                  <a:srgbClr val="1F1F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" b="1" dirty="0">
                <a:solidFill>
                  <a:srgbClr val="1F1F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he Task: </a:t>
            </a:r>
            <a:r>
              <a:rPr lang="en" dirty="0">
                <a:solidFill>
                  <a:srgbClr val="1F1F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Directional of next-day Logarithmic Returns</a:t>
            </a:r>
          </a:p>
          <a:p>
            <a:pPr marL="285750" indent="-285750" algn="l" rtl="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b="1" dirty="0">
                <a:solidFill>
                  <a:srgbClr val="1F1F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Target Universe: </a:t>
            </a:r>
            <a:r>
              <a:rPr lang="en" dirty="0">
                <a:solidFill>
                  <a:srgbClr val="1F1F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Mega-cap technology stocks: </a:t>
            </a:r>
            <a:r>
              <a:rPr lang="en" dirty="0"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AAPL</a:t>
            </a:r>
            <a:r>
              <a:rPr lang="en" dirty="0">
                <a:solidFill>
                  <a:srgbClr val="1F1F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" dirty="0">
                <a:solidFill>
                  <a:srgbClr val="C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MSFT</a:t>
            </a:r>
            <a:r>
              <a:rPr lang="en" dirty="0">
                <a:solidFill>
                  <a:srgbClr val="1F1F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" dirty="0">
                <a:solidFill>
                  <a:srgbClr val="FF93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AMZN</a:t>
            </a:r>
            <a:r>
              <a:rPr lang="en" dirty="0">
                <a:solidFill>
                  <a:srgbClr val="1F1F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" dirty="0">
                <a:solidFill>
                  <a:srgbClr val="0070C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GOOG</a:t>
            </a:r>
            <a:endParaRPr lang="en" dirty="0">
              <a:solidFill>
                <a:srgbClr val="1F1F1F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 rtl="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b="1" dirty="0">
                <a:solidFill>
                  <a:srgbClr val="1F1F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en-US" b="1" dirty="0">
                <a:solidFill>
                  <a:srgbClr val="1F1F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>
                <a:solidFill>
                  <a:srgbClr val="1F1F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Yahoo Finance, News</a:t>
            </a:r>
            <a:endParaRPr lang="en" dirty="0">
              <a:solidFill>
                <a:srgbClr val="1F1F1F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0" name="תמונה 39">
            <a:extLst>
              <a:ext uri="{FF2B5EF4-FFF2-40B4-BE49-F238E27FC236}">
                <a16:creationId xmlns:a16="http://schemas.microsoft.com/office/drawing/2014/main" id="{6D6E5D03-8094-F2FF-C914-D35768DCA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600" y="2397829"/>
            <a:ext cx="7416800" cy="3679331"/>
          </a:xfrm>
          <a:prstGeom prst="rect">
            <a:avLst/>
          </a:prstGeom>
        </p:spPr>
      </p:pic>
      <p:sp>
        <p:nvSpPr>
          <p:cNvPr id="6" name="מציין מיקום של תאריך 1">
            <a:extLst>
              <a:ext uri="{FF2B5EF4-FFF2-40B4-BE49-F238E27FC236}">
                <a16:creationId xmlns:a16="http://schemas.microsoft.com/office/drawing/2014/main" id="{9F33CE3C-DACD-B082-4BA1-576A6DB16F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/>
          <a:p>
            <a:r>
              <a:rPr lang="he-IL" dirty="0"/>
              <a:t>19/1/2026</a:t>
            </a:r>
            <a:endParaRPr lang="en-US" dirty="0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774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C5C70-C8B8-EF2C-D4DD-0134FB401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8C25D115-4ABA-4123-F004-FDAEE46C8805}"/>
              </a:ext>
            </a:extLst>
          </p:cNvPr>
          <p:cNvSpPr txBox="1"/>
          <p:nvPr/>
        </p:nvSpPr>
        <p:spPr>
          <a:xfrm>
            <a:off x="798328" y="1011315"/>
            <a:ext cx="10729058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b="1" dirty="0"/>
              <a:t>Problem Formulation: </a:t>
            </a:r>
            <a:r>
              <a:rPr lang="en" dirty="0"/>
              <a:t>Defined Multi-Task objectives (Regression &amp; Classification) and KPIs</a:t>
            </a:r>
            <a:endParaRPr lang="he-IL" dirty="0"/>
          </a:p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b="1" dirty="0"/>
              <a:t>Core Infrastructure: </a:t>
            </a:r>
            <a:r>
              <a:rPr lang="en" dirty="0"/>
              <a:t>Initialized repository and modular code architecture (</a:t>
            </a:r>
            <a:r>
              <a:rPr lang="en" dirty="0" err="1"/>
              <a:t>src</a:t>
            </a:r>
            <a:r>
              <a:rPr lang="en" dirty="0"/>
              <a:t>)</a:t>
            </a:r>
          </a:p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b="1" dirty="0"/>
              <a:t>EDA </a:t>
            </a:r>
            <a:r>
              <a:rPr lang="en-US" b="1" dirty="0"/>
              <a:t>and</a:t>
            </a:r>
            <a:r>
              <a:rPr lang="en" b="1" dirty="0"/>
              <a:t> Profiling: </a:t>
            </a:r>
            <a:r>
              <a:rPr lang="en" dirty="0"/>
              <a:t>Exploratory Data Analysis and statistical profiling of returns</a:t>
            </a:r>
          </a:p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b="1" dirty="0"/>
              <a:t>Resource Refinement: </a:t>
            </a:r>
            <a:r>
              <a:rPr lang="en" dirty="0"/>
              <a:t>Optimized news scraping and </a:t>
            </a:r>
            <a:r>
              <a:rPr lang="en" dirty="0" err="1"/>
              <a:t>FinBERT</a:t>
            </a:r>
            <a:r>
              <a:rPr lang="en" dirty="0"/>
              <a:t> preprocessing pipelines</a:t>
            </a:r>
          </a:p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b="1" dirty="0"/>
              <a:t>Baseline Engineering: </a:t>
            </a:r>
            <a:r>
              <a:rPr lang="en" dirty="0"/>
              <a:t>Constructed primary OHLCV lags and technical indicators</a:t>
            </a:r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865D343B-AB1B-B466-DA7B-7066807BA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Science|Team 003| Final Presentation</a:t>
            </a:r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B43FA80-2E0A-DF4F-D16F-9799AB68B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כותרת 4">
            <a:extLst>
              <a:ext uri="{FF2B5EF4-FFF2-40B4-BE49-F238E27FC236}">
                <a16:creationId xmlns:a16="http://schemas.microsoft.com/office/drawing/2014/main" id="{29437304-08EB-DAD2-4457-865D109B2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" dirty="0"/>
              <a:t>Foundations &amp; Baseline (Pre-Checkpoint)</a:t>
            </a:r>
          </a:p>
        </p:txBody>
      </p:sp>
      <p:sp>
        <p:nvSpPr>
          <p:cNvPr id="6" name="מציין מיקום של תאריך 1">
            <a:extLst>
              <a:ext uri="{FF2B5EF4-FFF2-40B4-BE49-F238E27FC236}">
                <a16:creationId xmlns:a16="http://schemas.microsoft.com/office/drawing/2014/main" id="{FC9118E0-EEB2-6B7A-D2A5-FBB82C79AA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/>
          <a:p>
            <a:r>
              <a:rPr lang="he-IL" dirty="0"/>
              <a:t>19/1/2026</a:t>
            </a:r>
            <a:endParaRPr lang="en-US" dirty="0">
              <a:cs typeface="Calibri" panose="020F0502020204030204" pitchFamily="34" charset="0"/>
            </a:endParaRP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F67E76A4-8C46-4A89-1424-2C548C3E6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328" y="3531205"/>
            <a:ext cx="3886200" cy="276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665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3E3D9-87A3-F787-AC4C-5B7F3DA18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8DB8A944-961E-BF51-E9D2-0F5D6853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Science|Team 003| Final Presentation</a:t>
            </a:r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2C90B64-1C05-E2EA-FB54-774D6A600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כותרת 4">
            <a:extLst>
              <a:ext uri="{FF2B5EF4-FFF2-40B4-BE49-F238E27FC236}">
                <a16:creationId xmlns:a16="http://schemas.microsoft.com/office/drawing/2014/main" id="{52038FF7-4833-B63A-4510-03CF3D03D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Roadmap And Progress</a:t>
            </a:r>
            <a:endParaRPr lang="he-IL" dirty="0"/>
          </a:p>
        </p:txBody>
      </p:sp>
      <p:sp>
        <p:nvSpPr>
          <p:cNvPr id="6" name="מציין מיקום של תאריך 1">
            <a:extLst>
              <a:ext uri="{FF2B5EF4-FFF2-40B4-BE49-F238E27FC236}">
                <a16:creationId xmlns:a16="http://schemas.microsoft.com/office/drawing/2014/main" id="{C2835EC3-6C3A-0DF8-260F-A95C4871AA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/>
          <a:p>
            <a:r>
              <a:rPr lang="he-IL" dirty="0"/>
              <a:t>19/1/2026</a:t>
            </a:r>
            <a:endParaRPr lang="en-US" dirty="0">
              <a:cs typeface="Calibri" panose="020F0502020204030204" pitchFamily="34" charset="0"/>
            </a:endParaRPr>
          </a:p>
        </p:txBody>
      </p:sp>
      <p:grpSp>
        <p:nvGrpSpPr>
          <p:cNvPr id="7" name="קבוצה 67">
            <a:extLst>
              <a:ext uri="{FF2B5EF4-FFF2-40B4-BE49-F238E27FC236}">
                <a16:creationId xmlns:a16="http://schemas.microsoft.com/office/drawing/2014/main" id="{B4076D2B-0033-4FAD-4343-778582D91C3E}"/>
              </a:ext>
            </a:extLst>
          </p:cNvPr>
          <p:cNvGrpSpPr/>
          <p:nvPr/>
        </p:nvGrpSpPr>
        <p:grpSpPr>
          <a:xfrm>
            <a:off x="842142" y="1429591"/>
            <a:ext cx="10740258" cy="3552346"/>
            <a:chOff x="1800752" y="726534"/>
            <a:chExt cx="8551619" cy="2712067"/>
          </a:xfrm>
        </p:grpSpPr>
        <p:pic>
          <p:nvPicPr>
            <p:cNvPr id="8" name="Picture 5">
              <a:extLst>
                <a:ext uri="{FF2B5EF4-FFF2-40B4-BE49-F238E27FC236}">
                  <a16:creationId xmlns:a16="http://schemas.microsoft.com/office/drawing/2014/main" id="{D0E548CC-71B1-C9A7-CAA7-EB26811EA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-5400000">
              <a:off x="5729553" y="939003"/>
              <a:ext cx="2450568" cy="2450568"/>
            </a:xfrm>
            <a:prstGeom prst="rect">
              <a:avLst/>
            </a:prstGeom>
          </p:spPr>
        </p:pic>
        <p:grpSp>
          <p:nvGrpSpPr>
            <p:cNvPr id="9" name="קבוצה 62">
              <a:extLst>
                <a:ext uri="{FF2B5EF4-FFF2-40B4-BE49-F238E27FC236}">
                  <a16:creationId xmlns:a16="http://schemas.microsoft.com/office/drawing/2014/main" id="{0576AE3C-3F1F-4E2F-4F0E-773C76677D1E}"/>
                </a:ext>
              </a:extLst>
            </p:cNvPr>
            <p:cNvGrpSpPr/>
            <p:nvPr/>
          </p:nvGrpSpPr>
          <p:grpSpPr>
            <a:xfrm>
              <a:off x="1800752" y="726534"/>
              <a:ext cx="8450124" cy="2712067"/>
              <a:chOff x="1797473" y="1253780"/>
              <a:chExt cx="8450124" cy="2712067"/>
            </a:xfrm>
          </p:grpSpPr>
          <p:sp>
            <p:nvSpPr>
              <p:cNvPr id="11" name="TextBox 4">
                <a:extLst>
                  <a:ext uri="{FF2B5EF4-FFF2-40B4-BE49-F238E27FC236}">
                    <a16:creationId xmlns:a16="http://schemas.microsoft.com/office/drawing/2014/main" id="{6DE79475-C5B5-AF3A-B6E4-75D6F1BC885C}"/>
                  </a:ext>
                </a:extLst>
              </p:cNvPr>
              <p:cNvSpPr txBox="1"/>
              <p:nvPr/>
            </p:nvSpPr>
            <p:spPr>
              <a:xfrm>
                <a:off x="1797473" y="1253780"/>
                <a:ext cx="1560059" cy="258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defTabSz="457200" rtl="0"/>
                <a:endParaRPr lang="en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/>
                </a:endParaRPr>
              </a:p>
            </p:txBody>
          </p:sp>
          <p:sp>
            <p:nvSpPr>
              <p:cNvPr id="12" name="TextBox 6">
                <a:extLst>
                  <a:ext uri="{FF2B5EF4-FFF2-40B4-BE49-F238E27FC236}">
                    <a16:creationId xmlns:a16="http://schemas.microsoft.com/office/drawing/2014/main" id="{93657D4F-2C46-066F-4575-E02CAB78E241}"/>
                  </a:ext>
                </a:extLst>
              </p:cNvPr>
              <p:cNvSpPr txBox="1"/>
              <p:nvPr/>
            </p:nvSpPr>
            <p:spPr>
              <a:xfrm>
                <a:off x="3357532" y="3754370"/>
                <a:ext cx="1865057" cy="2114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 algn="l" defTabSz="457200" rtl="0">
                  <a:buFont typeface="Arial" panose="020B0604020202020204" pitchFamily="34" charset="0"/>
                  <a:buChar char="•"/>
                </a:pPr>
                <a:endParaRPr lang="en" sz="12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/>
                </a:endParaRPr>
              </a:p>
            </p:txBody>
          </p:sp>
          <p:grpSp>
            <p:nvGrpSpPr>
              <p:cNvPr id="13" name="Group 2">
                <a:extLst>
                  <a:ext uri="{FF2B5EF4-FFF2-40B4-BE49-F238E27FC236}">
                    <a16:creationId xmlns:a16="http://schemas.microsoft.com/office/drawing/2014/main" id="{24FD0938-BF6A-BC2D-CFF5-E6AEB56E98AD}"/>
                  </a:ext>
                </a:extLst>
              </p:cNvPr>
              <p:cNvGrpSpPr/>
              <p:nvPr/>
            </p:nvGrpSpPr>
            <p:grpSpPr>
              <a:xfrm>
                <a:off x="6946774" y="3274103"/>
                <a:ext cx="1561332" cy="444653"/>
                <a:chOff x="0" y="0"/>
                <a:chExt cx="818182" cy="267928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44" name="Freeform 3">
                  <a:extLst>
                    <a:ext uri="{FF2B5EF4-FFF2-40B4-BE49-F238E27FC236}">
                      <a16:creationId xmlns:a16="http://schemas.microsoft.com/office/drawing/2014/main" id="{3CE5D269-1429-F2D6-A770-F9326D0AA6A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8182" cy="267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8182" h="267928">
                      <a:moveTo>
                        <a:pt x="0" y="0"/>
                      </a:moveTo>
                      <a:lnTo>
                        <a:pt x="818182" y="0"/>
                      </a:lnTo>
                      <a:lnTo>
                        <a:pt x="818182" y="267928"/>
                      </a:lnTo>
                      <a:lnTo>
                        <a:pt x="0" y="267928"/>
                      </a:ln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pPr algn="l" defTabSz="457200" rtl="0"/>
                  <a:endParaRPr lang="en-IL" sz="9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libri"/>
                  </a:endParaRPr>
                </a:p>
              </p:txBody>
            </p:sp>
            <p:sp>
              <p:nvSpPr>
                <p:cNvPr id="45" name="TextBox 4">
                  <a:extLst>
                    <a:ext uri="{FF2B5EF4-FFF2-40B4-BE49-F238E27FC236}">
                      <a16:creationId xmlns:a16="http://schemas.microsoft.com/office/drawing/2014/main" id="{3DA2DCBB-28D8-220A-F554-96B9E2E275A1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818182" cy="296503"/>
                </a:xfrm>
                <a:prstGeom prst="rect">
                  <a:avLst/>
                </a:prstGeom>
                <a:grpFill/>
              </p:spPr>
              <p:txBody>
                <a:bodyPr lIns="25400" tIns="25400" rIns="25400" bIns="25400" rtlCol="0" anchor="ctr"/>
                <a:lstStyle/>
                <a:p>
                  <a:pPr algn="ctr" defTabSz="457200" rtl="0">
                    <a:lnSpc>
                      <a:spcPts val="1260"/>
                    </a:lnSpc>
                  </a:pPr>
                  <a:endParaRPr sz="90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libri"/>
                  </a:endParaRPr>
                </a:p>
              </p:txBody>
            </p:sp>
          </p:grpSp>
          <p:grpSp>
            <p:nvGrpSpPr>
              <p:cNvPr id="14" name="Group 6">
                <a:extLst>
                  <a:ext uri="{FF2B5EF4-FFF2-40B4-BE49-F238E27FC236}">
                    <a16:creationId xmlns:a16="http://schemas.microsoft.com/office/drawing/2014/main" id="{76484D54-CA9C-2D19-72CE-5417D42E63FF}"/>
                  </a:ext>
                </a:extLst>
              </p:cNvPr>
              <p:cNvGrpSpPr/>
              <p:nvPr/>
            </p:nvGrpSpPr>
            <p:grpSpPr>
              <a:xfrm>
                <a:off x="1806273" y="3210113"/>
                <a:ext cx="5148565" cy="508644"/>
                <a:chOff x="0" y="0"/>
                <a:chExt cx="2582108" cy="267928"/>
              </a:xfrm>
            </p:grpSpPr>
            <p:sp>
              <p:nvSpPr>
                <p:cNvPr id="42" name="Freeform 7">
                  <a:extLst>
                    <a:ext uri="{FF2B5EF4-FFF2-40B4-BE49-F238E27FC236}">
                      <a16:creationId xmlns:a16="http://schemas.microsoft.com/office/drawing/2014/main" id="{047E6F5E-3059-A889-9621-086CD59DC0B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582108" cy="267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2108" h="267928">
                      <a:moveTo>
                        <a:pt x="0" y="0"/>
                      </a:moveTo>
                      <a:lnTo>
                        <a:pt x="2582108" y="0"/>
                      </a:lnTo>
                      <a:lnTo>
                        <a:pt x="2582108" y="267928"/>
                      </a:lnTo>
                      <a:lnTo>
                        <a:pt x="0" y="267928"/>
                      </a:lnTo>
                      <a:close/>
                    </a:path>
                  </a:pathLst>
                </a:custGeom>
                <a:solidFill>
                  <a:srgbClr val="C1C7D0"/>
                </a:solidFill>
              </p:spPr>
              <p:txBody>
                <a:bodyPr/>
                <a:lstStyle/>
                <a:p>
                  <a:pPr algn="l" defTabSz="457200" rtl="0"/>
                  <a:endParaRPr lang="en-IL" sz="90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libri"/>
                  </a:endParaRPr>
                </a:p>
              </p:txBody>
            </p:sp>
            <p:sp>
              <p:nvSpPr>
                <p:cNvPr id="43" name="TextBox 8">
                  <a:extLst>
                    <a:ext uri="{FF2B5EF4-FFF2-40B4-BE49-F238E27FC236}">
                      <a16:creationId xmlns:a16="http://schemas.microsoft.com/office/drawing/2014/main" id="{6AF37B2D-EC6A-B38F-D9F1-4410B264FB07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2582108" cy="296503"/>
                </a:xfrm>
                <a:prstGeom prst="rect">
                  <a:avLst/>
                </a:prstGeom>
              </p:spPr>
              <p:txBody>
                <a:bodyPr lIns="25400" tIns="25400" rIns="25400" bIns="25400" rtlCol="0" anchor="ctr"/>
                <a:lstStyle/>
                <a:p>
                  <a:pPr algn="ctr" defTabSz="457200" rtl="0">
                    <a:lnSpc>
                      <a:spcPts val="1260"/>
                    </a:lnSpc>
                  </a:pPr>
                  <a:endParaRPr sz="90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libri"/>
                  </a:endParaRPr>
                </a:p>
              </p:txBody>
            </p:sp>
          </p:grpSp>
          <p:grpSp>
            <p:nvGrpSpPr>
              <p:cNvPr id="15" name="Group 9">
                <a:extLst>
                  <a:ext uri="{FF2B5EF4-FFF2-40B4-BE49-F238E27FC236}">
                    <a16:creationId xmlns:a16="http://schemas.microsoft.com/office/drawing/2014/main" id="{FDD7AFAF-5603-B7C4-C49F-1AD1CB6E663F}"/>
                  </a:ext>
                </a:extLst>
              </p:cNvPr>
              <p:cNvGrpSpPr/>
              <p:nvPr/>
            </p:nvGrpSpPr>
            <p:grpSpPr>
              <a:xfrm>
                <a:off x="5847871" y="2697688"/>
                <a:ext cx="735013" cy="276941"/>
                <a:chOff x="0" y="0"/>
                <a:chExt cx="600197" cy="226144"/>
              </a:xfrm>
            </p:grpSpPr>
            <p:sp>
              <p:nvSpPr>
                <p:cNvPr id="40" name="Freeform 10">
                  <a:extLst>
                    <a:ext uri="{FF2B5EF4-FFF2-40B4-BE49-F238E27FC236}">
                      <a16:creationId xmlns:a16="http://schemas.microsoft.com/office/drawing/2014/main" id="{0B6B145F-66E5-23E1-B076-521BE2CC71A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00197" cy="2261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0197" h="226144">
                      <a:moveTo>
                        <a:pt x="300099" y="226144"/>
                      </a:moveTo>
                      <a:lnTo>
                        <a:pt x="600197" y="0"/>
                      </a:lnTo>
                      <a:lnTo>
                        <a:pt x="0" y="0"/>
                      </a:lnTo>
                      <a:lnTo>
                        <a:pt x="300099" y="226144"/>
                      </a:lnTo>
                      <a:close/>
                    </a:path>
                  </a:pathLst>
                </a:custGeom>
                <a:solidFill>
                  <a:srgbClr val="C1C7D0"/>
                </a:solidFill>
              </p:spPr>
              <p:txBody>
                <a:bodyPr/>
                <a:lstStyle/>
                <a:p>
                  <a:pPr algn="l" defTabSz="457200" rtl="0"/>
                  <a:endParaRPr lang="en-IL" sz="90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libri"/>
                  </a:endParaRPr>
                </a:p>
              </p:txBody>
            </p:sp>
            <p:sp>
              <p:nvSpPr>
                <p:cNvPr id="41" name="TextBox 11">
                  <a:extLst>
                    <a:ext uri="{FF2B5EF4-FFF2-40B4-BE49-F238E27FC236}">
                      <a16:creationId xmlns:a16="http://schemas.microsoft.com/office/drawing/2014/main" id="{9274AD3F-00F4-BE58-A255-03E6D2FF1443}"/>
                    </a:ext>
                  </a:extLst>
                </p:cNvPr>
                <p:cNvSpPr txBox="1"/>
                <p:nvPr/>
              </p:nvSpPr>
              <p:spPr>
                <a:xfrm>
                  <a:off x="93781" y="-12422"/>
                  <a:ext cx="412636" cy="133571"/>
                </a:xfrm>
                <a:prstGeom prst="rect">
                  <a:avLst/>
                </a:prstGeom>
              </p:spPr>
              <p:txBody>
                <a:bodyPr lIns="25400" tIns="25400" rIns="25400" bIns="25400" rtlCol="0" anchor="ctr"/>
                <a:lstStyle/>
                <a:p>
                  <a:pPr algn="ctr" defTabSz="457200" rtl="0">
                    <a:lnSpc>
                      <a:spcPts val="1260"/>
                    </a:lnSpc>
                  </a:pPr>
                  <a:endParaRPr sz="90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libri"/>
                  </a:endParaRPr>
                </a:p>
              </p:txBody>
            </p:sp>
          </p:grpSp>
          <p:grpSp>
            <p:nvGrpSpPr>
              <p:cNvPr id="16" name="Group 12">
                <a:extLst>
                  <a:ext uri="{FF2B5EF4-FFF2-40B4-BE49-F238E27FC236}">
                    <a16:creationId xmlns:a16="http://schemas.microsoft.com/office/drawing/2014/main" id="{DD3C8D60-9AA5-892F-6EFD-40002DF040A8}"/>
                  </a:ext>
                </a:extLst>
              </p:cNvPr>
              <p:cNvGrpSpPr/>
              <p:nvPr/>
            </p:nvGrpSpPr>
            <p:grpSpPr>
              <a:xfrm>
                <a:off x="1822894" y="3182235"/>
                <a:ext cx="1464082" cy="536522"/>
                <a:chOff x="-242600" y="-14685"/>
                <a:chExt cx="771203" cy="282613"/>
              </a:xfrm>
            </p:grpSpPr>
            <p:sp>
              <p:nvSpPr>
                <p:cNvPr id="38" name="Freeform 13">
                  <a:extLst>
                    <a:ext uri="{FF2B5EF4-FFF2-40B4-BE49-F238E27FC236}">
                      <a16:creationId xmlns:a16="http://schemas.microsoft.com/office/drawing/2014/main" id="{B3433E4E-1DAA-7703-02C8-9F072DEC6871}"/>
                    </a:ext>
                  </a:extLst>
                </p:cNvPr>
                <p:cNvSpPr/>
                <p:nvPr/>
              </p:nvSpPr>
              <p:spPr>
                <a:xfrm>
                  <a:off x="-176099" y="0"/>
                  <a:ext cx="627161" cy="267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161" h="267928">
                      <a:moveTo>
                        <a:pt x="133964" y="0"/>
                      </a:moveTo>
                      <a:lnTo>
                        <a:pt x="493197" y="0"/>
                      </a:lnTo>
                      <a:cubicBezTo>
                        <a:pt x="567183" y="0"/>
                        <a:pt x="627161" y="59978"/>
                        <a:pt x="627161" y="133964"/>
                      </a:cubicBezTo>
                      <a:lnTo>
                        <a:pt x="627161" y="133964"/>
                      </a:lnTo>
                      <a:cubicBezTo>
                        <a:pt x="627161" y="207950"/>
                        <a:pt x="567183" y="267928"/>
                        <a:pt x="493197" y="267928"/>
                      </a:cubicBezTo>
                      <a:lnTo>
                        <a:pt x="133964" y="267928"/>
                      </a:lnTo>
                      <a:cubicBezTo>
                        <a:pt x="59978" y="267928"/>
                        <a:pt x="0" y="207950"/>
                        <a:pt x="0" y="133964"/>
                      </a:cubicBezTo>
                      <a:lnTo>
                        <a:pt x="0" y="133964"/>
                      </a:lnTo>
                      <a:cubicBezTo>
                        <a:pt x="0" y="59978"/>
                        <a:pt x="59978" y="0"/>
                        <a:pt x="133964" y="0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pPr marL="0" algn="r" defTabSz="457200" rtl="1" eaLnBrk="1" latinLnBrk="0" hangingPunct="1"/>
                  <a:endParaRPr lang="en-IL" sz="10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libri"/>
                  </a:endParaRPr>
                </a:p>
              </p:txBody>
            </p:sp>
            <p:sp>
              <p:nvSpPr>
                <p:cNvPr id="39" name="TextBox 14">
                  <a:extLst>
                    <a:ext uri="{FF2B5EF4-FFF2-40B4-BE49-F238E27FC236}">
                      <a16:creationId xmlns:a16="http://schemas.microsoft.com/office/drawing/2014/main" id="{64484835-F52A-00C7-801C-A9FF83419AD1}"/>
                    </a:ext>
                  </a:extLst>
                </p:cNvPr>
                <p:cNvSpPr txBox="1"/>
                <p:nvPr/>
              </p:nvSpPr>
              <p:spPr>
                <a:xfrm>
                  <a:off x="-242600" y="-14685"/>
                  <a:ext cx="771203" cy="278009"/>
                </a:xfrm>
                <a:prstGeom prst="rect">
                  <a:avLst/>
                </a:prstGeom>
              </p:spPr>
              <p:txBody>
                <a:bodyPr lIns="25400" tIns="25400" rIns="25400" bIns="25400" rtlCol="0" anchor="ctr"/>
                <a:lstStyle/>
                <a:p>
                  <a:pPr algn="ctr" defTabSz="457200" rtl="0">
                    <a:lnSpc>
                      <a:spcPts val="1260"/>
                    </a:lnSpc>
                  </a:pPr>
                  <a:r>
                    <a:rPr lang="en-US" sz="1400" dirty="0">
                      <a:ln w="0"/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Calibri"/>
                      <a:ea typeface="Open Sans Bold"/>
                      <a:cs typeface="Open Sans Bold"/>
                      <a:sym typeface="Open Sans Bold"/>
                    </a:rPr>
                    <a:t>Business </a:t>
                  </a:r>
                </a:p>
                <a:p>
                  <a:pPr algn="ctr" defTabSz="457200" rtl="0">
                    <a:lnSpc>
                      <a:spcPts val="1260"/>
                    </a:lnSpc>
                  </a:pPr>
                  <a:r>
                    <a:rPr lang="en-US" sz="1400" dirty="0">
                      <a:ln w="0"/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Calibri"/>
                      <a:ea typeface="Open Sans Bold"/>
                      <a:cs typeface="Open Sans Bold"/>
                      <a:sym typeface="Open Sans Bold"/>
                    </a:rPr>
                    <a:t>Understanding</a:t>
                  </a:r>
                </a:p>
              </p:txBody>
            </p:sp>
          </p:grpSp>
          <p:grpSp>
            <p:nvGrpSpPr>
              <p:cNvPr id="17" name="Group 15">
                <a:extLst>
                  <a:ext uri="{FF2B5EF4-FFF2-40B4-BE49-F238E27FC236}">
                    <a16:creationId xmlns:a16="http://schemas.microsoft.com/office/drawing/2014/main" id="{264CEC6D-2289-2155-7199-C55499E27F67}"/>
                  </a:ext>
                </a:extLst>
              </p:cNvPr>
              <p:cNvGrpSpPr/>
              <p:nvPr/>
            </p:nvGrpSpPr>
            <p:grpSpPr>
              <a:xfrm>
                <a:off x="3656489" y="3155865"/>
                <a:ext cx="1190627" cy="562891"/>
                <a:chOff x="0" y="-28575"/>
                <a:chExt cx="627161" cy="296503"/>
              </a:xfrm>
            </p:grpSpPr>
            <p:sp>
              <p:nvSpPr>
                <p:cNvPr id="36" name="Freeform 16">
                  <a:extLst>
                    <a:ext uri="{FF2B5EF4-FFF2-40B4-BE49-F238E27FC236}">
                      <a16:creationId xmlns:a16="http://schemas.microsoft.com/office/drawing/2014/main" id="{44506F23-0283-9DE5-C642-44011753447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27161" cy="267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161" h="267928">
                      <a:moveTo>
                        <a:pt x="133964" y="0"/>
                      </a:moveTo>
                      <a:lnTo>
                        <a:pt x="493197" y="0"/>
                      </a:lnTo>
                      <a:cubicBezTo>
                        <a:pt x="567183" y="0"/>
                        <a:pt x="627161" y="59978"/>
                        <a:pt x="627161" y="133964"/>
                      </a:cubicBezTo>
                      <a:lnTo>
                        <a:pt x="627161" y="133964"/>
                      </a:lnTo>
                      <a:cubicBezTo>
                        <a:pt x="627161" y="207950"/>
                        <a:pt x="567183" y="267928"/>
                        <a:pt x="493197" y="267928"/>
                      </a:cubicBezTo>
                      <a:lnTo>
                        <a:pt x="133964" y="267928"/>
                      </a:lnTo>
                      <a:cubicBezTo>
                        <a:pt x="59978" y="267928"/>
                        <a:pt x="0" y="207950"/>
                        <a:pt x="0" y="133964"/>
                      </a:cubicBezTo>
                      <a:lnTo>
                        <a:pt x="0" y="133964"/>
                      </a:lnTo>
                      <a:cubicBezTo>
                        <a:pt x="0" y="59978"/>
                        <a:pt x="59978" y="0"/>
                        <a:pt x="133964" y="0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pPr marL="0" algn="r" defTabSz="457200" rtl="1" eaLnBrk="1" latinLnBrk="0" hangingPunct="1"/>
                  <a:endParaRPr lang="en-IL" sz="90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libri"/>
                  </a:endParaRPr>
                </a:p>
              </p:txBody>
            </p:sp>
            <p:sp>
              <p:nvSpPr>
                <p:cNvPr id="37" name="TextBox 17">
                  <a:extLst>
                    <a:ext uri="{FF2B5EF4-FFF2-40B4-BE49-F238E27FC236}">
                      <a16:creationId xmlns:a16="http://schemas.microsoft.com/office/drawing/2014/main" id="{E5E00EE6-654E-AE47-789C-149183C34331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627160" cy="296503"/>
                </a:xfrm>
                <a:prstGeom prst="rect">
                  <a:avLst/>
                </a:prstGeom>
              </p:spPr>
              <p:txBody>
                <a:bodyPr lIns="25400" tIns="25400" rIns="25400" bIns="25400" rtlCol="0" anchor="ctr"/>
                <a:lstStyle/>
                <a:p>
                  <a:pPr algn="ctr" defTabSz="457200" rtl="0">
                    <a:lnSpc>
                      <a:spcPts val="1260"/>
                    </a:lnSpc>
                  </a:pPr>
                  <a:endParaRPr sz="90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libri"/>
                  </a:endParaRPr>
                </a:p>
              </p:txBody>
            </p:sp>
          </p:grpSp>
          <p:grpSp>
            <p:nvGrpSpPr>
              <p:cNvPr id="18" name="Group 18">
                <a:extLst>
                  <a:ext uri="{FF2B5EF4-FFF2-40B4-BE49-F238E27FC236}">
                    <a16:creationId xmlns:a16="http://schemas.microsoft.com/office/drawing/2014/main" id="{403F1571-582E-1034-EFE6-5540B25F83A2}"/>
                  </a:ext>
                </a:extLst>
              </p:cNvPr>
              <p:cNvGrpSpPr/>
              <p:nvPr/>
            </p:nvGrpSpPr>
            <p:grpSpPr>
              <a:xfrm>
                <a:off x="5159073" y="3210113"/>
                <a:ext cx="1190625" cy="508644"/>
                <a:chOff x="0" y="0"/>
                <a:chExt cx="627160" cy="267928"/>
              </a:xfrm>
            </p:grpSpPr>
            <p:sp>
              <p:nvSpPr>
                <p:cNvPr id="34" name="Freeform 19">
                  <a:extLst>
                    <a:ext uri="{FF2B5EF4-FFF2-40B4-BE49-F238E27FC236}">
                      <a16:creationId xmlns:a16="http://schemas.microsoft.com/office/drawing/2014/main" id="{692F8C29-569F-E6F5-9BE3-524E271147A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27161" cy="267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161" h="267928">
                      <a:moveTo>
                        <a:pt x="133964" y="0"/>
                      </a:moveTo>
                      <a:lnTo>
                        <a:pt x="493197" y="0"/>
                      </a:lnTo>
                      <a:cubicBezTo>
                        <a:pt x="567183" y="0"/>
                        <a:pt x="627161" y="59978"/>
                        <a:pt x="627161" y="133964"/>
                      </a:cubicBezTo>
                      <a:lnTo>
                        <a:pt x="627161" y="133964"/>
                      </a:lnTo>
                      <a:cubicBezTo>
                        <a:pt x="627161" y="207950"/>
                        <a:pt x="567183" y="267928"/>
                        <a:pt x="493197" y="267928"/>
                      </a:cubicBezTo>
                      <a:lnTo>
                        <a:pt x="133964" y="267928"/>
                      </a:lnTo>
                      <a:cubicBezTo>
                        <a:pt x="59978" y="267928"/>
                        <a:pt x="0" y="207950"/>
                        <a:pt x="0" y="133964"/>
                      </a:cubicBezTo>
                      <a:lnTo>
                        <a:pt x="0" y="133964"/>
                      </a:lnTo>
                      <a:cubicBezTo>
                        <a:pt x="0" y="59978"/>
                        <a:pt x="59978" y="0"/>
                        <a:pt x="133964" y="0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pPr marL="0" algn="r" defTabSz="457200" rtl="1" eaLnBrk="1" latinLnBrk="0" hangingPunct="1"/>
                  <a:endParaRPr lang="en-IL" sz="90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libri"/>
                  </a:endParaRPr>
                </a:p>
              </p:txBody>
            </p:sp>
            <p:sp>
              <p:nvSpPr>
                <p:cNvPr id="35" name="TextBox 20">
                  <a:extLst>
                    <a:ext uri="{FF2B5EF4-FFF2-40B4-BE49-F238E27FC236}">
                      <a16:creationId xmlns:a16="http://schemas.microsoft.com/office/drawing/2014/main" id="{AD2C0DDA-403A-7478-6A27-90AD0B4309D2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627160" cy="296503"/>
                </a:xfrm>
                <a:prstGeom prst="rect">
                  <a:avLst/>
                </a:prstGeom>
              </p:spPr>
              <p:txBody>
                <a:bodyPr lIns="25400" tIns="25400" rIns="25400" bIns="25400" rtlCol="0" anchor="ctr"/>
                <a:lstStyle/>
                <a:p>
                  <a:pPr algn="ctr" defTabSz="457200" rtl="0">
                    <a:lnSpc>
                      <a:spcPts val="1260"/>
                    </a:lnSpc>
                  </a:pPr>
                  <a:endParaRPr sz="90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libri"/>
                  </a:endParaRPr>
                </a:p>
              </p:txBody>
            </p:sp>
          </p:grpSp>
          <p:grpSp>
            <p:nvGrpSpPr>
              <p:cNvPr id="19" name="Group 21">
                <a:extLst>
                  <a:ext uri="{FF2B5EF4-FFF2-40B4-BE49-F238E27FC236}">
                    <a16:creationId xmlns:a16="http://schemas.microsoft.com/office/drawing/2014/main" id="{21C0743D-5517-70FC-4085-507B90B5E238}"/>
                  </a:ext>
                </a:extLst>
              </p:cNvPr>
              <p:cNvGrpSpPr/>
              <p:nvPr/>
            </p:nvGrpSpPr>
            <p:grpSpPr>
              <a:xfrm>
                <a:off x="8914097" y="3210113"/>
                <a:ext cx="1333500" cy="508644"/>
                <a:chOff x="0" y="0"/>
                <a:chExt cx="702420" cy="267928"/>
              </a:xfrm>
            </p:grpSpPr>
            <p:sp>
              <p:nvSpPr>
                <p:cNvPr id="32" name="Freeform 22">
                  <a:extLst>
                    <a:ext uri="{FF2B5EF4-FFF2-40B4-BE49-F238E27FC236}">
                      <a16:creationId xmlns:a16="http://schemas.microsoft.com/office/drawing/2014/main" id="{FE5D90AD-183B-EC95-6F7D-2557C9259F7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702420" cy="267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420" h="267928">
                      <a:moveTo>
                        <a:pt x="133964" y="0"/>
                      </a:moveTo>
                      <a:lnTo>
                        <a:pt x="568456" y="0"/>
                      </a:lnTo>
                      <a:cubicBezTo>
                        <a:pt x="642442" y="0"/>
                        <a:pt x="702420" y="59978"/>
                        <a:pt x="702420" y="133964"/>
                      </a:cubicBezTo>
                      <a:lnTo>
                        <a:pt x="702420" y="133964"/>
                      </a:lnTo>
                      <a:cubicBezTo>
                        <a:pt x="702420" y="207950"/>
                        <a:pt x="642442" y="267928"/>
                        <a:pt x="568456" y="267928"/>
                      </a:cubicBezTo>
                      <a:lnTo>
                        <a:pt x="133964" y="267928"/>
                      </a:lnTo>
                      <a:cubicBezTo>
                        <a:pt x="59978" y="267928"/>
                        <a:pt x="0" y="207950"/>
                        <a:pt x="0" y="133964"/>
                      </a:cubicBezTo>
                      <a:lnTo>
                        <a:pt x="0" y="133964"/>
                      </a:lnTo>
                      <a:cubicBezTo>
                        <a:pt x="0" y="59978"/>
                        <a:pt x="59978" y="0"/>
                        <a:pt x="133964" y="0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pPr marL="0" algn="r" defTabSz="457200" rtl="1" eaLnBrk="1" latinLnBrk="0" hangingPunct="1"/>
                  <a:endParaRPr lang="en-IL" sz="90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libri"/>
                  </a:endParaRPr>
                </a:p>
              </p:txBody>
            </p:sp>
            <p:sp>
              <p:nvSpPr>
                <p:cNvPr id="33" name="TextBox 23">
                  <a:extLst>
                    <a:ext uri="{FF2B5EF4-FFF2-40B4-BE49-F238E27FC236}">
                      <a16:creationId xmlns:a16="http://schemas.microsoft.com/office/drawing/2014/main" id="{16BDD6B5-F284-A57E-926E-CF36BAD5722A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702420" cy="296503"/>
                </a:xfrm>
                <a:prstGeom prst="rect">
                  <a:avLst/>
                </a:prstGeom>
              </p:spPr>
              <p:txBody>
                <a:bodyPr lIns="25400" tIns="25400" rIns="25400" bIns="25400" rtlCol="0" anchor="ctr"/>
                <a:lstStyle/>
                <a:p>
                  <a:pPr algn="ctr" defTabSz="457200" rtl="0">
                    <a:lnSpc>
                      <a:spcPts val="1260"/>
                    </a:lnSpc>
                  </a:pPr>
                  <a:endParaRPr sz="90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libri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99D9F6F4-5786-FEB1-F1D5-8FF7FB37283B}"/>
                  </a:ext>
                </a:extLst>
              </p:cNvPr>
              <p:cNvSpPr/>
              <p:nvPr/>
            </p:nvSpPr>
            <p:spPr>
              <a:xfrm rot="16200000">
                <a:off x="8277711" y="3309032"/>
                <a:ext cx="735013" cy="276941"/>
              </a:xfrm>
              <a:custGeom>
                <a:avLst/>
                <a:gdLst/>
                <a:ahLst/>
                <a:cxnLst/>
                <a:rect l="l" t="t" r="r" b="b"/>
                <a:pathLst>
                  <a:path w="600197" h="226144">
                    <a:moveTo>
                      <a:pt x="300099" y="226144"/>
                    </a:moveTo>
                    <a:lnTo>
                      <a:pt x="600197" y="0"/>
                    </a:lnTo>
                    <a:lnTo>
                      <a:pt x="0" y="0"/>
                    </a:lnTo>
                    <a:lnTo>
                      <a:pt x="300099" y="22614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</p:spPr>
            <p:txBody>
              <a:bodyPr/>
              <a:lstStyle/>
              <a:p>
                <a:pPr algn="l" defTabSz="457200" rtl="0"/>
                <a:endParaRPr lang="en-IL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/>
                </a:endParaRPr>
              </a:p>
            </p:txBody>
          </p:sp>
          <p:sp>
            <p:nvSpPr>
              <p:cNvPr id="21" name="TextBox 29">
                <a:extLst>
                  <a:ext uri="{FF2B5EF4-FFF2-40B4-BE49-F238E27FC236}">
                    <a16:creationId xmlns:a16="http://schemas.microsoft.com/office/drawing/2014/main" id="{5CFA5E56-5CAD-CB4A-B068-009AE0DEF4A3}"/>
                  </a:ext>
                </a:extLst>
              </p:cNvPr>
              <p:cNvSpPr txBox="1"/>
              <p:nvPr/>
            </p:nvSpPr>
            <p:spPr>
              <a:xfrm>
                <a:off x="3680563" y="3426789"/>
                <a:ext cx="1160950" cy="11694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 defTabSz="457200" rtl="0">
                  <a:lnSpc>
                    <a:spcPts val="1080"/>
                  </a:lnSpc>
                </a:pPr>
                <a:r>
                  <a:rPr lang="en-US" sz="14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libri"/>
                    <a:ea typeface="Open Sans Bold"/>
                    <a:cs typeface="Open Sans Bold"/>
                    <a:sym typeface="Open Sans Bold"/>
                  </a:rPr>
                  <a:t>Data Preparation</a:t>
                </a:r>
              </a:p>
            </p:txBody>
          </p:sp>
          <p:sp>
            <p:nvSpPr>
              <p:cNvPr id="22" name="TextBox 30">
                <a:extLst>
                  <a:ext uri="{FF2B5EF4-FFF2-40B4-BE49-F238E27FC236}">
                    <a16:creationId xmlns:a16="http://schemas.microsoft.com/office/drawing/2014/main" id="{38A8A84F-3CA5-773C-0A38-52DB4A6806C5}"/>
                  </a:ext>
                </a:extLst>
              </p:cNvPr>
              <p:cNvSpPr txBox="1"/>
              <p:nvPr/>
            </p:nvSpPr>
            <p:spPr>
              <a:xfrm>
                <a:off x="5373704" y="3356397"/>
                <a:ext cx="723733" cy="22978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 defTabSz="457200" rtl="0">
                  <a:lnSpc>
                    <a:spcPts val="1080"/>
                  </a:lnSpc>
                </a:pPr>
                <a:r>
                  <a:rPr lang="en-US" sz="14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libri"/>
                    <a:ea typeface="Open Sans Bold"/>
                    <a:cs typeface="Open Sans Bold"/>
                    <a:sym typeface="Open Sans Bold"/>
                  </a:rPr>
                  <a:t>Model Selection</a:t>
                </a:r>
              </a:p>
            </p:txBody>
          </p:sp>
          <p:sp>
            <p:nvSpPr>
              <p:cNvPr id="23" name="TextBox 31">
                <a:extLst>
                  <a:ext uri="{FF2B5EF4-FFF2-40B4-BE49-F238E27FC236}">
                    <a16:creationId xmlns:a16="http://schemas.microsoft.com/office/drawing/2014/main" id="{3E0C9E35-1B13-FC59-348D-19D3AA8AD110}"/>
                  </a:ext>
                </a:extLst>
              </p:cNvPr>
              <p:cNvSpPr txBox="1"/>
              <p:nvPr/>
            </p:nvSpPr>
            <p:spPr>
              <a:xfrm>
                <a:off x="9214436" y="3402523"/>
                <a:ext cx="723733" cy="11694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 defTabSz="457200" rtl="0">
                  <a:lnSpc>
                    <a:spcPts val="1080"/>
                  </a:lnSpc>
                </a:pPr>
                <a:r>
                  <a:rPr lang="en-US" sz="14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libri"/>
                    <a:ea typeface="Open Sans Bold"/>
                    <a:cs typeface="Open Sans Bold"/>
                    <a:sym typeface="Open Sans Bold"/>
                  </a:rPr>
                  <a:t>Finishers</a:t>
                </a:r>
              </a:p>
            </p:txBody>
          </p:sp>
          <p:sp>
            <p:nvSpPr>
              <p:cNvPr id="24" name="TextBox 35">
                <a:extLst>
                  <a:ext uri="{FF2B5EF4-FFF2-40B4-BE49-F238E27FC236}">
                    <a16:creationId xmlns:a16="http://schemas.microsoft.com/office/drawing/2014/main" id="{4FAEBBE0-980E-EC2F-5E96-EB35E0B834E4}"/>
                  </a:ext>
                </a:extLst>
              </p:cNvPr>
              <p:cNvSpPr txBox="1"/>
              <p:nvPr/>
            </p:nvSpPr>
            <p:spPr>
              <a:xfrm>
                <a:off x="1934861" y="2979391"/>
                <a:ext cx="1166813" cy="11694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 defTabSz="457200" rtl="0">
                  <a:lnSpc>
                    <a:spcPts val="1080"/>
                  </a:lnSpc>
                </a:pPr>
                <a:r>
                  <a:rPr lang="en-US" sz="14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libri"/>
                    <a:ea typeface="Open Sans Bold"/>
                    <a:cs typeface="Open Sans Bold"/>
                    <a:sym typeface="Open Sans Bold"/>
                  </a:rPr>
                  <a:t>26.10 - 24.11</a:t>
                </a:r>
              </a:p>
            </p:txBody>
          </p:sp>
          <p:sp>
            <p:nvSpPr>
              <p:cNvPr id="25" name="TextBox 36">
                <a:extLst>
                  <a:ext uri="{FF2B5EF4-FFF2-40B4-BE49-F238E27FC236}">
                    <a16:creationId xmlns:a16="http://schemas.microsoft.com/office/drawing/2014/main" id="{48FE1784-DE70-1E2D-8DD2-72AB110F17E3}"/>
                  </a:ext>
                </a:extLst>
              </p:cNvPr>
              <p:cNvSpPr txBox="1"/>
              <p:nvPr/>
            </p:nvSpPr>
            <p:spPr>
              <a:xfrm>
                <a:off x="3668395" y="2979391"/>
                <a:ext cx="1166813" cy="11694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 defTabSz="457200" rtl="0">
                  <a:lnSpc>
                    <a:spcPts val="1080"/>
                  </a:lnSpc>
                </a:pPr>
                <a:r>
                  <a:rPr lang="en-US" sz="14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libri"/>
                    <a:ea typeface="Open Sans Bold"/>
                    <a:cs typeface="Open Sans Bold"/>
                    <a:sym typeface="Open Sans Bold"/>
                  </a:rPr>
                  <a:t>24.11 - 21.12</a:t>
                </a:r>
              </a:p>
            </p:txBody>
          </p:sp>
          <p:sp>
            <p:nvSpPr>
              <p:cNvPr id="26" name="TextBox 37">
                <a:extLst>
                  <a:ext uri="{FF2B5EF4-FFF2-40B4-BE49-F238E27FC236}">
                    <a16:creationId xmlns:a16="http://schemas.microsoft.com/office/drawing/2014/main" id="{4D67AE5F-E9D8-6C49-92A7-E0BB43FDBD74}"/>
                  </a:ext>
                </a:extLst>
              </p:cNvPr>
              <p:cNvSpPr txBox="1"/>
              <p:nvPr/>
            </p:nvSpPr>
            <p:spPr>
              <a:xfrm>
                <a:off x="5159073" y="2979391"/>
                <a:ext cx="1166813" cy="11694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 defTabSz="457200" rtl="0">
                  <a:lnSpc>
                    <a:spcPts val="1080"/>
                  </a:lnSpc>
                </a:pPr>
                <a:r>
                  <a:rPr lang="en-US" sz="14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libri"/>
                    <a:ea typeface="Open Sans Bold"/>
                    <a:cs typeface="Open Sans Bold"/>
                    <a:sym typeface="Open Sans Bold"/>
                  </a:rPr>
                  <a:t>21.12 - 19.1</a:t>
                </a:r>
              </a:p>
            </p:txBody>
          </p:sp>
          <p:grpSp>
            <p:nvGrpSpPr>
              <p:cNvPr id="27" name="Group 38">
                <a:extLst>
                  <a:ext uri="{FF2B5EF4-FFF2-40B4-BE49-F238E27FC236}">
                    <a16:creationId xmlns:a16="http://schemas.microsoft.com/office/drawing/2014/main" id="{3094E4C6-C983-F78A-AE04-256506E58795}"/>
                  </a:ext>
                </a:extLst>
              </p:cNvPr>
              <p:cNvGrpSpPr/>
              <p:nvPr/>
            </p:nvGrpSpPr>
            <p:grpSpPr>
              <a:xfrm>
                <a:off x="6226924" y="1672595"/>
                <a:ext cx="1464082" cy="536522"/>
                <a:chOff x="-66500" y="-14685"/>
                <a:chExt cx="771203" cy="282613"/>
              </a:xfrm>
            </p:grpSpPr>
            <p:sp>
              <p:nvSpPr>
                <p:cNvPr id="30" name="Freeform 39">
                  <a:extLst>
                    <a:ext uri="{FF2B5EF4-FFF2-40B4-BE49-F238E27FC236}">
                      <a16:creationId xmlns:a16="http://schemas.microsoft.com/office/drawing/2014/main" id="{D7681533-E159-9C97-964C-DD587B18F94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27161" cy="267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161" h="267928">
                      <a:moveTo>
                        <a:pt x="133964" y="0"/>
                      </a:moveTo>
                      <a:lnTo>
                        <a:pt x="493197" y="0"/>
                      </a:lnTo>
                      <a:cubicBezTo>
                        <a:pt x="567183" y="0"/>
                        <a:pt x="627161" y="59978"/>
                        <a:pt x="627161" y="133964"/>
                      </a:cubicBezTo>
                      <a:lnTo>
                        <a:pt x="627161" y="133964"/>
                      </a:lnTo>
                      <a:cubicBezTo>
                        <a:pt x="627161" y="207950"/>
                        <a:pt x="567183" y="267928"/>
                        <a:pt x="493197" y="267928"/>
                      </a:cubicBezTo>
                      <a:lnTo>
                        <a:pt x="133964" y="267928"/>
                      </a:lnTo>
                      <a:cubicBezTo>
                        <a:pt x="59978" y="267928"/>
                        <a:pt x="0" y="207950"/>
                        <a:pt x="0" y="133964"/>
                      </a:cubicBezTo>
                      <a:lnTo>
                        <a:pt x="0" y="133964"/>
                      </a:lnTo>
                      <a:cubicBezTo>
                        <a:pt x="0" y="59978"/>
                        <a:pt x="59978" y="0"/>
                        <a:pt x="133964" y="0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pPr marL="0" algn="r" defTabSz="457200" rtl="1" eaLnBrk="1" latinLnBrk="0" hangingPunct="1"/>
                  <a:endParaRPr lang="en-IL" sz="9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libri"/>
                  </a:endParaRPr>
                </a:p>
              </p:txBody>
            </p:sp>
            <p:sp>
              <p:nvSpPr>
                <p:cNvPr id="31" name="TextBox 40">
                  <a:extLst>
                    <a:ext uri="{FF2B5EF4-FFF2-40B4-BE49-F238E27FC236}">
                      <a16:creationId xmlns:a16="http://schemas.microsoft.com/office/drawing/2014/main" id="{1F03EDCE-0CE8-2B38-40CF-D483EA60E7B2}"/>
                    </a:ext>
                  </a:extLst>
                </p:cNvPr>
                <p:cNvSpPr txBox="1"/>
                <p:nvPr/>
              </p:nvSpPr>
              <p:spPr>
                <a:xfrm>
                  <a:off x="-66500" y="-14685"/>
                  <a:ext cx="771203" cy="278009"/>
                </a:xfrm>
                <a:prstGeom prst="rect">
                  <a:avLst/>
                </a:prstGeom>
              </p:spPr>
              <p:txBody>
                <a:bodyPr lIns="25400" tIns="25400" rIns="25400" bIns="25400" rtlCol="0" anchor="ctr"/>
                <a:lstStyle/>
                <a:p>
                  <a:pPr algn="ctr" defTabSz="457200" rtl="0">
                    <a:lnSpc>
                      <a:spcPts val="1260"/>
                    </a:lnSpc>
                  </a:pPr>
                  <a:r>
                    <a:rPr lang="en-US" sz="1400" dirty="0">
                      <a:ln w="0"/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Calibri"/>
                      <a:ea typeface="Open Sans Bold"/>
                      <a:cs typeface="Open Sans Bold"/>
                      <a:sym typeface="Open Sans Bold"/>
                    </a:rPr>
                    <a:t>Evaluation</a:t>
                  </a:r>
                </a:p>
              </p:txBody>
            </p:sp>
          </p:grpSp>
          <p:sp>
            <p:nvSpPr>
              <p:cNvPr id="28" name="TextBox 41">
                <a:extLst>
                  <a:ext uri="{FF2B5EF4-FFF2-40B4-BE49-F238E27FC236}">
                    <a16:creationId xmlns:a16="http://schemas.microsoft.com/office/drawing/2014/main" id="{46391DD8-E77C-4C89-EB9C-9B0FBD5832D8}"/>
                  </a:ext>
                </a:extLst>
              </p:cNvPr>
              <p:cNvSpPr txBox="1"/>
              <p:nvPr/>
            </p:nvSpPr>
            <p:spPr>
              <a:xfrm>
                <a:off x="6383338" y="2642919"/>
                <a:ext cx="1166813" cy="11694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 defTabSz="457200" rtl="0">
                  <a:lnSpc>
                    <a:spcPts val="1080"/>
                  </a:lnSpc>
                </a:pPr>
                <a:r>
                  <a:rPr lang="en-US" sz="14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libri"/>
                    <a:ea typeface="Open Sans Bold"/>
                    <a:cs typeface="Open Sans Bold"/>
                    <a:sym typeface="Open Sans Bold"/>
                  </a:rPr>
                  <a:t>22.12 - 19.1</a:t>
                </a:r>
              </a:p>
            </p:txBody>
          </p:sp>
          <p:sp>
            <p:nvSpPr>
              <p:cNvPr id="29" name="TextBox 42">
                <a:extLst>
                  <a:ext uri="{FF2B5EF4-FFF2-40B4-BE49-F238E27FC236}">
                    <a16:creationId xmlns:a16="http://schemas.microsoft.com/office/drawing/2014/main" id="{18C0B9BC-2429-1918-96A0-88C89D838D82}"/>
                  </a:ext>
                </a:extLst>
              </p:cNvPr>
              <p:cNvSpPr txBox="1"/>
              <p:nvPr/>
            </p:nvSpPr>
            <p:spPr>
              <a:xfrm>
                <a:off x="8997442" y="3029397"/>
                <a:ext cx="1166813" cy="11694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 defTabSz="457200" rtl="0">
                  <a:lnSpc>
                    <a:spcPts val="1080"/>
                  </a:lnSpc>
                </a:pPr>
                <a:r>
                  <a:rPr lang="en-US" sz="14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libri"/>
                    <a:ea typeface="Open Sans Bold"/>
                    <a:cs typeface="Open Sans Bold"/>
                    <a:sym typeface="Open Sans Bold"/>
                  </a:rPr>
                  <a:t>19.1 – 1.3</a:t>
                </a:r>
              </a:p>
            </p:txBody>
          </p:sp>
        </p:grp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AB4D43C4-2BE2-C49C-DA33-D96678D2AFA3}"/>
                </a:ext>
              </a:extLst>
            </p:cNvPr>
            <p:cNvSpPr txBox="1"/>
            <p:nvPr/>
          </p:nvSpPr>
          <p:spPr>
            <a:xfrm>
              <a:off x="8110499" y="739712"/>
              <a:ext cx="2241872" cy="258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r" defTabSz="457200" rtl="1" eaLnBrk="1" latinLnBrk="0" hangingPunct="1"/>
              <a:endParaRPr lang="en" sz="16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</a:endParaRPr>
            </a:p>
          </p:txBody>
        </p:sp>
      </p:grpSp>
      <p:sp>
        <p:nvSpPr>
          <p:cNvPr id="2" name="חץ למטה 1">
            <a:extLst>
              <a:ext uri="{FF2B5EF4-FFF2-40B4-BE49-F238E27FC236}">
                <a16:creationId xmlns:a16="http://schemas.microsoft.com/office/drawing/2014/main" id="{8282EB01-9F07-6FA0-F482-7EE654657A46}"/>
              </a:ext>
            </a:extLst>
          </p:cNvPr>
          <p:cNvSpPr/>
          <p:nvPr/>
        </p:nvSpPr>
        <p:spPr>
          <a:xfrm>
            <a:off x="7185914" y="1161825"/>
            <a:ext cx="296969" cy="816341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43686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ACA56-132A-BA32-CA30-3F408D021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090EAB14-A40A-90D4-9044-DE7890C71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</a:t>
            </a:r>
            <a:r>
              <a:rPr lang="en-US" sz="1200" kern="120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Science|Team</a:t>
            </a:r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 003| Final Presentation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B006DEE-4665-C8A7-09BE-DD7B694D7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כותרת 4">
            <a:extLst>
              <a:ext uri="{FF2B5EF4-FFF2-40B4-BE49-F238E27FC236}">
                <a16:creationId xmlns:a16="http://schemas.microsoft.com/office/drawing/2014/main" id="{345D0678-7F62-3C3F-957D-6D9E4E18B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dirty="0"/>
              <a:t>Benchmarks and </a:t>
            </a:r>
            <a:r>
              <a:rPr lang="en-US" dirty="0"/>
              <a:t>Success Criteria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תיבת טקסט 7">
                <a:extLst>
                  <a:ext uri="{FF2B5EF4-FFF2-40B4-BE49-F238E27FC236}">
                    <a16:creationId xmlns:a16="http://schemas.microsoft.com/office/drawing/2014/main" id="{F6B645B4-F498-CF29-DF84-44E01635C94C}"/>
                  </a:ext>
                </a:extLst>
              </p:cNvPr>
              <p:cNvSpPr txBox="1"/>
              <p:nvPr/>
            </p:nvSpPr>
            <p:spPr>
              <a:xfrm>
                <a:off x="687088" y="828253"/>
                <a:ext cx="10895312" cy="4617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rtl="0">
                  <a:lnSpc>
                    <a:spcPct val="150000"/>
                  </a:lnSpc>
                </a:pPr>
                <a:r>
                  <a:rPr lang="en" b="1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"Accuracy Ceiling" in Financial ML:</a:t>
                </a:r>
                <a:endParaRPr lang="en" u="sng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 algn="l" rtl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Industry Standard (Kaggle/Jane Street):</a:t>
                </a:r>
                <a:r>
                  <a:rPr lang="en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Top-tier models achieve </a:t>
                </a:r>
                <a:r>
                  <a:rPr lang="en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52% – 55%</a:t>
                </a:r>
                <a:r>
                  <a:rPr lang="en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accuracy</a:t>
                </a:r>
              </a:p>
              <a:p>
                <a:pPr marL="742950" lvl="1" indent="-285750" algn="l" rtl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Zhong &amp; Enke</a:t>
                </a:r>
                <a:r>
                  <a:rPr lang="en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en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~60%</a:t>
                </a:r>
                <a:r>
                  <a:rPr lang="en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/>
                  <a:t>considered near the upper bound for daily horizons</a:t>
                </a:r>
                <a:endParaRPr lang="he-IL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 algn="l" rtl="0">
                  <a:lnSpc>
                    <a:spcPct val="150000"/>
                  </a:lnSpc>
                </a:pPr>
                <a:endParaRPr lang="en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l" rtl="0">
                  <a:lnSpc>
                    <a:spcPct val="150000"/>
                  </a:lnSpc>
                </a:pPr>
                <a:r>
                  <a:rPr lang="en" b="1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Project Goals &amp; Success Thresholds:</a:t>
                </a:r>
                <a:endParaRPr lang="en" u="sng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 algn="l" rtl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" b="1" dirty="0"/>
                  <a:t>Discrete Classification –</a:t>
                </a:r>
                <a:r>
                  <a:rPr lang="en" dirty="0"/>
                  <a:t> </a:t>
                </a:r>
                <a:r>
                  <a:rPr lang="en" u="sng" dirty="0"/>
                  <a:t>Accuracy</a:t>
                </a:r>
                <a:r>
                  <a:rPr lang="en" dirty="0"/>
                  <a:t>, Precision, Recall</a:t>
                </a:r>
                <a:endParaRPr lang="en" b="1" dirty="0"/>
              </a:p>
              <a:p>
                <a:pPr marL="1200150" lvl="2" indent="-285750" algn="l" rtl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" b="1" dirty="0"/>
                  <a:t>Baseline:</a:t>
                </a:r>
                <a:r>
                  <a:rPr lang="en" dirty="0"/>
                  <a:t> Random Walk (50%)</a:t>
                </a:r>
                <a:endParaRPr lang="en" dirty="0">
                  <a:highlight>
                    <a:srgbClr val="FFFF00"/>
                  </a:highlight>
                </a:endParaRPr>
              </a:p>
              <a:p>
                <a:pPr marL="1200150" lvl="2" indent="-285750" algn="l" rtl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" b="1" dirty="0"/>
                  <a:t>Success:</a:t>
                </a:r>
                <a:r>
                  <a:rPr lang="en" dirty="0"/>
                  <a:t> &gt; 55% Accuracy </a:t>
                </a:r>
              </a:p>
              <a:p>
                <a:pPr marL="742950" lvl="1" indent="-285750" algn="l" rtl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Continuous – </a:t>
                </a:r>
                <a:r>
                  <a:rPr lang="en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RMSE</a:t>
                </a:r>
                <a:r>
                  <a:rPr lang="en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200150" lvl="2" indent="-285750" algn="l" rtl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" b="1" dirty="0"/>
                  <a:t>Baseline:</a:t>
                </a:r>
                <a:r>
                  <a:rPr lang="en" dirty="0"/>
                  <a:t> Naive "Always 0" Strategy</a:t>
                </a:r>
              </a:p>
              <a:p>
                <a:pPr marL="1200150" lvl="2" indent="-285750" algn="l" rtl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" b="1" dirty="0"/>
                  <a:t>Success:</a:t>
                </a:r>
                <a:r>
                  <a:rPr lang="en" dirty="0"/>
                  <a:t> &lt; 0.01 RMSE,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" dirty="0"/>
                  <a:t> near zero</a:t>
                </a:r>
              </a:p>
            </p:txBody>
          </p:sp>
        </mc:Choice>
        <mc:Fallback xmlns="">
          <p:sp>
            <p:nvSpPr>
              <p:cNvPr id="8" name="תיבת טקסט 7">
                <a:extLst>
                  <a:ext uri="{FF2B5EF4-FFF2-40B4-BE49-F238E27FC236}">
                    <a16:creationId xmlns:a16="http://schemas.microsoft.com/office/drawing/2014/main" id="{F6B645B4-F498-CF29-DF84-44E01635C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088" y="828253"/>
                <a:ext cx="10895312" cy="4617995"/>
              </a:xfrm>
              <a:prstGeom prst="rect">
                <a:avLst/>
              </a:prstGeom>
              <a:blipFill>
                <a:blip r:embed="rId3"/>
                <a:stretch>
                  <a:fillRect l="-582" b="-109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מציין מיקום של תאריך 1">
            <a:extLst>
              <a:ext uri="{FF2B5EF4-FFF2-40B4-BE49-F238E27FC236}">
                <a16:creationId xmlns:a16="http://schemas.microsoft.com/office/drawing/2014/main" id="{050AAC79-CF10-33A5-A4F0-607EB1876D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/>
          <a:p>
            <a:r>
              <a:rPr lang="he-IL" dirty="0"/>
              <a:t>19/1/2026</a:t>
            </a:r>
            <a:endParaRPr lang="en-US" dirty="0">
              <a:cs typeface="Calibri" panose="020F0502020204030204" pitchFamily="34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7F2BE215-1592-A16F-9F79-9CA43DEE6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6102" y="2268188"/>
            <a:ext cx="2003809" cy="3057896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C582DF43-01D3-EEAC-1E8F-6331BAE7F5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6615" y="2291938"/>
            <a:ext cx="2143234" cy="305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274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ACD00-2D8E-C92C-637F-6C3563E63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B1CE5F94-2FA1-3209-BAD7-E8AE96766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Science|Team 003| Final Presentation</a:t>
            </a:r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75CAA60-1CE2-B227-96C8-E9992674E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כותרת 4">
            <a:extLst>
              <a:ext uri="{FF2B5EF4-FFF2-40B4-BE49-F238E27FC236}">
                <a16:creationId xmlns:a16="http://schemas.microsoft.com/office/drawing/2014/main" id="{7D621332-BC83-37D8-3B8A-B8B807490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1"/>
            <a:r>
              <a:rPr lang="en" dirty="0">
                <a:solidFill>
                  <a:srgbClr val="1F1F1F"/>
                </a:solidFill>
                <a:latin typeface="Google Sans Text"/>
              </a:rPr>
              <a:t>Feature </a:t>
            </a:r>
            <a:r>
              <a:rPr lang="en-US" dirty="0">
                <a:solidFill>
                  <a:srgbClr val="1F1F1F"/>
                </a:solidFill>
                <a:latin typeface="Google Sans Text"/>
              </a:rPr>
              <a:t>Engineering</a:t>
            </a:r>
            <a:endParaRPr lang="he-IL" dirty="0"/>
          </a:p>
        </p:txBody>
      </p:sp>
      <p:sp>
        <p:nvSpPr>
          <p:cNvPr id="6" name="מציין מיקום של תאריך 1">
            <a:extLst>
              <a:ext uri="{FF2B5EF4-FFF2-40B4-BE49-F238E27FC236}">
                <a16:creationId xmlns:a16="http://schemas.microsoft.com/office/drawing/2014/main" id="{96704AE3-D8D9-D18A-1EB8-EF0773B94D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/>
          <a:p>
            <a:r>
              <a:rPr lang="he-IL" dirty="0"/>
              <a:t>19/1/2026</a:t>
            </a:r>
            <a:endParaRPr lang="en-US" dirty="0">
              <a:cs typeface="Calibri" panose="020F0502020204030204" pitchFamily="34" charset="0"/>
            </a:endParaRP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E31C0E14-1B7A-4029-A35C-C6D93AA81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325" y="810400"/>
            <a:ext cx="9372675" cy="5568811"/>
          </a:xfrm>
          <a:prstGeom prst="rect">
            <a:avLst/>
          </a:prstGeom>
        </p:spPr>
      </p:pic>
      <p:sp>
        <p:nvSpPr>
          <p:cNvPr id="2" name="מלבן 1">
            <a:extLst>
              <a:ext uri="{FF2B5EF4-FFF2-40B4-BE49-F238E27FC236}">
                <a16:creationId xmlns:a16="http://schemas.microsoft.com/office/drawing/2014/main" id="{EBA8E441-AFEA-010A-8FF9-7D6BE551C39B}"/>
              </a:ext>
            </a:extLst>
          </p:cNvPr>
          <p:cNvSpPr/>
          <p:nvPr/>
        </p:nvSpPr>
        <p:spPr>
          <a:xfrm>
            <a:off x="5133524" y="817990"/>
            <a:ext cx="2372139" cy="135019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/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C547D308-98E8-0840-A639-1FAE66DB79D3}"/>
              </a:ext>
            </a:extLst>
          </p:cNvPr>
          <p:cNvSpPr/>
          <p:nvPr/>
        </p:nvSpPr>
        <p:spPr>
          <a:xfrm>
            <a:off x="5106017" y="2109191"/>
            <a:ext cx="2372139" cy="135019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/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7AAE706E-636C-E3E7-EF95-840B44D9E9F6}"/>
              </a:ext>
            </a:extLst>
          </p:cNvPr>
          <p:cNvSpPr/>
          <p:nvPr/>
        </p:nvSpPr>
        <p:spPr>
          <a:xfrm>
            <a:off x="7392709" y="2178398"/>
            <a:ext cx="2454658" cy="135019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/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7EA93ED5-2C2C-68DA-2B63-B9D40FFC8E18}"/>
              </a:ext>
            </a:extLst>
          </p:cNvPr>
          <p:cNvSpPr/>
          <p:nvPr/>
        </p:nvSpPr>
        <p:spPr>
          <a:xfrm>
            <a:off x="7437165" y="3492459"/>
            <a:ext cx="2372139" cy="150570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04115F23-44CC-EEF8-8E65-E2F7FDDD478E}"/>
              </a:ext>
            </a:extLst>
          </p:cNvPr>
          <p:cNvSpPr/>
          <p:nvPr/>
        </p:nvSpPr>
        <p:spPr>
          <a:xfrm>
            <a:off x="5188536" y="3459388"/>
            <a:ext cx="2372139" cy="150570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/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5F63671C-02D1-6179-217A-77C8ACC4FE98}"/>
              </a:ext>
            </a:extLst>
          </p:cNvPr>
          <p:cNvSpPr/>
          <p:nvPr/>
        </p:nvSpPr>
        <p:spPr>
          <a:xfrm>
            <a:off x="2819325" y="5031236"/>
            <a:ext cx="9329953" cy="128099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30756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84209-8FE0-4AB4-90B4-370EB3B4C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7FA17832-45ED-7ABA-6A85-1CC744CC6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Science|Team 003| Final Presentation</a:t>
            </a:r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CA6C9712-5835-345E-9AFF-A6251AEDD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כותרת 4">
            <a:extLst>
              <a:ext uri="{FF2B5EF4-FFF2-40B4-BE49-F238E27FC236}">
                <a16:creationId xmlns:a16="http://schemas.microsoft.com/office/drawing/2014/main" id="{07B2809F-3DD0-8E31-72FF-E99B74A1B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1"/>
            <a:r>
              <a:rPr lang="en" dirty="0">
                <a:solidFill>
                  <a:srgbClr val="1F1F1F"/>
                </a:solidFill>
                <a:latin typeface="Google Sans Text"/>
              </a:rPr>
              <a:t>Feature </a:t>
            </a:r>
            <a:r>
              <a:rPr lang="en-US" dirty="0">
                <a:solidFill>
                  <a:srgbClr val="1F1F1F"/>
                </a:solidFill>
                <a:latin typeface="Google Sans Text"/>
              </a:rPr>
              <a:t>Engineering</a:t>
            </a:r>
            <a:endParaRPr lang="he-IL" dirty="0"/>
          </a:p>
        </p:txBody>
      </p:sp>
      <p:sp>
        <p:nvSpPr>
          <p:cNvPr id="6" name="מציין מיקום של תאריך 1">
            <a:extLst>
              <a:ext uri="{FF2B5EF4-FFF2-40B4-BE49-F238E27FC236}">
                <a16:creationId xmlns:a16="http://schemas.microsoft.com/office/drawing/2014/main" id="{4288B208-0986-A194-B28B-471731413A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/>
          <a:p>
            <a:r>
              <a:rPr lang="he-IL" dirty="0"/>
              <a:t>19/1/2026</a:t>
            </a:r>
            <a:endParaRPr lang="en-US" dirty="0">
              <a:cs typeface="Calibri" panose="020F0502020204030204" pitchFamily="34" charset="0"/>
            </a:endParaRP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12FD1C4B-F393-1922-17C3-897D965BB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325" y="810400"/>
            <a:ext cx="9372675" cy="5568811"/>
          </a:xfrm>
          <a:prstGeom prst="rect">
            <a:avLst/>
          </a:prstGeom>
        </p:spPr>
      </p:pic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65E23536-F0CE-201E-B89D-85ED0C37EE2C}"/>
              </a:ext>
            </a:extLst>
          </p:cNvPr>
          <p:cNvSpPr txBox="1"/>
          <p:nvPr/>
        </p:nvSpPr>
        <p:spPr>
          <a:xfrm>
            <a:off x="186865" y="900899"/>
            <a:ext cx="2710614" cy="2533963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Interaction Variables </a:t>
            </a:r>
          </a:p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Cleaning</a:t>
            </a:r>
          </a:p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Standardization</a:t>
            </a:r>
          </a:p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Encoding</a:t>
            </a:r>
          </a:p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Automated time frames</a:t>
            </a:r>
          </a:p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657503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FC11E-09FC-8E8C-B415-EF9DAD635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2ABB3BCF-4F9C-9ABF-5346-E6A9D26E9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Science|Team 003| Final Presentation</a:t>
            </a:r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9F423CA4-A22E-7C28-C385-671AE8CAC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כותרת 4">
            <a:extLst>
              <a:ext uri="{FF2B5EF4-FFF2-40B4-BE49-F238E27FC236}">
                <a16:creationId xmlns:a16="http://schemas.microsoft.com/office/drawing/2014/main" id="{C3B3BB0D-21F6-B39B-CF7C-FAF7C613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“Model Zoo” Experiment- F</a:t>
            </a:r>
            <a:r>
              <a:rPr lang="he-IL" dirty="0" err="1"/>
              <a:t>ramework</a:t>
            </a:r>
            <a:endParaRPr lang="he-IL" dirty="0"/>
          </a:p>
        </p:txBody>
      </p:sp>
      <p:sp>
        <p:nvSpPr>
          <p:cNvPr id="6" name="מציין מיקום של תאריך 1">
            <a:extLst>
              <a:ext uri="{FF2B5EF4-FFF2-40B4-BE49-F238E27FC236}">
                <a16:creationId xmlns:a16="http://schemas.microsoft.com/office/drawing/2014/main" id="{0A4BCF6D-4AC9-EC3B-EAAA-3512AADE3E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/>
          <a:p>
            <a:r>
              <a:rPr lang="he-IL" dirty="0"/>
              <a:t>19/1/2026</a:t>
            </a:r>
            <a:endParaRPr lang="en-US" dirty="0">
              <a:cs typeface="Calibri" panose="020F0502020204030204" pitchFamily="34" charset="0"/>
            </a:endParaRP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17F2000D-CC7A-1E77-913B-C45C9EC03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34" y="854081"/>
            <a:ext cx="10540330" cy="5502270"/>
          </a:xfrm>
          <a:prstGeom prst="rect">
            <a:avLst/>
          </a:prstGeom>
        </p:spPr>
      </p:pic>
      <p:pic>
        <p:nvPicPr>
          <p:cNvPr id="88" name="תמונה 87">
            <a:extLst>
              <a:ext uri="{FF2B5EF4-FFF2-40B4-BE49-F238E27FC236}">
                <a16:creationId xmlns:a16="http://schemas.microsoft.com/office/drawing/2014/main" id="{ABC85F39-3256-73DB-4BD9-8A37A50B5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600" y="5475258"/>
            <a:ext cx="2384095" cy="1057322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2E3BA3DB-824A-B9CB-16E3-8C96AA3FB6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221" y="5197946"/>
            <a:ext cx="1955800" cy="805973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CBD0DA98-B9B5-7735-B54E-24F8CDC3E8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328" y="4899231"/>
            <a:ext cx="2395604" cy="145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596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1B0D9-2802-D907-EAD5-44EF376A9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9508AC06-D464-7B88-56F7-D712C8361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Science|Team 003| Final Presentation</a:t>
            </a:r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4F97D3B-D456-A495-EA9A-A2E74B60E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כותרת 4">
            <a:extLst>
              <a:ext uri="{FF2B5EF4-FFF2-40B4-BE49-F238E27FC236}">
                <a16:creationId xmlns:a16="http://schemas.microsoft.com/office/drawing/2014/main" id="{820E1EE9-732D-EF67-58E3-412DD5917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“Model Zoo” Experiment- Results</a:t>
            </a:r>
            <a:endParaRPr lang="he-IL" dirty="0"/>
          </a:p>
        </p:txBody>
      </p:sp>
      <p:sp>
        <p:nvSpPr>
          <p:cNvPr id="6" name="מציין מיקום של תאריך 1">
            <a:extLst>
              <a:ext uri="{FF2B5EF4-FFF2-40B4-BE49-F238E27FC236}">
                <a16:creationId xmlns:a16="http://schemas.microsoft.com/office/drawing/2014/main" id="{20134C0A-78A2-E240-F726-5A163B3A62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/>
          <a:p>
            <a:r>
              <a:rPr lang="he-IL" dirty="0"/>
              <a:t>19/1/2026</a:t>
            </a:r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7" name="תיבת טקסט 7">
            <a:extLst>
              <a:ext uri="{FF2B5EF4-FFF2-40B4-BE49-F238E27FC236}">
                <a16:creationId xmlns:a16="http://schemas.microsoft.com/office/drawing/2014/main" id="{78FBBC97-544E-50D9-8FAC-900914664257}"/>
              </a:ext>
            </a:extLst>
          </p:cNvPr>
          <p:cNvSpPr txBox="1"/>
          <p:nvPr/>
        </p:nvSpPr>
        <p:spPr>
          <a:xfrm>
            <a:off x="687088" y="828253"/>
            <a:ext cx="10651570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Continuous run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1FC4EC-4261-BFC7-A0A4-B71B299F2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227" y="1498204"/>
            <a:ext cx="5773545" cy="485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599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C609B-8077-20E0-9802-FEE239C47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7A6AD19E-4C55-8F72-D2D3-6156918EC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Science|Team 003| Final Presentation</a:t>
            </a:r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4083C13D-88A6-6C5A-596D-6E48C0684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מציין מיקום של תאריך 1">
            <a:extLst>
              <a:ext uri="{FF2B5EF4-FFF2-40B4-BE49-F238E27FC236}">
                <a16:creationId xmlns:a16="http://schemas.microsoft.com/office/drawing/2014/main" id="{72F1FD00-4727-66D7-D55E-CDB3392231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/>
          <a:p>
            <a:r>
              <a:rPr lang="he-IL" dirty="0"/>
              <a:t>19/1/2026</a:t>
            </a:r>
            <a:endParaRPr lang="en-US" dirty="0"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7C3DE2-1B5B-B310-CE3C-49F8DEBF7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7612" y="1478657"/>
            <a:ext cx="5796776" cy="4877694"/>
          </a:xfrm>
          <a:prstGeom prst="rect">
            <a:avLst/>
          </a:prstGeom>
        </p:spPr>
      </p:pic>
      <p:sp>
        <p:nvSpPr>
          <p:cNvPr id="9" name="כותרת 4">
            <a:extLst>
              <a:ext uri="{FF2B5EF4-FFF2-40B4-BE49-F238E27FC236}">
                <a16:creationId xmlns:a16="http://schemas.microsoft.com/office/drawing/2014/main" id="{F3D4FA6E-DCFF-EBA3-9D94-A0A8F71E3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“Model Zoo” Experiment- Results</a:t>
            </a:r>
            <a:endParaRPr lang="he-IL" dirty="0"/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3CF43D6C-3A1D-B611-F305-D9943AECF5A6}"/>
              </a:ext>
            </a:extLst>
          </p:cNvPr>
          <p:cNvSpPr txBox="1"/>
          <p:nvPr/>
        </p:nvSpPr>
        <p:spPr>
          <a:xfrm>
            <a:off x="798328" y="882396"/>
            <a:ext cx="6096000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Discrete run</a:t>
            </a:r>
          </a:p>
        </p:txBody>
      </p:sp>
    </p:spTree>
    <p:extLst>
      <p:ext uri="{BB962C8B-B14F-4D97-AF65-F5344CB8AC3E}">
        <p14:creationId xmlns:p14="http://schemas.microsoft.com/office/powerpoint/2010/main" val="1824041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D3295-F475-2318-0A00-1E6740948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360C2BDD-DFB0-BD26-46F9-86A56C11E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Science|Team 003| Final Presentation</a:t>
            </a:r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9E00B95-55B7-45EA-5AA5-3761A4AC3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כותרת 4">
            <a:extLst>
              <a:ext uri="{FF2B5EF4-FFF2-40B4-BE49-F238E27FC236}">
                <a16:creationId xmlns:a16="http://schemas.microsoft.com/office/drawing/2014/main" id="{8F73BA0E-5530-1F94-BD80-9B923D0FD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Feature Selection</a:t>
            </a:r>
            <a:endParaRPr lang="he-IL" dirty="0"/>
          </a:p>
        </p:txBody>
      </p:sp>
      <p:sp>
        <p:nvSpPr>
          <p:cNvPr id="6" name="מציין מיקום של תאריך 1">
            <a:extLst>
              <a:ext uri="{FF2B5EF4-FFF2-40B4-BE49-F238E27FC236}">
                <a16:creationId xmlns:a16="http://schemas.microsoft.com/office/drawing/2014/main" id="{884A33E7-4802-DD08-ABCA-7E6552112F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/>
          <a:p>
            <a:r>
              <a:rPr lang="he-IL" dirty="0"/>
              <a:t>19/1/2026</a:t>
            </a:r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2" name="Google Shape;101;p13">
            <a:extLst>
              <a:ext uri="{FF2B5EF4-FFF2-40B4-BE49-F238E27FC236}">
                <a16:creationId xmlns:a16="http://schemas.microsoft.com/office/drawing/2014/main" id="{CBB52184-AE3A-B76B-81DD-E800DC9E5939}"/>
              </a:ext>
            </a:extLst>
          </p:cNvPr>
          <p:cNvSpPr txBox="1"/>
          <p:nvPr/>
        </p:nvSpPr>
        <p:spPr>
          <a:xfrm>
            <a:off x="798328" y="976496"/>
            <a:ext cx="10222598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Poppins"/>
                <a:cs typeface="Calibri" panose="020F0502020204030204" pitchFamily="34" charset="0"/>
                <a:sym typeface="Poppins"/>
              </a:rPr>
              <a:t>Wrapper method – forward selection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41FE74-A383-2D4F-2E2F-057F62ACE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451" y="1469046"/>
            <a:ext cx="6778083" cy="481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467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D291-734D-1192-E403-AD3378E18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D8988221-EFF6-6F39-8065-D905D28A2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Science|Team 003| Final Presentation</a:t>
            </a:r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384889C9-3E56-A49A-F3C8-DF6698EB8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כותרת 4">
            <a:extLst>
              <a:ext uri="{FF2B5EF4-FFF2-40B4-BE49-F238E27FC236}">
                <a16:creationId xmlns:a16="http://schemas.microsoft.com/office/drawing/2014/main" id="{78D27C90-E966-CCCF-9465-F34E6B4F9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Feature Selection</a:t>
            </a:r>
            <a:endParaRPr lang="he-IL" dirty="0"/>
          </a:p>
        </p:txBody>
      </p:sp>
      <p:sp>
        <p:nvSpPr>
          <p:cNvPr id="6" name="מציין מיקום של תאריך 1">
            <a:extLst>
              <a:ext uri="{FF2B5EF4-FFF2-40B4-BE49-F238E27FC236}">
                <a16:creationId xmlns:a16="http://schemas.microsoft.com/office/drawing/2014/main" id="{61D79901-CB34-75CD-1932-5465207A21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/>
          <a:p>
            <a:r>
              <a:rPr lang="he-IL" dirty="0"/>
              <a:t>19/1/2026</a:t>
            </a:r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2" name="Google Shape;101;p13">
            <a:extLst>
              <a:ext uri="{FF2B5EF4-FFF2-40B4-BE49-F238E27FC236}">
                <a16:creationId xmlns:a16="http://schemas.microsoft.com/office/drawing/2014/main" id="{546E2F4B-C728-452A-1708-6BB592E08F6E}"/>
              </a:ext>
            </a:extLst>
          </p:cNvPr>
          <p:cNvSpPr txBox="1"/>
          <p:nvPr/>
        </p:nvSpPr>
        <p:spPr>
          <a:xfrm>
            <a:off x="798328" y="976496"/>
            <a:ext cx="1022259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Poppins"/>
                <a:cs typeface="Calibri" panose="020F0502020204030204" pitchFamily="34" charset="0"/>
                <a:sym typeface="Poppins"/>
              </a:rPr>
              <a:t>Wrapper method – forward selection</a:t>
            </a:r>
          </a:p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Poppins"/>
                <a:cs typeface="Calibri" panose="020F0502020204030204" pitchFamily="34" charset="0"/>
                <a:sym typeface="Poppins"/>
              </a:rPr>
              <a:t>Comparing top features from strategies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191F32-C2BC-AC36-A895-B691E1ED2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827665"/>
            <a:ext cx="7772400" cy="450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729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47324-FCC1-4EFD-C0A7-4632A9CF6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D6351D71-849A-AB81-CA9B-E6A0D4C57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Science|Team 003| Final Presentation</a:t>
            </a:r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74F099D-A940-AD2A-43DE-C36925D33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כותרת 4">
            <a:extLst>
              <a:ext uri="{FF2B5EF4-FFF2-40B4-BE49-F238E27FC236}">
                <a16:creationId xmlns:a16="http://schemas.microsoft.com/office/drawing/2014/main" id="{91FACA4D-1CDC-ADDA-6D30-A81F094CB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Feature Selection</a:t>
            </a:r>
            <a:endParaRPr lang="he-IL" dirty="0"/>
          </a:p>
        </p:txBody>
      </p:sp>
      <p:sp>
        <p:nvSpPr>
          <p:cNvPr id="6" name="מציין מיקום של תאריך 1">
            <a:extLst>
              <a:ext uri="{FF2B5EF4-FFF2-40B4-BE49-F238E27FC236}">
                <a16:creationId xmlns:a16="http://schemas.microsoft.com/office/drawing/2014/main" id="{D79F3934-0B6A-C532-FBF3-DA5B14BA68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/>
          <a:p>
            <a:r>
              <a:rPr lang="he-IL" dirty="0"/>
              <a:t>19/1/2026</a:t>
            </a:r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2" name="Google Shape;101;p13">
            <a:extLst>
              <a:ext uri="{FF2B5EF4-FFF2-40B4-BE49-F238E27FC236}">
                <a16:creationId xmlns:a16="http://schemas.microsoft.com/office/drawing/2014/main" id="{AB5C3C4A-56DF-294B-600F-FB5B63A615EF}"/>
              </a:ext>
            </a:extLst>
          </p:cNvPr>
          <p:cNvSpPr txBox="1"/>
          <p:nvPr/>
        </p:nvSpPr>
        <p:spPr>
          <a:xfrm>
            <a:off x="798328" y="976496"/>
            <a:ext cx="1022259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Poppins"/>
                <a:cs typeface="Calibri" panose="020F0502020204030204" pitchFamily="34" charset="0"/>
                <a:sym typeface="Poppins"/>
              </a:rPr>
              <a:t>Wrapper method – forward selection</a:t>
            </a:r>
          </a:p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Poppins"/>
                <a:cs typeface="Calibri" panose="020F0502020204030204" pitchFamily="34" charset="0"/>
                <a:sym typeface="Poppins"/>
              </a:rPr>
              <a:t>Comparing top features from strategies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A2F068-0D1E-F799-5AD2-85B99AE1B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863248"/>
            <a:ext cx="7772400" cy="450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943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06C73-748A-75E5-498D-F2A4757B6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B60880AB-0FC8-5131-2758-B32D27AD0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Science|Team 003| Final Presentation</a:t>
            </a:r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075D17F-5BBE-629C-7E3A-1C9018EE5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כותרת 4">
            <a:extLst>
              <a:ext uri="{FF2B5EF4-FFF2-40B4-BE49-F238E27FC236}">
                <a16:creationId xmlns:a16="http://schemas.microsoft.com/office/drawing/2014/main" id="{2CC91AB1-24C5-4987-98C3-E7E12323B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Feature Selection</a:t>
            </a:r>
            <a:endParaRPr lang="he-IL" dirty="0"/>
          </a:p>
        </p:txBody>
      </p:sp>
      <p:sp>
        <p:nvSpPr>
          <p:cNvPr id="6" name="מציין מיקום של תאריך 1">
            <a:extLst>
              <a:ext uri="{FF2B5EF4-FFF2-40B4-BE49-F238E27FC236}">
                <a16:creationId xmlns:a16="http://schemas.microsoft.com/office/drawing/2014/main" id="{BA860182-BFE3-07EB-4935-C9A3104688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/>
          <a:p>
            <a:r>
              <a:rPr lang="he-IL" dirty="0"/>
              <a:t>19/1/2026</a:t>
            </a:r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2" name="Google Shape;101;p13">
            <a:extLst>
              <a:ext uri="{FF2B5EF4-FFF2-40B4-BE49-F238E27FC236}">
                <a16:creationId xmlns:a16="http://schemas.microsoft.com/office/drawing/2014/main" id="{A14008A1-82D5-3553-241B-397CFD718328}"/>
              </a:ext>
            </a:extLst>
          </p:cNvPr>
          <p:cNvSpPr txBox="1"/>
          <p:nvPr/>
        </p:nvSpPr>
        <p:spPr>
          <a:xfrm>
            <a:off x="798328" y="976496"/>
            <a:ext cx="10222598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Poppins"/>
                <a:cs typeface="Calibri" panose="020F0502020204030204" pitchFamily="34" charset="0"/>
                <a:sym typeface="Poppins"/>
              </a:rPr>
              <a:t>Wrapper method – forward selection</a:t>
            </a:r>
          </a:p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Poppins"/>
                <a:cs typeface="Calibri" panose="020F0502020204030204" pitchFamily="34" charset="0"/>
                <a:sym typeface="Poppins"/>
              </a:rPr>
              <a:t>Comparing top features from strategies</a:t>
            </a:r>
            <a:endParaRPr lang="he-IL" dirty="0">
              <a:latin typeface="Calibri" panose="020F0502020204030204" pitchFamily="34" charset="0"/>
              <a:ea typeface="Poppins"/>
              <a:cs typeface="Calibri" panose="020F0502020204030204" pitchFamily="34" charset="0"/>
              <a:sym typeface="Poppins"/>
            </a:endParaRPr>
          </a:p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Poppins"/>
                <a:cs typeface="Calibri" panose="020F0502020204030204" pitchFamily="34" charset="0"/>
                <a:sym typeface="Poppins"/>
              </a:rPr>
              <a:t>Per fold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535621-28EF-DEC8-6680-9471D1C4E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600" y="2045352"/>
            <a:ext cx="6946800" cy="4310999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FA659B6D-F0A9-68F5-565C-E34E1BECE1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3292" y="2133691"/>
            <a:ext cx="2197308" cy="1363591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1F2F9B09-6AF4-19B3-C50C-50DC7B34D3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3587222"/>
            <a:ext cx="2190800" cy="1359552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D0B04FB6-BC40-1859-D6B5-24BFB3AE21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3292" y="4999102"/>
            <a:ext cx="2190800" cy="1359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306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237CF-64B4-7F29-E333-664B7855C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54E3C9E1-BBC6-51A1-5351-65A0EF69A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Science|Team 003| Final Presentation</a:t>
            </a:r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8F9259C-4642-20A9-D0F4-7BAB95E69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כותרת 4">
            <a:extLst>
              <a:ext uri="{FF2B5EF4-FFF2-40B4-BE49-F238E27FC236}">
                <a16:creationId xmlns:a16="http://schemas.microsoft.com/office/drawing/2014/main" id="{B1FEF85E-917B-0587-BE45-9A10E34D2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Future Direction: Bull A</a:t>
            </a:r>
            <a:r>
              <a:rPr lang="he-IL" dirty="0" err="1"/>
              <a:t>nd</a:t>
            </a:r>
            <a:r>
              <a:rPr lang="en-US" dirty="0"/>
              <a:t> Bear Regimes</a:t>
            </a:r>
            <a:endParaRPr lang="he-IL" dirty="0"/>
          </a:p>
        </p:txBody>
      </p:sp>
      <p:sp>
        <p:nvSpPr>
          <p:cNvPr id="6" name="מציין מיקום של תאריך 1">
            <a:extLst>
              <a:ext uri="{FF2B5EF4-FFF2-40B4-BE49-F238E27FC236}">
                <a16:creationId xmlns:a16="http://schemas.microsoft.com/office/drawing/2014/main" id="{DE49ADB7-8048-FD99-8A8C-C26E21CD8A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/>
          <a:p>
            <a:r>
              <a:rPr lang="he-IL" dirty="0"/>
              <a:t>19/1/2026</a:t>
            </a:r>
            <a:endParaRPr lang="en-US" dirty="0"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3CDD17-CE99-D6C2-5C90-3F7B30402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61340"/>
            <a:ext cx="7772400" cy="3927859"/>
          </a:xfrm>
          <a:prstGeom prst="rect">
            <a:avLst/>
          </a:prstGeom>
        </p:spPr>
      </p:pic>
      <p:pic>
        <p:nvPicPr>
          <p:cNvPr id="8" name="Picture 4" descr="Bull vs. Bear Markets: What's The Difference?">
            <a:extLst>
              <a:ext uri="{FF2B5EF4-FFF2-40B4-BE49-F238E27FC236}">
                <a16:creationId xmlns:a16="http://schemas.microsoft.com/office/drawing/2014/main" id="{92649CA7-6432-47D0-E844-CAE55A398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620" y="2086419"/>
            <a:ext cx="2008906" cy="1339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C7879C49-6AD8-68A6-BE02-AFC9E04818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506" b="15271"/>
          <a:stretch>
            <a:fillRect/>
          </a:stretch>
        </p:blipFill>
        <p:spPr>
          <a:xfrm>
            <a:off x="8737600" y="3825270"/>
            <a:ext cx="3245721" cy="180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533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0271B-C406-46BD-0A98-D424613E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8E60406A-FF18-D408-9305-4E0CDF3CA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Science|Team 003| Final Presentation</a:t>
            </a:r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033ED84-6706-3080-96F4-47AD7038A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כותרת 4">
            <a:extLst>
              <a:ext uri="{FF2B5EF4-FFF2-40B4-BE49-F238E27FC236}">
                <a16:creationId xmlns:a16="http://schemas.microsoft.com/office/drawing/2014/main" id="{54D50F43-CC0B-B838-3942-92966950F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status- Finished tasks</a:t>
            </a:r>
            <a:endParaRPr lang="he-IL" dirty="0"/>
          </a:p>
        </p:txBody>
      </p:sp>
      <p:sp>
        <p:nvSpPr>
          <p:cNvPr id="6" name="מציין מיקום של תאריך 1">
            <a:extLst>
              <a:ext uri="{FF2B5EF4-FFF2-40B4-BE49-F238E27FC236}">
                <a16:creationId xmlns:a16="http://schemas.microsoft.com/office/drawing/2014/main" id="{75E92917-C7D4-367B-378B-91A2063C2B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/>
          <a:p>
            <a:r>
              <a:rPr lang="he-IL" dirty="0"/>
              <a:t>19/1/2026</a:t>
            </a:r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E1D43857-4BC7-0BF7-45A5-1BEEFEAA2E31}"/>
              </a:ext>
            </a:extLst>
          </p:cNvPr>
          <p:cNvSpPr txBox="1"/>
          <p:nvPr/>
        </p:nvSpPr>
        <p:spPr>
          <a:xfrm>
            <a:off x="798328" y="828253"/>
            <a:ext cx="8968524" cy="545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b="1" u="sng" dirty="0"/>
              <a:t>Data Preparation:</a:t>
            </a:r>
            <a:endParaRPr lang="he-IL" b="1" u="sng" dirty="0"/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Data Access</a:t>
            </a:r>
            <a:endParaRPr kumimoji="0" lang="en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EDA </a:t>
            </a:r>
          </a:p>
          <a:p>
            <a:pPr marL="171450" marR="0" lvl="0" indent="-1714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Feature Engineering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Evaluation:</a:t>
            </a:r>
          </a:p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Benchmarks and 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Success Criteria</a:t>
            </a:r>
            <a:endParaRPr kumimoji="0" lang="en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R="0" lvl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" b="1" u="sng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 Selection:</a:t>
            </a:r>
            <a:endParaRPr kumimoji="0" lang="en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Experiment</a:t>
            </a:r>
          </a:p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Feature Selection</a:t>
            </a:r>
          </a:p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e-IL" b="1" u="sng" dirty="0"/>
          </a:p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" b="1" u="sng" dirty="0"/>
          </a:p>
        </p:txBody>
      </p:sp>
    </p:spTree>
    <p:extLst>
      <p:ext uri="{BB962C8B-B14F-4D97-AF65-F5344CB8AC3E}">
        <p14:creationId xmlns:p14="http://schemas.microsoft.com/office/powerpoint/2010/main" val="704327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03D8F-B5AA-554A-1FA6-F07D26D76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FC0AB4C6-FEC4-DABA-4633-0BD4E9E73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Science|Team 003| Final Presentation</a:t>
            </a:r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688E91B-07BE-9427-E714-D89DA4BE0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כותרת 4">
            <a:extLst>
              <a:ext uri="{FF2B5EF4-FFF2-40B4-BE49-F238E27FC236}">
                <a16:creationId xmlns:a16="http://schemas.microsoft.com/office/drawing/2014/main" id="{91C7315E-86E8-4911-7ED1-35CC12623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status – Future Directions</a:t>
            </a:r>
            <a:endParaRPr lang="he-IL" dirty="0"/>
          </a:p>
        </p:txBody>
      </p:sp>
      <p:sp>
        <p:nvSpPr>
          <p:cNvPr id="6" name="מציין מיקום של תאריך 1">
            <a:extLst>
              <a:ext uri="{FF2B5EF4-FFF2-40B4-BE49-F238E27FC236}">
                <a16:creationId xmlns:a16="http://schemas.microsoft.com/office/drawing/2014/main" id="{0837CFBE-41CF-9869-14EE-B161ED870A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/>
          <a:p>
            <a:r>
              <a:rPr lang="he-IL" dirty="0"/>
              <a:t>19/1/2026</a:t>
            </a:r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53DA2EF1-1914-7AB7-5FAD-A40C58E9F44C}"/>
              </a:ext>
            </a:extLst>
          </p:cNvPr>
          <p:cNvSpPr txBox="1"/>
          <p:nvPr/>
        </p:nvSpPr>
        <p:spPr>
          <a:xfrm>
            <a:off x="798328" y="857023"/>
            <a:ext cx="7537289" cy="545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457200" rtl="0">
              <a:lnSpc>
                <a:spcPct val="150000"/>
              </a:lnSpc>
            </a:pPr>
            <a:r>
              <a:rPr lang="en" b="1" u="sng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Remaining Tasks Before Submission:</a:t>
            </a:r>
            <a:endParaRPr lang="e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l" defTabSz="4572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</a:rPr>
              <a:t>Code debugging and cleaning</a:t>
            </a:r>
          </a:p>
          <a:p>
            <a:pPr marL="171450" indent="-171450" algn="l" defTabSz="4572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</a:rPr>
              <a:t>Notebook Order and Plotting Improvements</a:t>
            </a:r>
          </a:p>
          <a:p>
            <a:pPr marL="171450" indent="-171450" algn="l" defTabSz="4572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</a:rPr>
              <a:t>Explainability</a:t>
            </a:r>
          </a:p>
          <a:p>
            <a:pPr marL="171450" indent="-171450" algn="l" defTabSz="4572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</a:rPr>
              <a:t>Discussion</a:t>
            </a:r>
          </a:p>
          <a:p>
            <a:pPr marL="171450" indent="-171450" algn="l" defTabSz="457200" rtl="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l" defTabSz="457200" rtl="0">
              <a:lnSpc>
                <a:spcPct val="150000"/>
              </a:lnSpc>
              <a:defRPr/>
            </a:pPr>
            <a:r>
              <a:rPr lang="en" b="1" u="sng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Additional Deep Dive Directions:</a:t>
            </a:r>
          </a:p>
          <a:p>
            <a:pPr marL="171450" indent="-171450" algn="l" defTabSz="4572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</a:rPr>
              <a:t>Focus on </a:t>
            </a:r>
            <a:r>
              <a:rPr lang="en" dirty="0" err="1">
                <a:latin typeface="Calibri" panose="020F0502020204030204" pitchFamily="34" charset="0"/>
                <a:cs typeface="Calibri" panose="020F0502020204030204" pitchFamily="34" charset="0"/>
              </a:rPr>
              <a:t>RandomForest</a:t>
            </a:r>
            <a:endParaRPr lang="e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l" defTabSz="4572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</a:rPr>
              <a:t>Target horizon exploration</a:t>
            </a:r>
          </a:p>
          <a:p>
            <a:pPr marL="171450" indent="-171450" algn="l" defTabSz="4572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</a:rPr>
              <a:t>Bull &amp; Bear regimes</a:t>
            </a:r>
          </a:p>
          <a:p>
            <a:pPr marL="171450" indent="-171450" algn="l" defTabSz="4572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</a:rPr>
              <a:t>Continuous run against baseline</a:t>
            </a:r>
          </a:p>
          <a:p>
            <a:pPr marL="171450" indent="-171450" algn="l" defTabSz="4572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</a:rPr>
              <a:t>Explore difference between folds</a:t>
            </a:r>
          </a:p>
          <a:p>
            <a:pPr marL="171450" indent="-171450" algn="l" defTabSz="457200" rtl="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C60A9610-EAAA-8508-CE4A-031517F5A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682" y="857023"/>
            <a:ext cx="4931631" cy="2152395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104776A3-CE52-AE05-2669-850A86B889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5851" y="3428999"/>
            <a:ext cx="5276461" cy="2927351"/>
          </a:xfrm>
          <a:prstGeom prst="rect">
            <a:avLst/>
          </a:prstGeom>
        </p:spPr>
      </p:pic>
      <p:sp>
        <p:nvSpPr>
          <p:cNvPr id="15" name="מלבן 14">
            <a:extLst>
              <a:ext uri="{FF2B5EF4-FFF2-40B4-BE49-F238E27FC236}">
                <a16:creationId xmlns:a16="http://schemas.microsoft.com/office/drawing/2014/main" id="{2ABA1582-DA43-9D20-347A-F4E6207A20FD}"/>
              </a:ext>
            </a:extLst>
          </p:cNvPr>
          <p:cNvSpPr/>
          <p:nvPr/>
        </p:nvSpPr>
        <p:spPr>
          <a:xfrm>
            <a:off x="798327" y="968188"/>
            <a:ext cx="4526707" cy="2152395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/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6772D86B-330B-3BF0-3751-06940F3402C7}"/>
              </a:ext>
            </a:extLst>
          </p:cNvPr>
          <p:cNvSpPr/>
          <p:nvPr/>
        </p:nvSpPr>
        <p:spPr>
          <a:xfrm>
            <a:off x="798327" y="3337765"/>
            <a:ext cx="4526707" cy="2552047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336760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3EEA359A-0EFE-AA71-8651-F48A4E5C8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792BA-DE5A-904A-B48C-83C9489152F3}" type="datetime13">
              <a:rPr lang="he-IL" smtClean="0"/>
              <a:pPr/>
              <a:t>19/1/2026</a:t>
            </a:fld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12DCAB1A-A332-F2F4-B9B8-B3C85341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Science|Team 003| Final Presentation</a:t>
            </a:r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300C0F9E-C287-0B72-0884-1B97EDD40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 dirty="0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16A3A0A8-BECC-DACF-E837-09523410EC19}"/>
              </a:ext>
            </a:extLst>
          </p:cNvPr>
          <p:cNvSpPr/>
          <p:nvPr/>
        </p:nvSpPr>
        <p:spPr>
          <a:xfrm>
            <a:off x="3855750" y="1024879"/>
            <a:ext cx="4572000" cy="1009523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defPPr>
              <a:defRPr lang="en-IL"/>
            </a:defPPr>
            <a:lvl1pPr marL="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sz="3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you, Questions?</a:t>
            </a:r>
            <a:endParaRPr lang="en-US" sz="3600" dirty="0">
              <a:solidFill>
                <a:schemeClr val="tx2"/>
              </a:solidFill>
            </a:endParaRP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E41A01CD-D043-E54A-16D6-018CA0E23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127" y="2034402"/>
            <a:ext cx="6115246" cy="407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501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lef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501167-4D45-AB41-B982-6ACB66D6C64D}">
  <we:reference id="WA200005669" version="2.0.0.0" store="Omex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2585</TotalTime>
  <Words>682</Words>
  <Application>Microsoft Macintosh PowerPoint</Application>
  <PresentationFormat>מסך רחב</PresentationFormat>
  <Paragraphs>173</Paragraphs>
  <Slides>19</Slides>
  <Notes>16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19</vt:i4>
      </vt:variant>
    </vt:vector>
  </HeadingPairs>
  <TitlesOfParts>
    <vt:vector size="25" baseType="lpstr">
      <vt:lpstr>Aptos</vt:lpstr>
      <vt:lpstr>Arial</vt:lpstr>
      <vt:lpstr>Calibri</vt:lpstr>
      <vt:lpstr>Cambria Math</vt:lpstr>
      <vt:lpstr>Google Sans Text</vt:lpstr>
      <vt:lpstr>Office Theme</vt:lpstr>
      <vt:lpstr>מצגת של PowerPoint‏</vt:lpstr>
      <vt:lpstr>Agenda</vt:lpstr>
      <vt:lpstr>Reminder</vt:lpstr>
      <vt:lpstr>Foundations &amp; Baseline (Pre-Checkpoint)</vt:lpstr>
      <vt:lpstr>Roadmap And Progress</vt:lpstr>
      <vt:lpstr>Benchmarks and Success Criteria</vt:lpstr>
      <vt:lpstr>Feature Engineering</vt:lpstr>
      <vt:lpstr>Feature Engineering</vt:lpstr>
      <vt:lpstr>“Model Zoo” Experiment- Framework</vt:lpstr>
      <vt:lpstr>“Model Zoo” Experiment- Results</vt:lpstr>
      <vt:lpstr>“Model Zoo” Experiment- Results</vt:lpstr>
      <vt:lpstr>Feature Selection</vt:lpstr>
      <vt:lpstr>Feature Selection</vt:lpstr>
      <vt:lpstr>Feature Selection</vt:lpstr>
      <vt:lpstr>Feature Selection</vt:lpstr>
      <vt:lpstr>Future Direction: Bull And Bear Regimes</vt:lpstr>
      <vt:lpstr>Project status- Finished tasks</vt:lpstr>
      <vt:lpstr>Project status – Future Directions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אורי מוצפי</dc:creator>
  <cp:lastModifiedBy>Shaked Schnarch</cp:lastModifiedBy>
  <cp:revision>49</cp:revision>
  <dcterms:created xsi:type="dcterms:W3CDTF">2025-12-14T11:17:02Z</dcterms:created>
  <dcterms:modified xsi:type="dcterms:W3CDTF">2026-01-19T15:53:20Z</dcterms:modified>
</cp:coreProperties>
</file>