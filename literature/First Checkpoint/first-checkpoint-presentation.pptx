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0" r:id="rId2"/>
  </p:sldMasterIdLst>
  <p:notesMasterIdLst>
    <p:notesMasterId r:id="rId12"/>
  </p:notesMasterIdLst>
  <p:sldIdLst>
    <p:sldId id="300" r:id="rId3"/>
    <p:sldId id="302" r:id="rId4"/>
    <p:sldId id="307" r:id="rId5"/>
    <p:sldId id="306" r:id="rId6"/>
    <p:sldId id="301" r:id="rId7"/>
    <p:sldId id="305" r:id="rId8"/>
    <p:sldId id="304" r:id="rId9"/>
    <p:sldId id="303" r:id="rId10"/>
    <p:sldId id="256" r:id="rId11"/>
  </p:sldIdLst>
  <p:sldSz cx="12192000" cy="6858000"/>
  <p:notesSz cx="6858000" cy="9144000"/>
  <p:defaultTextStyle>
    <a:defPPr>
      <a:defRPr lang="en-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F18502-BAB4-4124-890F-A64FBD0DD3F5}" v="247" dt="2025-12-14T15:52:06.6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005" autoAdjust="0"/>
    <p:restoredTop sz="88462" autoAdjust="0"/>
  </p:normalViewPr>
  <p:slideViewPr>
    <p:cSldViewPr snapToGrid="0">
      <p:cViewPr>
        <p:scale>
          <a:sx n="50" d="100"/>
          <a:sy n="50" d="100"/>
        </p:scale>
        <p:origin x="1284" y="1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en-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r">
              <a:defRPr sz="1200"/>
            </a:lvl1pPr>
          </a:lstStyle>
          <a:p>
            <a:fld id="{EBB1BE45-1CB7-4396-9169-B755BB6ADE02}" type="datetimeFigureOut">
              <a:rPr lang="en-IL" smtClean="0"/>
              <a:t>14/12/2025</a:t>
            </a:fld>
            <a:endParaRPr lang="en-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en-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en-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C7A60F00-D350-442A-BC31-6786C900FCCD}" type="slidenum">
              <a:rPr lang="en-IL" smtClean="0"/>
              <a:t>‹#›</a:t>
            </a:fld>
            <a:endParaRPr lang="en-IL"/>
          </a:p>
        </p:txBody>
      </p:sp>
    </p:spTree>
    <p:extLst>
      <p:ext uri="{BB962C8B-B14F-4D97-AF65-F5344CB8AC3E}">
        <p14:creationId xmlns:p14="http://schemas.microsoft.com/office/powerpoint/2010/main" val="141264998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E8C17-5EBD-6867-1F2A-3FD6CEEB7360}"/>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0C6D901-8F1B-FE59-1AAA-7575905CA324}"/>
              </a:ext>
            </a:extLst>
          </p:cNvPr>
          <p:cNvSpPr>
            <a:spLocks noGrp="1" noRot="1" noChangeAspect="1"/>
          </p:cNvSpPr>
          <p:nvPr>
            <p:ph type="sldImg"/>
          </p:nvPr>
        </p:nvSpPr>
        <p:spPr/>
        <p:txBody>
          <a:bodyPr/>
          <a:lstStyle/>
          <a:p>
            <a:endParaRPr lang="en-IL"/>
          </a:p>
        </p:txBody>
      </p:sp>
      <p:sp>
        <p:nvSpPr>
          <p:cNvPr id="3" name="מציין מיקום של הערות 2">
            <a:extLst>
              <a:ext uri="{FF2B5EF4-FFF2-40B4-BE49-F238E27FC236}">
                <a16:creationId xmlns:a16="http://schemas.microsoft.com/office/drawing/2014/main" id="{49FF2129-7128-EEE6-1E41-1E21265A4B5A}"/>
              </a:ext>
            </a:extLst>
          </p:cNvPr>
          <p:cNvSpPr>
            <a:spLocks noGrp="1"/>
          </p:cNvSpPr>
          <p:nvPr>
            <p:ph type="body" idx="1"/>
          </p:nvPr>
        </p:nvSpPr>
        <p:spPr/>
        <p:txBody>
          <a:bodyPr/>
          <a:lstStyle/>
          <a:p>
            <a:pPr marL="0" indent="0" algn="l" rtl="0">
              <a:buFont typeface="Arial" panose="020B0604020202020204" pitchFamily="34" charset="0"/>
              <a:buNone/>
            </a:pPr>
            <a:r>
              <a:rPr lang="en" sz="1600" b="1" u="sng" dirty="0"/>
              <a:t>Moran</a:t>
            </a:r>
          </a:p>
          <a:p>
            <a:pPr marL="171450" indent="-171450" algn="l" rtl="0">
              <a:buFont typeface="Arial" panose="020B0604020202020204" pitchFamily="34" charset="0"/>
              <a:buChar char="•"/>
            </a:pPr>
            <a:r>
              <a:rPr lang="en" sz="1600" dirty="0"/>
              <a:t>Good </a:t>
            </a:r>
            <a:r>
              <a:rPr lang="en-US" sz="1600" dirty="0"/>
              <a:t>afternoon</a:t>
            </a:r>
            <a:r>
              <a:rPr lang="en" sz="1600" dirty="0"/>
              <a:t>. We are </a:t>
            </a:r>
            <a:r>
              <a:rPr lang="en" sz="1600" b="1" dirty="0"/>
              <a:t>Itay </a:t>
            </a:r>
            <a:r>
              <a:rPr lang="en" sz="1600" b="1" dirty="0" err="1"/>
              <a:t>Mutzafi</a:t>
            </a:r>
            <a:r>
              <a:rPr lang="en" sz="1600" b="1" dirty="0"/>
              <a:t>, Moran Zaks, and Shaked Schnarch</a:t>
            </a:r>
          </a:p>
          <a:p>
            <a:pPr algn="l" rtl="0"/>
            <a:endParaRPr lang="en" sz="1600" dirty="0"/>
          </a:p>
          <a:p>
            <a:pPr marL="171450" indent="-171450" algn="l" rtl="0">
              <a:buFont typeface="Arial" panose="020B0604020202020204" pitchFamily="34" charset="0"/>
              <a:buChar char="•"/>
            </a:pPr>
            <a:r>
              <a:rPr lang="en" sz="1600" b="1" dirty="0"/>
              <a:t>Our first option</a:t>
            </a:r>
            <a:r>
              <a:rPr lang="en" sz="1600" dirty="0"/>
              <a:t> is in the financial markets: </a:t>
            </a:r>
            <a:r>
              <a:rPr lang="en" sz="1600" b="1" dirty="0"/>
              <a:t>Stocks Prediction</a:t>
            </a:r>
            <a:r>
              <a:rPr lang="en" sz="1600" dirty="0"/>
              <a:t>. The task is a Supervised Binary Classification on noisy time-series data.</a:t>
            </a:r>
          </a:p>
          <a:p>
            <a:pPr marL="171450" indent="-171450" algn="l" rtl="0">
              <a:buFont typeface="Arial" panose="020B0604020202020204" pitchFamily="34" charset="0"/>
              <a:buChar char="•"/>
            </a:pPr>
            <a:r>
              <a:rPr lang="en" sz="1600" b="1" dirty="0"/>
              <a:t>Our second option</a:t>
            </a:r>
            <a:r>
              <a:rPr lang="en" sz="1600" dirty="0"/>
              <a:t> is in Neuroscience: </a:t>
            </a:r>
            <a:r>
              <a:rPr lang="en" sz="1600" b="1" dirty="0"/>
              <a:t>Detecting Autism Patterns in Brain Signals.</a:t>
            </a:r>
            <a:endParaRPr lang="en" sz="1600" dirty="0"/>
          </a:p>
          <a:p>
            <a:pPr algn="l" rtl="0"/>
            <a:r>
              <a:rPr lang="en" sz="1600" dirty="0"/>
              <a:t>We will now dive into the first option: Stocks Prediction.</a:t>
            </a:r>
          </a:p>
        </p:txBody>
      </p:sp>
      <p:sp>
        <p:nvSpPr>
          <p:cNvPr id="4" name="מציין מיקום של מספר שקופית 3">
            <a:extLst>
              <a:ext uri="{FF2B5EF4-FFF2-40B4-BE49-F238E27FC236}">
                <a16:creationId xmlns:a16="http://schemas.microsoft.com/office/drawing/2014/main" id="{985A63A9-8C30-A8B8-FDB1-68FDECBF9D67}"/>
              </a:ext>
            </a:extLst>
          </p:cNvPr>
          <p:cNvSpPr>
            <a:spLocks noGrp="1"/>
          </p:cNvSpPr>
          <p:nvPr>
            <p:ph type="sldNum" sz="quarter" idx="5"/>
          </p:nvPr>
        </p:nvSpPr>
        <p:spPr/>
        <p:txBody>
          <a:bodyPr/>
          <a:lstStyle/>
          <a:p>
            <a:fld id="{8E5DC117-EE4E-8244-9148-A797C76E8497}" type="slidenum">
              <a:rPr lang="he-IL" smtClean="0"/>
              <a:t>1</a:t>
            </a:fld>
            <a:endParaRPr lang="he-IL"/>
          </a:p>
        </p:txBody>
      </p:sp>
    </p:spTree>
    <p:extLst>
      <p:ext uri="{BB962C8B-B14F-4D97-AF65-F5344CB8AC3E}">
        <p14:creationId xmlns:p14="http://schemas.microsoft.com/office/powerpoint/2010/main" val="902482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txBody>
          <a:bodyPr/>
          <a:lstStyle/>
          <a:p>
            <a:endParaRPr lang="en-IL"/>
          </a:p>
        </p:txBody>
      </p:sp>
      <p:sp>
        <p:nvSpPr>
          <p:cNvPr id="3" name="מציין מיקום של הערות 2"/>
          <p:cNvSpPr>
            <a:spLocks noGrp="1"/>
          </p:cNvSpPr>
          <p:nvPr>
            <p:ph type="body" idx="1"/>
          </p:nvPr>
        </p:nvSpPr>
        <p:spPr/>
        <p:txBody>
          <a:bodyPr/>
          <a:lstStyle/>
          <a:p>
            <a:pPr marL="0" indent="0" algn="l" rtl="0">
              <a:buFont typeface="Arial" panose="020B0604020202020204" pitchFamily="34" charset="0"/>
              <a:buNone/>
            </a:pPr>
            <a:endParaRPr lang="en" sz="1600" b="0" dirty="0"/>
          </a:p>
        </p:txBody>
      </p:sp>
      <p:sp>
        <p:nvSpPr>
          <p:cNvPr id="4" name="מציין מיקום של מספר שקופית 3"/>
          <p:cNvSpPr>
            <a:spLocks noGrp="1"/>
          </p:cNvSpPr>
          <p:nvPr>
            <p:ph type="sldNum" sz="quarter" idx="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8E5DC117-EE4E-8244-9148-A797C76E8497}" type="slidenum">
              <a:rPr kumimoji="0" lang="he-IL"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2</a:t>
            </a:fld>
            <a:endParaRPr kumimoji="0" lang="he-IL"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576292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E8C17-5EBD-6867-1F2A-3FD6CEEB7360}"/>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0C6D901-8F1B-FE59-1AAA-7575905CA324}"/>
              </a:ext>
            </a:extLst>
          </p:cNvPr>
          <p:cNvSpPr>
            <a:spLocks noGrp="1" noRot="1" noChangeAspect="1"/>
          </p:cNvSpPr>
          <p:nvPr>
            <p:ph type="sldImg"/>
          </p:nvPr>
        </p:nvSpPr>
        <p:spPr/>
        <p:txBody>
          <a:bodyPr/>
          <a:lstStyle/>
          <a:p>
            <a:endParaRPr lang="en-IL"/>
          </a:p>
        </p:txBody>
      </p:sp>
      <p:sp>
        <p:nvSpPr>
          <p:cNvPr id="3" name="מציין מיקום של הערות 2">
            <a:extLst>
              <a:ext uri="{FF2B5EF4-FFF2-40B4-BE49-F238E27FC236}">
                <a16:creationId xmlns:a16="http://schemas.microsoft.com/office/drawing/2014/main" id="{49FF2129-7128-EEE6-1E41-1E21265A4B5A}"/>
              </a:ext>
            </a:extLst>
          </p:cNvPr>
          <p:cNvSpPr>
            <a:spLocks noGrp="1"/>
          </p:cNvSpPr>
          <p:nvPr>
            <p:ph type="body" idx="1"/>
          </p:nvPr>
        </p:nvSpPr>
        <p:spPr/>
        <p:txBody>
          <a:bodyPr/>
          <a:lstStyle/>
          <a:p>
            <a:pPr marL="0" indent="0" algn="l" rtl="0">
              <a:buFont typeface="Arial" panose="020B0604020202020204" pitchFamily="34" charset="0"/>
              <a:buNone/>
            </a:pPr>
            <a:endParaRPr lang="en" sz="1600" dirty="0"/>
          </a:p>
        </p:txBody>
      </p:sp>
      <p:sp>
        <p:nvSpPr>
          <p:cNvPr id="4" name="מציין מיקום של מספר שקופית 3">
            <a:extLst>
              <a:ext uri="{FF2B5EF4-FFF2-40B4-BE49-F238E27FC236}">
                <a16:creationId xmlns:a16="http://schemas.microsoft.com/office/drawing/2014/main" id="{985A63A9-8C30-A8B8-FDB1-68FDECBF9D67}"/>
              </a:ext>
            </a:extLst>
          </p:cNvPr>
          <p:cNvSpPr>
            <a:spLocks noGrp="1"/>
          </p:cNvSpPr>
          <p:nvPr>
            <p:ph type="sldNum" sz="quarter" idx="5"/>
          </p:nvPr>
        </p:nvSpPr>
        <p:spPr/>
        <p:txBody>
          <a:bodyPr/>
          <a:lstStyle/>
          <a:p>
            <a:fld id="{8E5DC117-EE4E-8244-9148-A797C76E8497}" type="slidenum">
              <a:rPr lang="he-IL" smtClean="0"/>
              <a:t>5</a:t>
            </a:fld>
            <a:endParaRPr lang="he-IL"/>
          </a:p>
        </p:txBody>
      </p:sp>
    </p:spTree>
    <p:extLst>
      <p:ext uri="{BB962C8B-B14F-4D97-AF65-F5344CB8AC3E}">
        <p14:creationId xmlns:p14="http://schemas.microsoft.com/office/powerpoint/2010/main" val="902482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txBody>
          <a:bodyPr/>
          <a:lstStyle/>
          <a:p>
            <a:endParaRPr lang="en-IL"/>
          </a:p>
        </p:txBody>
      </p:sp>
      <p:sp>
        <p:nvSpPr>
          <p:cNvPr id="3" name="מציין מיקום של הערות 2"/>
          <p:cNvSpPr>
            <a:spLocks noGrp="1"/>
          </p:cNvSpPr>
          <p:nvPr>
            <p:ph type="body" idx="1"/>
          </p:nvPr>
        </p:nvSpPr>
        <p:spPr/>
        <p:txBody>
          <a:bodyPr/>
          <a:lstStyle/>
          <a:p>
            <a:r>
              <a:rPr lang="en-US" dirty="0"/>
              <a:t>Only in Apple it was </a:t>
            </a:r>
            <a:r>
              <a:rPr lang="en-US" dirty="0" err="1"/>
              <a:t>signficant</a:t>
            </a:r>
            <a:r>
              <a:rPr lang="en-US" dirty="0"/>
              <a:t> </a:t>
            </a:r>
            <a:endParaRPr lang="en-IL" dirty="0"/>
          </a:p>
        </p:txBody>
      </p:sp>
      <p:sp>
        <p:nvSpPr>
          <p:cNvPr id="4" name="מציין מיקום של מספר שקופית 3"/>
          <p:cNvSpPr>
            <a:spLocks noGrp="1"/>
          </p:cNvSpPr>
          <p:nvPr>
            <p:ph type="sldNum" sz="quarter" idx="5"/>
          </p:nvPr>
        </p:nvSpPr>
        <p:spPr/>
        <p:txBody>
          <a:bodyPr/>
          <a:lstStyle/>
          <a:p>
            <a:fld id="{C7A60F00-D350-442A-BC31-6786C900FCCD}" type="slidenum">
              <a:rPr lang="en-IL" smtClean="0"/>
              <a:t>7</a:t>
            </a:fld>
            <a:endParaRPr lang="en-IL"/>
          </a:p>
        </p:txBody>
      </p:sp>
    </p:spTree>
    <p:extLst>
      <p:ext uri="{BB962C8B-B14F-4D97-AF65-F5344CB8AC3E}">
        <p14:creationId xmlns:p14="http://schemas.microsoft.com/office/powerpoint/2010/main" val="477350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l" rtl="0"/>
            <a:r>
              <a:rPr lang="en-US" b="1" dirty="0"/>
              <a:t>Volatility</a:t>
            </a:r>
            <a:r>
              <a:rPr lang="en-US" dirty="0"/>
              <a:t> – Standard Deviation of returns in the last X days.</a:t>
            </a:r>
          </a:p>
          <a:p>
            <a:pPr algn="l" rtl="0"/>
            <a:r>
              <a:rPr lang="en-US" b="1" dirty="0"/>
              <a:t>Moving Average </a:t>
            </a:r>
            <a:r>
              <a:rPr lang="en-US" dirty="0"/>
              <a:t>– the average of the closing price in the last X days.</a:t>
            </a:r>
            <a:endParaRPr lang="en-IL" dirty="0"/>
          </a:p>
        </p:txBody>
      </p:sp>
      <p:sp>
        <p:nvSpPr>
          <p:cNvPr id="4" name="מציין מיקום של מספר שקופית 3"/>
          <p:cNvSpPr>
            <a:spLocks noGrp="1"/>
          </p:cNvSpPr>
          <p:nvPr>
            <p:ph type="sldNum" sz="quarter" idx="5"/>
          </p:nvPr>
        </p:nvSpPr>
        <p:spPr/>
        <p:txBody>
          <a:bodyPr/>
          <a:lstStyle/>
          <a:p>
            <a:fld id="{C7A60F00-D350-442A-BC31-6786C900FCCD}" type="slidenum">
              <a:rPr lang="en-IL" smtClean="0"/>
              <a:t>8</a:t>
            </a:fld>
            <a:endParaRPr lang="en-IL"/>
          </a:p>
        </p:txBody>
      </p:sp>
    </p:spTree>
    <p:extLst>
      <p:ext uri="{BB962C8B-B14F-4D97-AF65-F5344CB8AC3E}">
        <p14:creationId xmlns:p14="http://schemas.microsoft.com/office/powerpoint/2010/main" val="76345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 sz="1200" b="1" kern="1200" dirty="0">
                <a:solidFill>
                  <a:schemeClr val="tx1"/>
                </a:solidFill>
                <a:effectLst/>
                <a:latin typeface="+mn-lt"/>
                <a:ea typeface="+mn-ea"/>
                <a:cs typeface="+mn-cs"/>
              </a:rPr>
              <a:t>Script for Shaked: Methodology &amp; Feature Engineering</a:t>
            </a:r>
          </a:p>
          <a:p>
            <a:pPr algn="l" rtl="0"/>
            <a:r>
              <a:rPr lang="en" sz="1200" b="1" kern="1200" dirty="0">
                <a:solidFill>
                  <a:schemeClr val="tx1"/>
                </a:solidFill>
                <a:effectLst/>
                <a:latin typeface="+mn-lt"/>
                <a:ea typeface="+mn-ea"/>
                <a:cs typeface="+mn-cs"/>
              </a:rPr>
              <a:t>(Transition: Moran finishes speaking about Data Sources)</a:t>
            </a:r>
            <a:endParaRPr lang="en" sz="1200" kern="1200" dirty="0">
              <a:solidFill>
                <a:schemeClr val="tx1"/>
              </a:solidFill>
              <a:effectLst/>
              <a:latin typeface="+mn-lt"/>
              <a:ea typeface="+mn-ea"/>
              <a:cs typeface="+mn-cs"/>
            </a:endParaRPr>
          </a:p>
          <a:p>
            <a:pPr algn="l" rtl="0"/>
            <a:r>
              <a:rPr lang="en" sz="1200" b="1" kern="1200" dirty="0">
                <a:solidFill>
                  <a:schemeClr val="tx1"/>
                </a:solidFill>
                <a:effectLst/>
                <a:latin typeface="+mn-lt"/>
                <a:ea typeface="+mn-ea"/>
                <a:cs typeface="+mn-cs"/>
              </a:rPr>
              <a:t>1. Opening &amp; Problem Formulation (approx. 1 min)</a:t>
            </a:r>
          </a:p>
          <a:p>
            <a:pPr algn="l" rtl="0"/>
            <a:r>
              <a:rPr lang="en" sz="1200" kern="1200" dirty="0">
                <a:solidFill>
                  <a:schemeClr val="tx1"/>
                </a:solidFill>
                <a:effectLst/>
                <a:latin typeface="+mn-lt"/>
                <a:ea typeface="+mn-ea"/>
                <a:cs typeface="+mn-cs"/>
              </a:rPr>
              <a:t>Action: </a:t>
            </a:r>
            <a:r>
              <a:rPr lang="he-IL" sz="1200" kern="1200" dirty="0">
                <a:solidFill>
                  <a:schemeClr val="tx1"/>
                </a:solidFill>
                <a:effectLst/>
                <a:latin typeface="+mn-lt"/>
                <a:ea typeface="+mn-ea"/>
                <a:cs typeface="+mn-cs"/>
              </a:rPr>
              <a:t>גלול במחברת לסעיף 1.2 </a:t>
            </a:r>
            <a:r>
              <a:rPr lang="en" sz="1200" kern="1200" dirty="0">
                <a:solidFill>
                  <a:schemeClr val="tx1"/>
                </a:solidFill>
                <a:effectLst/>
                <a:latin typeface="+mn-lt"/>
                <a:ea typeface="+mn-ea"/>
                <a:cs typeface="+mn-cs"/>
              </a:rPr>
              <a:t>Target Variable Definition.</a:t>
            </a:r>
          </a:p>
          <a:p>
            <a:pPr algn="l" rtl="0"/>
            <a:r>
              <a:rPr lang="en" sz="1200" kern="1200" dirty="0">
                <a:solidFill>
                  <a:schemeClr val="tx1"/>
                </a:solidFill>
                <a:effectLst/>
                <a:latin typeface="+mn-lt"/>
                <a:ea typeface="+mn-ea"/>
                <a:cs typeface="+mn-cs"/>
              </a:rPr>
              <a:t>Visual: </a:t>
            </a:r>
            <a:r>
              <a:rPr lang="he-IL" sz="1200" kern="1200" dirty="0">
                <a:solidFill>
                  <a:schemeClr val="tx1"/>
                </a:solidFill>
                <a:effectLst/>
                <a:latin typeface="+mn-lt"/>
                <a:ea typeface="+mn-ea"/>
                <a:cs typeface="+mn-cs"/>
              </a:rPr>
              <a:t>תראה את הנוסחה של </a:t>
            </a:r>
            <a:r>
              <a:rPr lang="en" sz="1200" kern="1200" dirty="0">
                <a:solidFill>
                  <a:schemeClr val="tx1"/>
                </a:solidFill>
                <a:effectLst/>
                <a:latin typeface="+mn-lt"/>
                <a:ea typeface="+mn-ea"/>
                <a:cs typeface="+mn-cs"/>
              </a:rPr>
              <a:t>Log Returns </a:t>
            </a:r>
            <a:r>
              <a:rPr lang="he-IL" sz="1200" kern="1200" dirty="0">
                <a:solidFill>
                  <a:schemeClr val="tx1"/>
                </a:solidFill>
                <a:effectLst/>
                <a:latin typeface="+mn-lt"/>
                <a:ea typeface="+mn-ea"/>
                <a:cs typeface="+mn-cs"/>
              </a:rPr>
              <a:t>או את הגרף שמראה שהמחיר לא </a:t>
            </a:r>
            <a:r>
              <a:rPr lang="he-IL" sz="1200" kern="1200" dirty="0" err="1">
                <a:solidFill>
                  <a:schemeClr val="tx1"/>
                </a:solidFill>
                <a:effectLst/>
                <a:latin typeface="+mn-lt"/>
                <a:ea typeface="+mn-ea"/>
                <a:cs typeface="+mn-cs"/>
              </a:rPr>
              <a:t>סטציונרי</a:t>
            </a:r>
            <a:r>
              <a:rPr lang="he-IL" sz="1200" kern="1200" dirty="0">
                <a:solidFill>
                  <a:schemeClr val="tx1"/>
                </a:solidFill>
                <a:effectLst/>
                <a:latin typeface="+mn-lt"/>
                <a:ea typeface="+mn-ea"/>
                <a:cs typeface="+mn-cs"/>
              </a:rPr>
              <a:t>.</a:t>
            </a:r>
          </a:p>
          <a:p>
            <a:pPr algn="l" rtl="0"/>
            <a:r>
              <a:rPr lang="en" sz="1200" kern="1200" dirty="0">
                <a:solidFill>
                  <a:schemeClr val="tx1"/>
                </a:solidFill>
                <a:effectLst/>
                <a:latin typeface="+mn-lt"/>
                <a:ea typeface="+mn-ea"/>
                <a:cs typeface="+mn-cs"/>
              </a:rPr>
              <a:t>You Say:</a:t>
            </a:r>
          </a:p>
          <a:p>
            <a:pPr algn="l" rtl="0"/>
            <a:r>
              <a:rPr lang="en" sz="1200" kern="1200" dirty="0">
                <a:solidFill>
                  <a:schemeClr val="tx1"/>
                </a:solidFill>
                <a:effectLst/>
                <a:latin typeface="+mn-lt"/>
                <a:ea typeface="+mn-ea"/>
                <a:cs typeface="+mn-cs"/>
              </a:rPr>
              <a:t>"Thank you, Moran.</a:t>
            </a:r>
          </a:p>
          <a:p>
            <a:pPr algn="l" rtl="0"/>
            <a:r>
              <a:rPr lang="en" sz="1200" kern="1200" dirty="0">
                <a:solidFill>
                  <a:schemeClr val="tx1"/>
                </a:solidFill>
                <a:effectLst/>
                <a:latin typeface="+mn-lt"/>
                <a:ea typeface="+mn-ea"/>
                <a:cs typeface="+mn-cs"/>
              </a:rPr>
              <a:t>So, moving from the raw data to our Methodology. My goal was to translate these datasets into a solvable optimization problem.</a:t>
            </a:r>
          </a:p>
          <a:p>
            <a:pPr algn="l" rtl="0"/>
            <a:r>
              <a:rPr lang="en" sz="1200" kern="1200" dirty="0">
                <a:solidFill>
                  <a:schemeClr val="tx1"/>
                </a:solidFill>
                <a:effectLst/>
                <a:latin typeface="+mn-lt"/>
                <a:ea typeface="+mn-ea"/>
                <a:cs typeface="+mn-cs"/>
              </a:rPr>
              <a:t>First, let's look at the Task Definition on the slide.</a:t>
            </a:r>
          </a:p>
          <a:p>
            <a:pPr algn="l" rtl="0"/>
            <a:r>
              <a:rPr lang="en" sz="1200" kern="1200" dirty="0">
                <a:solidFill>
                  <a:schemeClr val="tx1"/>
                </a:solidFill>
                <a:effectLst/>
                <a:latin typeface="+mn-lt"/>
                <a:ea typeface="+mn-ea"/>
                <a:cs typeface="+mn-cs"/>
              </a:rPr>
              <a:t>Initially, we considered a simple binary classification—Up or Down. However, we realized that raw stock prices are non-stationary, meaning their statistical properties change over time, which confuses ML models.</a:t>
            </a:r>
          </a:p>
          <a:p>
            <a:pPr algn="l" rtl="0"/>
            <a:r>
              <a:rPr lang="en" sz="1200" kern="1200" dirty="0">
                <a:solidFill>
                  <a:schemeClr val="tx1"/>
                </a:solidFill>
                <a:effectLst/>
                <a:latin typeface="+mn-lt"/>
                <a:ea typeface="+mn-ea"/>
                <a:cs typeface="+mn-cs"/>
              </a:rPr>
              <a:t>To fix this, we shifted to a Regression on Log-Returns.</a:t>
            </a:r>
          </a:p>
          <a:p>
            <a:pPr algn="l" rtl="0"/>
            <a:r>
              <a:rPr lang="en" sz="1200" kern="1200" dirty="0">
                <a:solidFill>
                  <a:schemeClr val="tx1"/>
                </a:solidFill>
                <a:effectLst/>
                <a:latin typeface="+mn-lt"/>
                <a:ea typeface="+mn-ea"/>
                <a:cs typeface="+mn-cs"/>
              </a:rPr>
              <a:t>As you can see in section 1.2, this transformation makes the data stationary while preserving the magnitude of the movement, not just the direction. This allows us to model the intensity of the market reaction, which is critical for a trading strategy."</a:t>
            </a:r>
          </a:p>
          <a:p>
            <a:pPr algn="l" rtl="0"/>
            <a:r>
              <a:rPr lang="en" sz="1200" b="1" kern="1200" dirty="0">
                <a:solidFill>
                  <a:schemeClr val="tx1"/>
                </a:solidFill>
                <a:effectLst/>
                <a:latin typeface="+mn-lt"/>
                <a:ea typeface="+mn-ea"/>
                <a:cs typeface="+mn-cs"/>
              </a:rPr>
              <a:t>2. Feature Engineering &amp; Challenges (approx. 1.5 - 2 mins)</a:t>
            </a:r>
          </a:p>
          <a:p>
            <a:pPr algn="l" rtl="0"/>
            <a:r>
              <a:rPr lang="en" sz="1200" kern="1200" dirty="0">
                <a:solidFill>
                  <a:schemeClr val="tx1"/>
                </a:solidFill>
                <a:effectLst/>
                <a:latin typeface="+mn-lt"/>
                <a:ea typeface="+mn-ea"/>
                <a:cs typeface="+mn-cs"/>
              </a:rPr>
              <a:t>Action: </a:t>
            </a:r>
            <a:r>
              <a:rPr lang="he-IL" sz="1200" kern="1200" dirty="0">
                <a:solidFill>
                  <a:schemeClr val="tx1"/>
                </a:solidFill>
                <a:effectLst/>
                <a:latin typeface="+mn-lt"/>
                <a:ea typeface="+mn-ea"/>
                <a:cs typeface="+mn-cs"/>
              </a:rPr>
              <a:t>גלול לסעיף 3.3 </a:t>
            </a:r>
            <a:r>
              <a:rPr lang="en" sz="1200" kern="1200" dirty="0">
                <a:solidFill>
                  <a:schemeClr val="tx1"/>
                </a:solidFill>
                <a:effectLst/>
                <a:latin typeface="+mn-lt"/>
                <a:ea typeface="+mn-ea"/>
                <a:cs typeface="+mn-cs"/>
              </a:rPr>
              <a:t>Sentiment Analysis (</a:t>
            </a:r>
            <a:r>
              <a:rPr lang="he-IL" sz="1200" kern="1200" dirty="0">
                <a:solidFill>
                  <a:schemeClr val="tx1"/>
                </a:solidFill>
                <a:effectLst/>
                <a:latin typeface="+mn-lt"/>
                <a:ea typeface="+mn-ea"/>
                <a:cs typeface="+mn-cs"/>
              </a:rPr>
              <a:t>ואח"כ דפדף מעט למטה לראות את הקוד של ה-</a:t>
            </a:r>
            <a:r>
              <a:rPr lang="en" sz="1200" kern="1200" dirty="0">
                <a:solidFill>
                  <a:schemeClr val="tx1"/>
                </a:solidFill>
                <a:effectLst/>
                <a:latin typeface="+mn-lt"/>
                <a:ea typeface="+mn-ea"/>
                <a:cs typeface="+mn-cs"/>
              </a:rPr>
              <a:t>Sampling).</a:t>
            </a:r>
          </a:p>
          <a:p>
            <a:pPr algn="l" rtl="0"/>
            <a:r>
              <a:rPr lang="en" sz="1200" kern="1200" dirty="0">
                <a:solidFill>
                  <a:schemeClr val="tx1"/>
                </a:solidFill>
                <a:effectLst/>
                <a:latin typeface="+mn-lt"/>
                <a:ea typeface="+mn-ea"/>
                <a:cs typeface="+mn-cs"/>
              </a:rPr>
              <a:t>Visual: </a:t>
            </a:r>
            <a:r>
              <a:rPr lang="he-IL" sz="1200" kern="1200" dirty="0">
                <a:solidFill>
                  <a:schemeClr val="tx1"/>
                </a:solidFill>
                <a:effectLst/>
                <a:latin typeface="+mn-lt"/>
                <a:ea typeface="+mn-ea"/>
                <a:cs typeface="+mn-cs"/>
              </a:rPr>
              <a:t>תראה את הקוד של ה-</a:t>
            </a:r>
            <a:r>
              <a:rPr lang="en" sz="1200" kern="1200" dirty="0">
                <a:solidFill>
                  <a:schemeClr val="tx1"/>
                </a:solidFill>
                <a:effectLst/>
                <a:latin typeface="+mn-lt"/>
                <a:ea typeface="+mn-ea"/>
                <a:cs typeface="+mn-cs"/>
              </a:rPr>
              <a:t>Stratified Sampling </a:t>
            </a:r>
            <a:r>
              <a:rPr lang="he-IL" sz="1200" kern="1200" dirty="0">
                <a:solidFill>
                  <a:schemeClr val="tx1"/>
                </a:solidFill>
                <a:effectLst/>
                <a:latin typeface="+mn-lt"/>
                <a:ea typeface="+mn-ea"/>
                <a:cs typeface="+mn-cs"/>
              </a:rPr>
              <a:t>או גרף סנטימנט.</a:t>
            </a:r>
          </a:p>
          <a:p>
            <a:pPr algn="l" rtl="0"/>
            <a:r>
              <a:rPr lang="en" sz="1200" kern="1200" dirty="0">
                <a:solidFill>
                  <a:schemeClr val="tx1"/>
                </a:solidFill>
                <a:effectLst/>
                <a:latin typeface="+mn-lt"/>
                <a:ea typeface="+mn-ea"/>
                <a:cs typeface="+mn-cs"/>
              </a:rPr>
              <a:t>You Say:</a:t>
            </a:r>
          </a:p>
          <a:p>
            <a:pPr algn="l" rtl="0"/>
            <a:r>
              <a:rPr lang="en" sz="1200" kern="1200" dirty="0">
                <a:solidFill>
                  <a:schemeClr val="tx1"/>
                </a:solidFill>
                <a:effectLst/>
                <a:latin typeface="+mn-lt"/>
                <a:ea typeface="+mn-ea"/>
                <a:cs typeface="+mn-cs"/>
              </a:rPr>
              <a:t>"Next, I want to discuss Feature Engineering, specifically the challenge we faced with the News Data.</a:t>
            </a:r>
          </a:p>
          <a:p>
            <a:pPr algn="l" rtl="0"/>
            <a:r>
              <a:rPr lang="en" sz="1200" kern="1200" dirty="0">
                <a:solidFill>
                  <a:schemeClr val="tx1"/>
                </a:solidFill>
                <a:effectLst/>
                <a:latin typeface="+mn-lt"/>
                <a:ea typeface="+mn-ea"/>
                <a:cs typeface="+mn-cs"/>
              </a:rPr>
              <a:t>We use </a:t>
            </a:r>
            <a:r>
              <a:rPr lang="en" sz="1200" kern="1200" dirty="0" err="1">
                <a:solidFill>
                  <a:schemeClr val="tx1"/>
                </a:solidFill>
                <a:effectLst/>
                <a:latin typeface="+mn-lt"/>
                <a:ea typeface="+mn-ea"/>
                <a:cs typeface="+mn-cs"/>
              </a:rPr>
              <a:t>FinBERT</a:t>
            </a:r>
            <a:r>
              <a:rPr lang="en" sz="1200" kern="1200" dirty="0">
                <a:solidFill>
                  <a:schemeClr val="tx1"/>
                </a:solidFill>
                <a:effectLst/>
                <a:latin typeface="+mn-lt"/>
                <a:ea typeface="+mn-ea"/>
                <a:cs typeface="+mn-cs"/>
              </a:rPr>
              <a:t> to extract sentiment. The problem was the sheer volume—processing over 1.4 million headlines is computationally incredibly expensive. It created a major bottleneck in our pipeline.</a:t>
            </a:r>
          </a:p>
          <a:p>
            <a:pPr algn="l" rtl="0"/>
            <a:r>
              <a:rPr lang="en" sz="1200" kern="1200" dirty="0">
                <a:solidFill>
                  <a:schemeClr val="tx1"/>
                </a:solidFill>
                <a:effectLst/>
                <a:latin typeface="+mn-lt"/>
                <a:ea typeface="+mn-ea"/>
                <a:cs typeface="+mn-cs"/>
              </a:rPr>
              <a:t>My solution was a Stratified Sampling Strategy.</a:t>
            </a:r>
          </a:p>
          <a:p>
            <a:pPr algn="l" rtl="0"/>
            <a:r>
              <a:rPr lang="en" sz="1200" kern="1200" dirty="0">
                <a:solidFill>
                  <a:schemeClr val="tx1"/>
                </a:solidFill>
                <a:effectLst/>
                <a:latin typeface="+mn-lt"/>
                <a:ea typeface="+mn-ea"/>
                <a:cs typeface="+mn-cs"/>
              </a:rPr>
              <a:t>Instead of processing every single headline, we sample a representative subset per day. This reduced our runtime from hours to minutes, while still approximating the daily 'Market Sentiment' signal effectively.</a:t>
            </a:r>
          </a:p>
          <a:p>
            <a:pPr algn="l" rtl="0"/>
            <a:r>
              <a:rPr lang="en" sz="1200" kern="1200" dirty="0">
                <a:solidFill>
                  <a:schemeClr val="tx1"/>
                </a:solidFill>
                <a:effectLst/>
                <a:latin typeface="+mn-lt"/>
                <a:ea typeface="+mn-ea"/>
                <a:cs typeface="+mn-cs"/>
              </a:rPr>
              <a:t>In addition to sentiment, we enriched the feature space with Exogenous Signals:</a:t>
            </a:r>
          </a:p>
          <a:p>
            <a:pPr algn="l" rtl="0"/>
            <a:r>
              <a:rPr lang="en" sz="1200" kern="1200" dirty="0">
                <a:solidFill>
                  <a:schemeClr val="tx1"/>
                </a:solidFill>
                <a:effectLst/>
                <a:latin typeface="+mn-lt"/>
                <a:ea typeface="+mn-ea"/>
                <a:cs typeface="+mn-cs"/>
              </a:rPr>
              <a:t>We added the VIX index to inject 'market fear' levels, and the S&amp;P 500 to capture systematic market risk.</a:t>
            </a:r>
          </a:p>
          <a:p>
            <a:pPr algn="l" rtl="0"/>
            <a:r>
              <a:rPr lang="en" sz="1200" kern="1200" dirty="0">
                <a:solidFill>
                  <a:schemeClr val="tx1"/>
                </a:solidFill>
                <a:effectLst/>
                <a:latin typeface="+mn-lt"/>
                <a:ea typeface="+mn-ea"/>
                <a:cs typeface="+mn-cs"/>
              </a:rPr>
              <a:t>Crucially, we structure the input using Lagged Features—meaning the model sees a window of past days (t-1, t-2) to predict the future, capturing the temporal trends."</a:t>
            </a:r>
          </a:p>
          <a:p>
            <a:pPr algn="l" rtl="0"/>
            <a:r>
              <a:rPr lang="en" sz="1200" b="1" kern="1200" dirty="0">
                <a:solidFill>
                  <a:schemeClr val="tx1"/>
                </a:solidFill>
                <a:effectLst/>
                <a:latin typeface="+mn-lt"/>
                <a:ea typeface="+mn-ea"/>
                <a:cs typeface="+mn-cs"/>
              </a:rPr>
              <a:t>3. Evaluation &amp; Validation Strategy (approx. 1.5 mins)</a:t>
            </a:r>
          </a:p>
          <a:p>
            <a:pPr algn="l" rtl="0"/>
            <a:r>
              <a:rPr lang="en" sz="1200" kern="1200" dirty="0">
                <a:solidFill>
                  <a:schemeClr val="tx1"/>
                </a:solidFill>
                <a:effectLst/>
                <a:latin typeface="+mn-lt"/>
                <a:ea typeface="+mn-ea"/>
                <a:cs typeface="+mn-cs"/>
              </a:rPr>
              <a:t>Action: </a:t>
            </a:r>
            <a:r>
              <a:rPr lang="he-IL" sz="1200" kern="1200" dirty="0">
                <a:solidFill>
                  <a:schemeClr val="tx1"/>
                </a:solidFill>
                <a:effectLst/>
                <a:latin typeface="+mn-lt"/>
                <a:ea typeface="+mn-ea"/>
                <a:cs typeface="+mn-cs"/>
              </a:rPr>
              <a:t>גלול לסעיף 5.1 </a:t>
            </a:r>
            <a:r>
              <a:rPr lang="en" sz="1200" kern="1200" dirty="0">
                <a:solidFill>
                  <a:schemeClr val="tx1"/>
                </a:solidFill>
                <a:effectLst/>
                <a:latin typeface="+mn-lt"/>
                <a:ea typeface="+mn-ea"/>
                <a:cs typeface="+mn-cs"/>
              </a:rPr>
              <a:t>Baseline Models </a:t>
            </a:r>
            <a:r>
              <a:rPr lang="he-IL" sz="1200" kern="1200" dirty="0">
                <a:solidFill>
                  <a:schemeClr val="tx1"/>
                </a:solidFill>
                <a:effectLst/>
                <a:latin typeface="+mn-lt"/>
                <a:ea typeface="+mn-ea"/>
                <a:cs typeface="+mn-cs"/>
              </a:rPr>
              <a:t>או 5.2 </a:t>
            </a:r>
            <a:r>
              <a:rPr lang="en" sz="1200" kern="1200" dirty="0">
                <a:solidFill>
                  <a:schemeClr val="tx1"/>
                </a:solidFill>
                <a:effectLst/>
                <a:latin typeface="+mn-lt"/>
                <a:ea typeface="+mn-ea"/>
                <a:cs typeface="+mn-cs"/>
              </a:rPr>
              <a:t>Evaluation Metrics.</a:t>
            </a:r>
          </a:p>
          <a:p>
            <a:pPr algn="l" rtl="0"/>
            <a:r>
              <a:rPr lang="en" sz="1200" kern="1200" dirty="0">
                <a:solidFill>
                  <a:schemeClr val="tx1"/>
                </a:solidFill>
                <a:effectLst/>
                <a:latin typeface="+mn-lt"/>
                <a:ea typeface="+mn-ea"/>
                <a:cs typeface="+mn-cs"/>
              </a:rPr>
              <a:t>Visual: </a:t>
            </a:r>
            <a:r>
              <a:rPr lang="he-IL" sz="1200" kern="1200" dirty="0">
                <a:solidFill>
                  <a:schemeClr val="tx1"/>
                </a:solidFill>
                <a:effectLst/>
                <a:latin typeface="+mn-lt"/>
                <a:ea typeface="+mn-ea"/>
                <a:cs typeface="+mn-cs"/>
              </a:rPr>
              <a:t>תראה את הטבלה של </a:t>
            </a:r>
            <a:r>
              <a:rPr lang="he-IL" sz="1200" kern="1200" dirty="0" err="1">
                <a:solidFill>
                  <a:schemeClr val="tx1"/>
                </a:solidFill>
                <a:effectLst/>
                <a:latin typeface="+mn-lt"/>
                <a:ea typeface="+mn-ea"/>
                <a:cs typeface="+mn-cs"/>
              </a:rPr>
              <a:t>המטריקות</a:t>
            </a:r>
            <a:r>
              <a:rPr lang="he-IL" sz="1200" kern="1200" dirty="0">
                <a:solidFill>
                  <a:schemeClr val="tx1"/>
                </a:solidFill>
                <a:effectLst/>
                <a:latin typeface="+mn-lt"/>
                <a:ea typeface="+mn-ea"/>
                <a:cs typeface="+mn-cs"/>
              </a:rPr>
              <a:t> או הגדרת ה-</a:t>
            </a:r>
            <a:r>
              <a:rPr lang="en" sz="1200" kern="1200" dirty="0">
                <a:solidFill>
                  <a:schemeClr val="tx1"/>
                </a:solidFill>
                <a:effectLst/>
                <a:latin typeface="+mn-lt"/>
                <a:ea typeface="+mn-ea"/>
                <a:cs typeface="+mn-cs"/>
              </a:rPr>
              <a:t>Time Split.</a:t>
            </a:r>
          </a:p>
          <a:p>
            <a:pPr algn="l" rtl="0"/>
            <a:r>
              <a:rPr lang="en" sz="1200" kern="1200" dirty="0">
                <a:solidFill>
                  <a:schemeClr val="tx1"/>
                </a:solidFill>
                <a:effectLst/>
                <a:latin typeface="+mn-lt"/>
                <a:ea typeface="+mn-ea"/>
                <a:cs typeface="+mn-cs"/>
              </a:rPr>
              <a:t>You Say:</a:t>
            </a:r>
          </a:p>
          <a:p>
            <a:pPr algn="l" rtl="0"/>
            <a:r>
              <a:rPr lang="en" sz="1200" kern="1200" dirty="0">
                <a:solidFill>
                  <a:schemeClr val="tx1"/>
                </a:solidFill>
                <a:effectLst/>
                <a:latin typeface="+mn-lt"/>
                <a:ea typeface="+mn-ea"/>
                <a:cs typeface="+mn-cs"/>
              </a:rPr>
              <a:t>"Finally, how do we evaluate success?</a:t>
            </a:r>
          </a:p>
          <a:p>
            <a:pPr algn="l" rtl="0"/>
            <a:r>
              <a:rPr lang="en" sz="1200" kern="1200" dirty="0">
                <a:solidFill>
                  <a:schemeClr val="tx1"/>
                </a:solidFill>
                <a:effectLst/>
                <a:latin typeface="+mn-lt"/>
                <a:ea typeface="+mn-ea"/>
                <a:cs typeface="+mn-cs"/>
              </a:rPr>
              <a:t>A common pitfall in financial ML is 'Look-Ahead Bias'. To prevent this, we strictly adhere to a Temporal Split validation—we train strictly on the past and test on the future.</a:t>
            </a:r>
          </a:p>
          <a:p>
            <a:pPr algn="l" rtl="0"/>
            <a:r>
              <a:rPr lang="en" sz="1200" kern="1200" dirty="0">
                <a:solidFill>
                  <a:schemeClr val="tx1"/>
                </a:solidFill>
                <a:effectLst/>
                <a:latin typeface="+mn-lt"/>
                <a:ea typeface="+mn-ea"/>
                <a:cs typeface="+mn-cs"/>
              </a:rPr>
              <a:t>We designed a </a:t>
            </a:r>
            <a:r>
              <a:rPr lang="en" sz="1200" b="1" kern="1200" dirty="0">
                <a:solidFill>
                  <a:schemeClr val="tx1"/>
                </a:solidFill>
                <a:effectLst/>
                <a:latin typeface="+mn-lt"/>
                <a:ea typeface="+mn-ea"/>
                <a:cs typeface="+mn-cs"/>
              </a:rPr>
              <a:t>Three-Layer Evaluation Framework</a:t>
            </a:r>
            <a:r>
              <a:rPr lang="en" sz="1200" kern="1200" dirty="0">
                <a:solidFill>
                  <a:schemeClr val="tx1"/>
                </a:solidFill>
                <a:effectLst/>
                <a:latin typeface="+mn-lt"/>
                <a:ea typeface="+mn-ea"/>
                <a:cs typeface="+mn-cs"/>
              </a:rPr>
              <a:t>:</a:t>
            </a:r>
          </a:p>
          <a:p>
            <a:pPr algn="l" rtl="0"/>
            <a:r>
              <a:rPr lang="en" sz="1200" b="1" kern="1200" dirty="0">
                <a:solidFill>
                  <a:schemeClr val="tx1"/>
                </a:solidFill>
                <a:effectLst/>
                <a:latin typeface="+mn-lt"/>
                <a:ea typeface="+mn-ea"/>
                <a:cs typeface="+mn-cs"/>
              </a:rPr>
              <a:t>Statistical:</a:t>
            </a:r>
            <a:r>
              <a:rPr lang="en" sz="1200" kern="1200" dirty="0">
                <a:solidFill>
                  <a:schemeClr val="tx1"/>
                </a:solidFill>
                <a:effectLst/>
                <a:latin typeface="+mn-lt"/>
                <a:ea typeface="+mn-ea"/>
                <a:cs typeface="+mn-cs"/>
              </a:rPr>
              <a:t> We use </a:t>
            </a:r>
            <a:r>
              <a:rPr lang="en" sz="1200" b="1" kern="1200" dirty="0">
                <a:solidFill>
                  <a:schemeClr val="tx1"/>
                </a:solidFill>
                <a:effectLst/>
                <a:latin typeface="+mn-lt"/>
                <a:ea typeface="+mn-ea"/>
                <a:cs typeface="+mn-cs"/>
              </a:rPr>
              <a:t>MSE</a:t>
            </a:r>
            <a:r>
              <a:rPr lang="en" sz="1200" kern="1200" dirty="0">
                <a:solidFill>
                  <a:schemeClr val="tx1"/>
                </a:solidFill>
                <a:effectLst/>
                <a:latin typeface="+mn-lt"/>
                <a:ea typeface="+mn-ea"/>
                <a:cs typeface="+mn-cs"/>
              </a:rPr>
              <a:t> to measure the raw regression error.</a:t>
            </a:r>
          </a:p>
          <a:p>
            <a:pPr algn="l" rtl="0"/>
            <a:r>
              <a:rPr lang="en" sz="1200" b="1" kern="1200" dirty="0">
                <a:solidFill>
                  <a:schemeClr val="tx1"/>
                </a:solidFill>
                <a:effectLst/>
                <a:latin typeface="+mn-lt"/>
                <a:ea typeface="+mn-ea"/>
                <a:cs typeface="+mn-cs"/>
              </a:rPr>
              <a:t>Financial:</a:t>
            </a:r>
            <a:r>
              <a:rPr lang="en" sz="1200" kern="1200" dirty="0">
                <a:solidFill>
                  <a:schemeClr val="tx1"/>
                </a:solidFill>
                <a:effectLst/>
                <a:latin typeface="+mn-lt"/>
                <a:ea typeface="+mn-ea"/>
                <a:cs typeface="+mn-cs"/>
              </a:rPr>
              <a:t> We calculate the </a:t>
            </a:r>
            <a:r>
              <a:rPr lang="en" sz="1200" b="1" kern="1200" dirty="0">
                <a:solidFill>
                  <a:schemeClr val="tx1"/>
                </a:solidFill>
                <a:effectLst/>
                <a:latin typeface="+mn-lt"/>
                <a:ea typeface="+mn-ea"/>
                <a:cs typeface="+mn-cs"/>
              </a:rPr>
              <a:t>Sharpe Ratio</a:t>
            </a:r>
            <a:r>
              <a:rPr lang="en" sz="1200" kern="1200" dirty="0">
                <a:solidFill>
                  <a:schemeClr val="tx1"/>
                </a:solidFill>
                <a:effectLst/>
                <a:latin typeface="+mn-lt"/>
                <a:ea typeface="+mn-ea"/>
                <a:cs typeface="+mn-cs"/>
              </a:rPr>
              <a:t> to see if the returns justify the risk involved.</a:t>
            </a:r>
          </a:p>
          <a:p>
            <a:pPr algn="l" rtl="0"/>
            <a:r>
              <a:rPr lang="en" sz="1200" b="1" kern="1200" dirty="0">
                <a:solidFill>
                  <a:schemeClr val="tx1"/>
                </a:solidFill>
                <a:effectLst/>
                <a:latin typeface="+mn-lt"/>
                <a:ea typeface="+mn-ea"/>
                <a:cs typeface="+mn-cs"/>
              </a:rPr>
              <a:t>Utility:</a:t>
            </a:r>
            <a:r>
              <a:rPr lang="en" sz="1200" kern="1200" dirty="0">
                <a:solidFill>
                  <a:schemeClr val="tx1"/>
                </a:solidFill>
                <a:effectLst/>
                <a:latin typeface="+mn-lt"/>
                <a:ea typeface="+mn-ea"/>
                <a:cs typeface="+mn-cs"/>
              </a:rPr>
              <a:t> We measure </a:t>
            </a:r>
            <a:r>
              <a:rPr lang="en" sz="1200" b="1" kern="1200" dirty="0">
                <a:solidFill>
                  <a:schemeClr val="tx1"/>
                </a:solidFill>
                <a:effectLst/>
                <a:latin typeface="+mn-lt"/>
                <a:ea typeface="+mn-ea"/>
                <a:cs typeface="+mn-cs"/>
              </a:rPr>
              <a:t>Directional Accuracy</a:t>
            </a:r>
            <a:r>
              <a:rPr lang="en" sz="1200" kern="1200" dirty="0">
                <a:solidFill>
                  <a:schemeClr val="tx1"/>
                </a:solidFill>
                <a:effectLst/>
                <a:latin typeface="+mn-lt"/>
                <a:ea typeface="+mn-ea"/>
                <a:cs typeface="+mn-cs"/>
              </a:rPr>
              <a:t>. Even though we are doing regression, knowing the correct </a:t>
            </a:r>
            <a:r>
              <a:rPr lang="en" sz="1200" i="1" kern="1200" dirty="0">
                <a:solidFill>
                  <a:schemeClr val="tx1"/>
                </a:solidFill>
                <a:effectLst/>
                <a:latin typeface="+mn-lt"/>
                <a:ea typeface="+mn-ea"/>
                <a:cs typeface="+mn-cs"/>
              </a:rPr>
              <a:t>sign</a:t>
            </a:r>
            <a:r>
              <a:rPr lang="en" sz="1200" kern="1200" dirty="0">
                <a:solidFill>
                  <a:schemeClr val="tx1"/>
                </a:solidFill>
                <a:effectLst/>
                <a:latin typeface="+mn-lt"/>
                <a:ea typeface="+mn-ea"/>
                <a:cs typeface="+mn-cs"/>
              </a:rPr>
              <a:t> (+/-) is what ultimately triggers a Buy or Sell signal.</a:t>
            </a:r>
          </a:p>
          <a:p>
            <a:pPr algn="l" rtl="0"/>
            <a:r>
              <a:rPr lang="en" sz="1200" kern="1200" dirty="0">
                <a:solidFill>
                  <a:schemeClr val="tx1"/>
                </a:solidFill>
                <a:effectLst/>
                <a:latin typeface="+mn-lt"/>
                <a:ea typeface="+mn-ea"/>
                <a:cs typeface="+mn-cs"/>
              </a:rPr>
              <a:t>We are comparing our results against a </a:t>
            </a:r>
            <a:r>
              <a:rPr lang="en" sz="1200" b="1" kern="1200" dirty="0">
                <a:solidFill>
                  <a:schemeClr val="tx1"/>
                </a:solidFill>
                <a:effectLst/>
                <a:latin typeface="+mn-lt"/>
                <a:ea typeface="+mn-ea"/>
                <a:cs typeface="+mn-cs"/>
              </a:rPr>
              <a:t>Naive Martingale Baseline</a:t>
            </a:r>
            <a:r>
              <a:rPr lang="en" sz="1200" kern="1200" dirty="0">
                <a:solidFill>
                  <a:schemeClr val="tx1"/>
                </a:solidFill>
                <a:effectLst/>
                <a:latin typeface="+mn-lt"/>
                <a:ea typeface="+mn-ea"/>
                <a:cs typeface="+mn-cs"/>
              </a:rPr>
              <a:t> (predicting zero change) and the </a:t>
            </a:r>
            <a:r>
              <a:rPr lang="en" sz="1200" b="1" kern="1200" dirty="0">
                <a:solidFill>
                  <a:schemeClr val="tx1"/>
                </a:solidFill>
                <a:effectLst/>
                <a:latin typeface="+mn-lt"/>
                <a:ea typeface="+mn-ea"/>
                <a:cs typeface="+mn-cs"/>
              </a:rPr>
              <a:t>CAPM Benchmark</a:t>
            </a:r>
            <a:r>
              <a:rPr lang="en" sz="1200" kern="1200" dirty="0">
                <a:solidFill>
                  <a:schemeClr val="tx1"/>
                </a:solidFill>
                <a:effectLst/>
                <a:latin typeface="+mn-lt"/>
                <a:ea typeface="+mn-ea"/>
                <a:cs typeface="+mn-cs"/>
              </a:rPr>
              <a:t>."</a:t>
            </a:r>
          </a:p>
          <a:p>
            <a:pPr algn="l" rtl="0"/>
            <a:r>
              <a:rPr lang="en" sz="1200" b="1" kern="1200" dirty="0">
                <a:solidFill>
                  <a:schemeClr val="tx1"/>
                </a:solidFill>
                <a:effectLst/>
                <a:latin typeface="+mn-lt"/>
                <a:ea typeface="+mn-ea"/>
                <a:cs typeface="+mn-cs"/>
              </a:rPr>
              <a:t>4. Closing &amp; Handoff (approx. 30 sec)</a:t>
            </a:r>
          </a:p>
          <a:p>
            <a:pPr algn="l" rtl="0"/>
            <a:r>
              <a:rPr lang="en" sz="1200" b="1" kern="1200" dirty="0">
                <a:solidFill>
                  <a:schemeClr val="tx1"/>
                </a:solidFill>
                <a:effectLst/>
                <a:latin typeface="+mn-lt"/>
                <a:ea typeface="+mn-ea"/>
                <a:cs typeface="+mn-cs"/>
              </a:rPr>
              <a:t>Action:</a:t>
            </a:r>
            <a:r>
              <a:rPr lang="en" sz="1200" kern="1200" dirty="0">
                <a:solidFill>
                  <a:schemeClr val="tx1"/>
                </a:solidFill>
                <a:effectLst/>
                <a:latin typeface="+mn-lt"/>
                <a:ea typeface="+mn-ea"/>
                <a:cs typeface="+mn-cs"/>
              </a:rPr>
              <a:t> </a:t>
            </a:r>
            <a:r>
              <a:rPr lang="he-IL" sz="1200" kern="1200" dirty="0">
                <a:solidFill>
                  <a:schemeClr val="tx1"/>
                </a:solidFill>
                <a:effectLst/>
                <a:latin typeface="+mn-lt"/>
                <a:ea typeface="+mn-ea"/>
                <a:cs typeface="+mn-cs"/>
              </a:rPr>
              <a:t>תסתכל על המצלמה/קהל.</a:t>
            </a:r>
          </a:p>
          <a:p>
            <a:pPr algn="l" rtl="0"/>
            <a:r>
              <a:rPr lang="en" sz="1200" kern="1200" dirty="0">
                <a:solidFill>
                  <a:schemeClr val="tx1"/>
                </a:solidFill>
                <a:effectLst/>
                <a:latin typeface="+mn-lt"/>
                <a:ea typeface="+mn-ea"/>
                <a:cs typeface="+mn-cs"/>
              </a:rPr>
              <a:t>You Say:</a:t>
            </a:r>
          </a:p>
          <a:p>
            <a:pPr algn="l" rtl="0"/>
            <a:r>
              <a:rPr lang="en" sz="1200" kern="1200" dirty="0">
                <a:solidFill>
                  <a:schemeClr val="tx1"/>
                </a:solidFill>
                <a:effectLst/>
                <a:latin typeface="+mn-lt"/>
                <a:ea typeface="+mn-ea"/>
                <a:cs typeface="+mn-cs"/>
              </a:rPr>
              <a:t>"To summarize my part: We have a stationary target, a computationally efficient NLP pipeline, and a rigorous, multi-layered evaluation framework.</a:t>
            </a:r>
          </a:p>
          <a:p>
            <a:pPr algn="l" rtl="0"/>
            <a:r>
              <a:rPr lang="en" sz="1200" kern="1200" dirty="0">
                <a:solidFill>
                  <a:schemeClr val="tx1"/>
                </a:solidFill>
                <a:effectLst/>
                <a:latin typeface="+mn-lt"/>
                <a:ea typeface="+mn-ea"/>
                <a:cs typeface="+mn-cs"/>
              </a:rPr>
              <a:t>I will now hand it over to Itay, who will present our current timeline and the challenges ahead."</a:t>
            </a:r>
          </a:p>
          <a:p>
            <a:pPr marL="0" algn="l" defTabSz="914400" rtl="0" eaLnBrk="1" latinLnBrk="0" hangingPunct="1"/>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D0FEC9D-3EC4-AF6E-4D25-F5D4C4448ABA}"/>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endParaRPr lang="en-IL"/>
          </a:p>
        </p:txBody>
      </p:sp>
      <p:sp>
        <p:nvSpPr>
          <p:cNvPr id="3" name="כותרת משנה 2">
            <a:extLst>
              <a:ext uri="{FF2B5EF4-FFF2-40B4-BE49-F238E27FC236}">
                <a16:creationId xmlns:a16="http://schemas.microsoft.com/office/drawing/2014/main" id="{AC604F59-9E91-2B28-6901-CC4402E45D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IL"/>
          </a:p>
        </p:txBody>
      </p:sp>
      <p:sp>
        <p:nvSpPr>
          <p:cNvPr id="4" name="מציין מיקום של תאריך 3">
            <a:extLst>
              <a:ext uri="{FF2B5EF4-FFF2-40B4-BE49-F238E27FC236}">
                <a16:creationId xmlns:a16="http://schemas.microsoft.com/office/drawing/2014/main" id="{B2D10C61-AD25-B46D-B528-301469AEA3E0}"/>
              </a:ext>
            </a:extLst>
          </p:cNvPr>
          <p:cNvSpPr>
            <a:spLocks noGrp="1"/>
          </p:cNvSpPr>
          <p:nvPr>
            <p:ph type="dt" sz="half" idx="10"/>
          </p:nvPr>
        </p:nvSpPr>
        <p:spPr/>
        <p:txBody>
          <a:bodyPr/>
          <a:lstStyle/>
          <a:p>
            <a:fld id="{E648E9CE-AA87-432D-9E51-9F6E5B7B2E5A}" type="datetimeFigureOut">
              <a:rPr lang="en-IL" smtClean="0"/>
              <a:t>14/12/2025</a:t>
            </a:fld>
            <a:endParaRPr lang="en-IL"/>
          </a:p>
        </p:txBody>
      </p:sp>
      <p:sp>
        <p:nvSpPr>
          <p:cNvPr id="5" name="מציין מיקום של כותרת תחתונה 4">
            <a:extLst>
              <a:ext uri="{FF2B5EF4-FFF2-40B4-BE49-F238E27FC236}">
                <a16:creationId xmlns:a16="http://schemas.microsoft.com/office/drawing/2014/main" id="{C5A074F2-BF1D-B692-3B68-5A1D266885AD}"/>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5A3E5CA0-542E-9E92-613F-6299FB2430A1}"/>
              </a:ext>
            </a:extLst>
          </p:cNvPr>
          <p:cNvSpPr>
            <a:spLocks noGrp="1"/>
          </p:cNvSpPr>
          <p:nvPr>
            <p:ph type="sldNum" sz="quarter" idx="12"/>
          </p:nvPr>
        </p:nvSpPr>
        <p:spPr/>
        <p:txBody>
          <a:bodyPr/>
          <a:lstStyle/>
          <a:p>
            <a:fld id="{6ACCAD18-447D-4FF3-8F49-69341032569D}" type="slidenum">
              <a:rPr lang="en-IL" smtClean="0"/>
              <a:t>‹#›</a:t>
            </a:fld>
            <a:endParaRPr lang="en-IL"/>
          </a:p>
        </p:txBody>
      </p:sp>
    </p:spTree>
    <p:extLst>
      <p:ext uri="{BB962C8B-B14F-4D97-AF65-F5344CB8AC3E}">
        <p14:creationId xmlns:p14="http://schemas.microsoft.com/office/powerpoint/2010/main" val="2638677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838C182-163B-7792-2976-105B913D1F42}"/>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2B4D0B13-F375-9A32-A896-5F1766C7D4F3}"/>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99E56687-ACD6-09F9-2F93-6117CE8763A6}"/>
              </a:ext>
            </a:extLst>
          </p:cNvPr>
          <p:cNvSpPr>
            <a:spLocks noGrp="1"/>
          </p:cNvSpPr>
          <p:nvPr>
            <p:ph type="dt" sz="half" idx="10"/>
          </p:nvPr>
        </p:nvSpPr>
        <p:spPr/>
        <p:txBody>
          <a:bodyPr/>
          <a:lstStyle/>
          <a:p>
            <a:fld id="{E648E9CE-AA87-432D-9E51-9F6E5B7B2E5A}" type="datetimeFigureOut">
              <a:rPr lang="en-IL" smtClean="0"/>
              <a:t>14/12/2025</a:t>
            </a:fld>
            <a:endParaRPr lang="en-IL"/>
          </a:p>
        </p:txBody>
      </p:sp>
      <p:sp>
        <p:nvSpPr>
          <p:cNvPr id="5" name="מציין מיקום של כותרת תחתונה 4">
            <a:extLst>
              <a:ext uri="{FF2B5EF4-FFF2-40B4-BE49-F238E27FC236}">
                <a16:creationId xmlns:a16="http://schemas.microsoft.com/office/drawing/2014/main" id="{21D2C79A-D25D-C343-2CD6-03C3F74FC35B}"/>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71AF5D47-AC47-FBB0-AE7F-AFBAE4A71CDB}"/>
              </a:ext>
            </a:extLst>
          </p:cNvPr>
          <p:cNvSpPr>
            <a:spLocks noGrp="1"/>
          </p:cNvSpPr>
          <p:nvPr>
            <p:ph type="sldNum" sz="quarter" idx="12"/>
          </p:nvPr>
        </p:nvSpPr>
        <p:spPr/>
        <p:txBody>
          <a:bodyPr/>
          <a:lstStyle/>
          <a:p>
            <a:fld id="{6ACCAD18-447D-4FF3-8F49-69341032569D}" type="slidenum">
              <a:rPr lang="en-IL" smtClean="0"/>
              <a:t>‹#›</a:t>
            </a:fld>
            <a:endParaRPr lang="en-IL"/>
          </a:p>
        </p:txBody>
      </p:sp>
    </p:spTree>
    <p:extLst>
      <p:ext uri="{BB962C8B-B14F-4D97-AF65-F5344CB8AC3E}">
        <p14:creationId xmlns:p14="http://schemas.microsoft.com/office/powerpoint/2010/main" val="3904011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2E1D24A-F5CF-1F6E-7AF5-49507FFB525E}"/>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81711A92-3101-75AE-C8FE-E8B62465CD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E9E72360-5D44-0144-02CF-AE4FC137A117}"/>
              </a:ext>
            </a:extLst>
          </p:cNvPr>
          <p:cNvSpPr>
            <a:spLocks noGrp="1"/>
          </p:cNvSpPr>
          <p:nvPr>
            <p:ph type="dt" sz="half" idx="10"/>
          </p:nvPr>
        </p:nvSpPr>
        <p:spPr/>
        <p:txBody>
          <a:bodyPr/>
          <a:lstStyle/>
          <a:p>
            <a:fld id="{E648E9CE-AA87-432D-9E51-9F6E5B7B2E5A}" type="datetimeFigureOut">
              <a:rPr lang="en-IL" smtClean="0"/>
              <a:t>14/12/2025</a:t>
            </a:fld>
            <a:endParaRPr lang="en-IL"/>
          </a:p>
        </p:txBody>
      </p:sp>
      <p:sp>
        <p:nvSpPr>
          <p:cNvPr id="5" name="מציין מיקום של כותרת תחתונה 4">
            <a:extLst>
              <a:ext uri="{FF2B5EF4-FFF2-40B4-BE49-F238E27FC236}">
                <a16:creationId xmlns:a16="http://schemas.microsoft.com/office/drawing/2014/main" id="{A944CD9F-7161-E82B-B580-228C7BA99365}"/>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601F43B7-7CF1-C13A-E37C-0004A95C47B9}"/>
              </a:ext>
            </a:extLst>
          </p:cNvPr>
          <p:cNvSpPr>
            <a:spLocks noGrp="1"/>
          </p:cNvSpPr>
          <p:nvPr>
            <p:ph type="sldNum" sz="quarter" idx="12"/>
          </p:nvPr>
        </p:nvSpPr>
        <p:spPr/>
        <p:txBody>
          <a:bodyPr/>
          <a:lstStyle/>
          <a:p>
            <a:fld id="{6ACCAD18-447D-4FF3-8F49-69341032569D}" type="slidenum">
              <a:rPr lang="en-IL" smtClean="0"/>
              <a:t>‹#›</a:t>
            </a:fld>
            <a:endParaRPr lang="en-IL"/>
          </a:p>
        </p:txBody>
      </p:sp>
    </p:spTree>
    <p:extLst>
      <p:ext uri="{BB962C8B-B14F-4D97-AF65-F5344CB8AC3E}">
        <p14:creationId xmlns:p14="http://schemas.microsoft.com/office/powerpoint/2010/main" val="1409021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293C4EE-CAB7-ADBE-257B-5B941983AC2A}"/>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AC3F9D2C-922D-4916-6838-A5137FC83D1A}"/>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תוכן 3">
            <a:extLst>
              <a:ext uri="{FF2B5EF4-FFF2-40B4-BE49-F238E27FC236}">
                <a16:creationId xmlns:a16="http://schemas.microsoft.com/office/drawing/2014/main" id="{B12067E7-D8D7-A4D6-96E3-58571363301D}"/>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5" name="מציין מיקום של תאריך 4">
            <a:extLst>
              <a:ext uri="{FF2B5EF4-FFF2-40B4-BE49-F238E27FC236}">
                <a16:creationId xmlns:a16="http://schemas.microsoft.com/office/drawing/2014/main" id="{00042EB5-CA1F-60B6-CEA3-5381F10EF910}"/>
              </a:ext>
            </a:extLst>
          </p:cNvPr>
          <p:cNvSpPr>
            <a:spLocks noGrp="1"/>
          </p:cNvSpPr>
          <p:nvPr>
            <p:ph type="dt" sz="half" idx="10"/>
          </p:nvPr>
        </p:nvSpPr>
        <p:spPr/>
        <p:txBody>
          <a:bodyPr/>
          <a:lstStyle/>
          <a:p>
            <a:fld id="{E648E9CE-AA87-432D-9E51-9F6E5B7B2E5A}" type="datetimeFigureOut">
              <a:rPr lang="en-IL" smtClean="0"/>
              <a:t>14/12/2025</a:t>
            </a:fld>
            <a:endParaRPr lang="en-IL"/>
          </a:p>
        </p:txBody>
      </p:sp>
      <p:sp>
        <p:nvSpPr>
          <p:cNvPr id="6" name="מציין מיקום של כותרת תחתונה 5">
            <a:extLst>
              <a:ext uri="{FF2B5EF4-FFF2-40B4-BE49-F238E27FC236}">
                <a16:creationId xmlns:a16="http://schemas.microsoft.com/office/drawing/2014/main" id="{9E0B91F5-E232-F966-C7D4-339801301D35}"/>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78D881BA-ED90-5652-110F-7F66500866F5}"/>
              </a:ext>
            </a:extLst>
          </p:cNvPr>
          <p:cNvSpPr>
            <a:spLocks noGrp="1"/>
          </p:cNvSpPr>
          <p:nvPr>
            <p:ph type="sldNum" sz="quarter" idx="12"/>
          </p:nvPr>
        </p:nvSpPr>
        <p:spPr/>
        <p:txBody>
          <a:bodyPr/>
          <a:lstStyle/>
          <a:p>
            <a:fld id="{6ACCAD18-447D-4FF3-8F49-69341032569D}" type="slidenum">
              <a:rPr lang="en-IL" smtClean="0"/>
              <a:t>‹#›</a:t>
            </a:fld>
            <a:endParaRPr lang="en-IL"/>
          </a:p>
        </p:txBody>
      </p:sp>
    </p:spTree>
    <p:extLst>
      <p:ext uri="{BB962C8B-B14F-4D97-AF65-F5344CB8AC3E}">
        <p14:creationId xmlns:p14="http://schemas.microsoft.com/office/powerpoint/2010/main" val="1411463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D5C4521-A272-417A-D016-538F31A9E5AA}"/>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04A8B8A2-1CC2-CD8A-61FC-38C5CC460F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C6B7A227-001C-F4FA-CCBB-22116C92D0B1}"/>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5" name="מציין מיקום טקסט 4">
            <a:extLst>
              <a:ext uri="{FF2B5EF4-FFF2-40B4-BE49-F238E27FC236}">
                <a16:creationId xmlns:a16="http://schemas.microsoft.com/office/drawing/2014/main" id="{9959DB0C-9FD3-169B-5151-53880B9C09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D861A194-7A8E-4582-28EB-55C69E4B3CB7}"/>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7" name="מציין מיקום של תאריך 6">
            <a:extLst>
              <a:ext uri="{FF2B5EF4-FFF2-40B4-BE49-F238E27FC236}">
                <a16:creationId xmlns:a16="http://schemas.microsoft.com/office/drawing/2014/main" id="{89260539-34D2-BE84-25ED-D8D7A5C7D130}"/>
              </a:ext>
            </a:extLst>
          </p:cNvPr>
          <p:cNvSpPr>
            <a:spLocks noGrp="1"/>
          </p:cNvSpPr>
          <p:nvPr>
            <p:ph type="dt" sz="half" idx="10"/>
          </p:nvPr>
        </p:nvSpPr>
        <p:spPr/>
        <p:txBody>
          <a:bodyPr/>
          <a:lstStyle/>
          <a:p>
            <a:fld id="{E648E9CE-AA87-432D-9E51-9F6E5B7B2E5A}" type="datetimeFigureOut">
              <a:rPr lang="en-IL" smtClean="0"/>
              <a:t>14/12/2025</a:t>
            </a:fld>
            <a:endParaRPr lang="en-IL"/>
          </a:p>
        </p:txBody>
      </p:sp>
      <p:sp>
        <p:nvSpPr>
          <p:cNvPr id="8" name="מציין מיקום של כותרת תחתונה 7">
            <a:extLst>
              <a:ext uri="{FF2B5EF4-FFF2-40B4-BE49-F238E27FC236}">
                <a16:creationId xmlns:a16="http://schemas.microsoft.com/office/drawing/2014/main" id="{BD25F8C3-3208-B296-830A-9BF8A298E623}"/>
              </a:ext>
            </a:extLst>
          </p:cNvPr>
          <p:cNvSpPr>
            <a:spLocks noGrp="1"/>
          </p:cNvSpPr>
          <p:nvPr>
            <p:ph type="ftr" sz="quarter" idx="11"/>
          </p:nvPr>
        </p:nvSpPr>
        <p:spPr/>
        <p:txBody>
          <a:bodyPr/>
          <a:lstStyle/>
          <a:p>
            <a:endParaRPr lang="en-IL"/>
          </a:p>
        </p:txBody>
      </p:sp>
      <p:sp>
        <p:nvSpPr>
          <p:cNvPr id="9" name="מציין מיקום של מספר שקופית 8">
            <a:extLst>
              <a:ext uri="{FF2B5EF4-FFF2-40B4-BE49-F238E27FC236}">
                <a16:creationId xmlns:a16="http://schemas.microsoft.com/office/drawing/2014/main" id="{5AF67944-0A69-003C-1D13-8A2BD52B1658}"/>
              </a:ext>
            </a:extLst>
          </p:cNvPr>
          <p:cNvSpPr>
            <a:spLocks noGrp="1"/>
          </p:cNvSpPr>
          <p:nvPr>
            <p:ph type="sldNum" sz="quarter" idx="12"/>
          </p:nvPr>
        </p:nvSpPr>
        <p:spPr/>
        <p:txBody>
          <a:bodyPr/>
          <a:lstStyle/>
          <a:p>
            <a:fld id="{6ACCAD18-447D-4FF3-8F49-69341032569D}" type="slidenum">
              <a:rPr lang="en-IL" smtClean="0"/>
              <a:t>‹#›</a:t>
            </a:fld>
            <a:endParaRPr lang="en-IL"/>
          </a:p>
        </p:txBody>
      </p:sp>
    </p:spTree>
    <p:extLst>
      <p:ext uri="{BB962C8B-B14F-4D97-AF65-F5344CB8AC3E}">
        <p14:creationId xmlns:p14="http://schemas.microsoft.com/office/powerpoint/2010/main" val="2814269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5EE0837-63C6-035B-9125-71294151D9E4}"/>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של תאריך 2">
            <a:extLst>
              <a:ext uri="{FF2B5EF4-FFF2-40B4-BE49-F238E27FC236}">
                <a16:creationId xmlns:a16="http://schemas.microsoft.com/office/drawing/2014/main" id="{CF0D5476-2E08-8D9B-60A4-F7AA1D264434}"/>
              </a:ext>
            </a:extLst>
          </p:cNvPr>
          <p:cNvSpPr>
            <a:spLocks noGrp="1"/>
          </p:cNvSpPr>
          <p:nvPr>
            <p:ph type="dt" sz="half" idx="10"/>
          </p:nvPr>
        </p:nvSpPr>
        <p:spPr/>
        <p:txBody>
          <a:bodyPr/>
          <a:lstStyle/>
          <a:p>
            <a:fld id="{E648E9CE-AA87-432D-9E51-9F6E5B7B2E5A}" type="datetimeFigureOut">
              <a:rPr lang="en-IL" smtClean="0"/>
              <a:t>14/12/2025</a:t>
            </a:fld>
            <a:endParaRPr lang="en-IL"/>
          </a:p>
        </p:txBody>
      </p:sp>
      <p:sp>
        <p:nvSpPr>
          <p:cNvPr id="4" name="מציין מיקום של כותרת תחתונה 3">
            <a:extLst>
              <a:ext uri="{FF2B5EF4-FFF2-40B4-BE49-F238E27FC236}">
                <a16:creationId xmlns:a16="http://schemas.microsoft.com/office/drawing/2014/main" id="{EF6EF0D4-7E45-BFE2-C9CD-765BE7E2749F}"/>
              </a:ext>
            </a:extLst>
          </p:cNvPr>
          <p:cNvSpPr>
            <a:spLocks noGrp="1"/>
          </p:cNvSpPr>
          <p:nvPr>
            <p:ph type="ftr" sz="quarter" idx="11"/>
          </p:nvPr>
        </p:nvSpPr>
        <p:spPr/>
        <p:txBody>
          <a:bodyPr/>
          <a:lstStyle/>
          <a:p>
            <a:endParaRPr lang="en-IL"/>
          </a:p>
        </p:txBody>
      </p:sp>
      <p:sp>
        <p:nvSpPr>
          <p:cNvPr id="5" name="מציין מיקום של מספר שקופית 4">
            <a:extLst>
              <a:ext uri="{FF2B5EF4-FFF2-40B4-BE49-F238E27FC236}">
                <a16:creationId xmlns:a16="http://schemas.microsoft.com/office/drawing/2014/main" id="{3AEDCCB8-8B75-C75D-D2F4-2EAC8A877A1C}"/>
              </a:ext>
            </a:extLst>
          </p:cNvPr>
          <p:cNvSpPr>
            <a:spLocks noGrp="1"/>
          </p:cNvSpPr>
          <p:nvPr>
            <p:ph type="sldNum" sz="quarter" idx="12"/>
          </p:nvPr>
        </p:nvSpPr>
        <p:spPr/>
        <p:txBody>
          <a:bodyPr/>
          <a:lstStyle/>
          <a:p>
            <a:fld id="{6ACCAD18-447D-4FF3-8F49-69341032569D}" type="slidenum">
              <a:rPr lang="en-IL" smtClean="0"/>
              <a:t>‹#›</a:t>
            </a:fld>
            <a:endParaRPr lang="en-IL"/>
          </a:p>
        </p:txBody>
      </p:sp>
    </p:spTree>
    <p:extLst>
      <p:ext uri="{BB962C8B-B14F-4D97-AF65-F5344CB8AC3E}">
        <p14:creationId xmlns:p14="http://schemas.microsoft.com/office/powerpoint/2010/main" val="973505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66059480-A2A2-88FB-D3F0-79857C119554}"/>
              </a:ext>
            </a:extLst>
          </p:cNvPr>
          <p:cNvSpPr>
            <a:spLocks noGrp="1"/>
          </p:cNvSpPr>
          <p:nvPr>
            <p:ph type="dt" sz="half" idx="10"/>
          </p:nvPr>
        </p:nvSpPr>
        <p:spPr/>
        <p:txBody>
          <a:bodyPr/>
          <a:lstStyle/>
          <a:p>
            <a:fld id="{E648E9CE-AA87-432D-9E51-9F6E5B7B2E5A}" type="datetimeFigureOut">
              <a:rPr lang="en-IL" smtClean="0"/>
              <a:t>14/12/2025</a:t>
            </a:fld>
            <a:endParaRPr lang="en-IL"/>
          </a:p>
        </p:txBody>
      </p:sp>
      <p:sp>
        <p:nvSpPr>
          <p:cNvPr id="3" name="מציין מיקום של כותרת תחתונה 2">
            <a:extLst>
              <a:ext uri="{FF2B5EF4-FFF2-40B4-BE49-F238E27FC236}">
                <a16:creationId xmlns:a16="http://schemas.microsoft.com/office/drawing/2014/main" id="{A543C890-581A-89CB-98FB-3B748A99C8EA}"/>
              </a:ext>
            </a:extLst>
          </p:cNvPr>
          <p:cNvSpPr>
            <a:spLocks noGrp="1"/>
          </p:cNvSpPr>
          <p:nvPr>
            <p:ph type="ftr" sz="quarter" idx="11"/>
          </p:nvPr>
        </p:nvSpPr>
        <p:spPr/>
        <p:txBody>
          <a:bodyPr/>
          <a:lstStyle/>
          <a:p>
            <a:endParaRPr lang="en-IL"/>
          </a:p>
        </p:txBody>
      </p:sp>
      <p:sp>
        <p:nvSpPr>
          <p:cNvPr id="4" name="מציין מיקום של מספר שקופית 3">
            <a:extLst>
              <a:ext uri="{FF2B5EF4-FFF2-40B4-BE49-F238E27FC236}">
                <a16:creationId xmlns:a16="http://schemas.microsoft.com/office/drawing/2014/main" id="{7B69C4AA-1025-98A0-283B-579A2AE3E2F9}"/>
              </a:ext>
            </a:extLst>
          </p:cNvPr>
          <p:cNvSpPr>
            <a:spLocks noGrp="1"/>
          </p:cNvSpPr>
          <p:nvPr>
            <p:ph type="sldNum" sz="quarter" idx="12"/>
          </p:nvPr>
        </p:nvSpPr>
        <p:spPr/>
        <p:txBody>
          <a:bodyPr/>
          <a:lstStyle/>
          <a:p>
            <a:fld id="{6ACCAD18-447D-4FF3-8F49-69341032569D}" type="slidenum">
              <a:rPr lang="en-IL" smtClean="0"/>
              <a:t>‹#›</a:t>
            </a:fld>
            <a:endParaRPr lang="en-IL"/>
          </a:p>
        </p:txBody>
      </p:sp>
    </p:spTree>
    <p:extLst>
      <p:ext uri="{BB962C8B-B14F-4D97-AF65-F5344CB8AC3E}">
        <p14:creationId xmlns:p14="http://schemas.microsoft.com/office/powerpoint/2010/main" val="3577085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32B6F57-8EE0-1327-50CE-AFA505BB7460}"/>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605F1D6C-ABD6-805D-204A-5653B39F31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טקסט 3">
            <a:extLst>
              <a:ext uri="{FF2B5EF4-FFF2-40B4-BE49-F238E27FC236}">
                <a16:creationId xmlns:a16="http://schemas.microsoft.com/office/drawing/2014/main" id="{9B6495B2-D1D3-6845-0E48-8362ACD8A7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3F0BC173-5B6D-2698-F17A-9A0394AF4106}"/>
              </a:ext>
            </a:extLst>
          </p:cNvPr>
          <p:cNvSpPr>
            <a:spLocks noGrp="1"/>
          </p:cNvSpPr>
          <p:nvPr>
            <p:ph type="dt" sz="half" idx="10"/>
          </p:nvPr>
        </p:nvSpPr>
        <p:spPr/>
        <p:txBody>
          <a:bodyPr/>
          <a:lstStyle/>
          <a:p>
            <a:fld id="{E648E9CE-AA87-432D-9E51-9F6E5B7B2E5A}" type="datetimeFigureOut">
              <a:rPr lang="en-IL" smtClean="0"/>
              <a:t>14/12/2025</a:t>
            </a:fld>
            <a:endParaRPr lang="en-IL"/>
          </a:p>
        </p:txBody>
      </p:sp>
      <p:sp>
        <p:nvSpPr>
          <p:cNvPr id="6" name="מציין מיקום של כותרת תחתונה 5">
            <a:extLst>
              <a:ext uri="{FF2B5EF4-FFF2-40B4-BE49-F238E27FC236}">
                <a16:creationId xmlns:a16="http://schemas.microsoft.com/office/drawing/2014/main" id="{6EE0EA91-B82C-40FD-1EE5-33AC3AF82148}"/>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97CBCD7A-EB0C-CF02-9D56-EBCEC814D96F}"/>
              </a:ext>
            </a:extLst>
          </p:cNvPr>
          <p:cNvSpPr>
            <a:spLocks noGrp="1"/>
          </p:cNvSpPr>
          <p:nvPr>
            <p:ph type="sldNum" sz="quarter" idx="12"/>
          </p:nvPr>
        </p:nvSpPr>
        <p:spPr/>
        <p:txBody>
          <a:bodyPr/>
          <a:lstStyle/>
          <a:p>
            <a:fld id="{6ACCAD18-447D-4FF3-8F49-69341032569D}" type="slidenum">
              <a:rPr lang="en-IL" smtClean="0"/>
              <a:t>‹#›</a:t>
            </a:fld>
            <a:endParaRPr lang="en-IL"/>
          </a:p>
        </p:txBody>
      </p:sp>
    </p:spTree>
    <p:extLst>
      <p:ext uri="{BB962C8B-B14F-4D97-AF65-F5344CB8AC3E}">
        <p14:creationId xmlns:p14="http://schemas.microsoft.com/office/powerpoint/2010/main" val="3291578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8E6227A-BFAB-A516-FD6E-C7C0B92D322B}"/>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IL"/>
          </a:p>
        </p:txBody>
      </p:sp>
      <p:sp>
        <p:nvSpPr>
          <p:cNvPr id="3" name="מציין מיקום של תמונה 2">
            <a:extLst>
              <a:ext uri="{FF2B5EF4-FFF2-40B4-BE49-F238E27FC236}">
                <a16:creationId xmlns:a16="http://schemas.microsoft.com/office/drawing/2014/main" id="{6FD41B4D-BD6A-DE53-DA6D-EC6659B38E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מציין מיקום טקסט 3">
            <a:extLst>
              <a:ext uri="{FF2B5EF4-FFF2-40B4-BE49-F238E27FC236}">
                <a16:creationId xmlns:a16="http://schemas.microsoft.com/office/drawing/2014/main" id="{8D901C64-978F-2890-2A9B-68BF47528D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F4016631-6B9E-A151-0ACD-182A9327F418}"/>
              </a:ext>
            </a:extLst>
          </p:cNvPr>
          <p:cNvSpPr>
            <a:spLocks noGrp="1"/>
          </p:cNvSpPr>
          <p:nvPr>
            <p:ph type="dt" sz="half" idx="10"/>
          </p:nvPr>
        </p:nvSpPr>
        <p:spPr/>
        <p:txBody>
          <a:bodyPr/>
          <a:lstStyle/>
          <a:p>
            <a:fld id="{E648E9CE-AA87-432D-9E51-9F6E5B7B2E5A}" type="datetimeFigureOut">
              <a:rPr lang="en-IL" smtClean="0"/>
              <a:t>14/12/2025</a:t>
            </a:fld>
            <a:endParaRPr lang="en-IL"/>
          </a:p>
        </p:txBody>
      </p:sp>
      <p:sp>
        <p:nvSpPr>
          <p:cNvPr id="6" name="מציין מיקום של כותרת תחתונה 5">
            <a:extLst>
              <a:ext uri="{FF2B5EF4-FFF2-40B4-BE49-F238E27FC236}">
                <a16:creationId xmlns:a16="http://schemas.microsoft.com/office/drawing/2014/main" id="{17579443-0F0F-EBCF-083D-C5B043EBA632}"/>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E62E7431-0023-C93B-2104-C14E2AA979C1}"/>
              </a:ext>
            </a:extLst>
          </p:cNvPr>
          <p:cNvSpPr>
            <a:spLocks noGrp="1"/>
          </p:cNvSpPr>
          <p:nvPr>
            <p:ph type="sldNum" sz="quarter" idx="12"/>
          </p:nvPr>
        </p:nvSpPr>
        <p:spPr/>
        <p:txBody>
          <a:bodyPr/>
          <a:lstStyle/>
          <a:p>
            <a:fld id="{6ACCAD18-447D-4FF3-8F49-69341032569D}" type="slidenum">
              <a:rPr lang="en-IL" smtClean="0"/>
              <a:t>‹#›</a:t>
            </a:fld>
            <a:endParaRPr lang="en-IL"/>
          </a:p>
        </p:txBody>
      </p:sp>
    </p:spTree>
    <p:extLst>
      <p:ext uri="{BB962C8B-B14F-4D97-AF65-F5344CB8AC3E}">
        <p14:creationId xmlns:p14="http://schemas.microsoft.com/office/powerpoint/2010/main" val="9079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809151F-A60B-09AE-2EB1-76628242FB07}"/>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של טקסט אנכי 2">
            <a:extLst>
              <a:ext uri="{FF2B5EF4-FFF2-40B4-BE49-F238E27FC236}">
                <a16:creationId xmlns:a16="http://schemas.microsoft.com/office/drawing/2014/main" id="{51DC1BD9-0FD8-986D-F0BC-EE47E327BCEF}"/>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A7BF4C49-C9F9-C061-AF46-5D813DAF8A2A}"/>
              </a:ext>
            </a:extLst>
          </p:cNvPr>
          <p:cNvSpPr>
            <a:spLocks noGrp="1"/>
          </p:cNvSpPr>
          <p:nvPr>
            <p:ph type="dt" sz="half" idx="10"/>
          </p:nvPr>
        </p:nvSpPr>
        <p:spPr/>
        <p:txBody>
          <a:bodyPr/>
          <a:lstStyle/>
          <a:p>
            <a:fld id="{E648E9CE-AA87-432D-9E51-9F6E5B7B2E5A}" type="datetimeFigureOut">
              <a:rPr lang="en-IL" smtClean="0"/>
              <a:t>14/12/2025</a:t>
            </a:fld>
            <a:endParaRPr lang="en-IL"/>
          </a:p>
        </p:txBody>
      </p:sp>
      <p:sp>
        <p:nvSpPr>
          <p:cNvPr id="5" name="מציין מיקום של כותרת תחתונה 4">
            <a:extLst>
              <a:ext uri="{FF2B5EF4-FFF2-40B4-BE49-F238E27FC236}">
                <a16:creationId xmlns:a16="http://schemas.microsoft.com/office/drawing/2014/main" id="{AA6E2F2F-C76D-DDC4-7FF2-AE812E241D08}"/>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63F17809-F764-643D-33FB-2217071143A3}"/>
              </a:ext>
            </a:extLst>
          </p:cNvPr>
          <p:cNvSpPr>
            <a:spLocks noGrp="1"/>
          </p:cNvSpPr>
          <p:nvPr>
            <p:ph type="sldNum" sz="quarter" idx="12"/>
          </p:nvPr>
        </p:nvSpPr>
        <p:spPr/>
        <p:txBody>
          <a:bodyPr/>
          <a:lstStyle/>
          <a:p>
            <a:fld id="{6ACCAD18-447D-4FF3-8F49-69341032569D}" type="slidenum">
              <a:rPr lang="en-IL" smtClean="0"/>
              <a:t>‹#›</a:t>
            </a:fld>
            <a:endParaRPr lang="en-IL"/>
          </a:p>
        </p:txBody>
      </p:sp>
    </p:spTree>
    <p:extLst>
      <p:ext uri="{BB962C8B-B14F-4D97-AF65-F5344CB8AC3E}">
        <p14:creationId xmlns:p14="http://schemas.microsoft.com/office/powerpoint/2010/main" val="675185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22BDF22A-4B4E-B594-6F62-D36D35CB22E5}"/>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endParaRPr lang="en-IL"/>
          </a:p>
        </p:txBody>
      </p:sp>
      <p:sp>
        <p:nvSpPr>
          <p:cNvPr id="3" name="מציין מיקום של טקסט אנכי 2">
            <a:extLst>
              <a:ext uri="{FF2B5EF4-FFF2-40B4-BE49-F238E27FC236}">
                <a16:creationId xmlns:a16="http://schemas.microsoft.com/office/drawing/2014/main" id="{4627D547-8BDA-FDB5-A4A5-AF3837C4A2A2}"/>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AA00C551-31F0-CB95-945C-367BF0079D01}"/>
              </a:ext>
            </a:extLst>
          </p:cNvPr>
          <p:cNvSpPr>
            <a:spLocks noGrp="1"/>
          </p:cNvSpPr>
          <p:nvPr>
            <p:ph type="dt" sz="half" idx="10"/>
          </p:nvPr>
        </p:nvSpPr>
        <p:spPr/>
        <p:txBody>
          <a:bodyPr/>
          <a:lstStyle/>
          <a:p>
            <a:fld id="{E648E9CE-AA87-432D-9E51-9F6E5B7B2E5A}" type="datetimeFigureOut">
              <a:rPr lang="en-IL" smtClean="0"/>
              <a:t>14/12/2025</a:t>
            </a:fld>
            <a:endParaRPr lang="en-IL"/>
          </a:p>
        </p:txBody>
      </p:sp>
      <p:sp>
        <p:nvSpPr>
          <p:cNvPr id="5" name="מציין מיקום של כותרת תחתונה 4">
            <a:extLst>
              <a:ext uri="{FF2B5EF4-FFF2-40B4-BE49-F238E27FC236}">
                <a16:creationId xmlns:a16="http://schemas.microsoft.com/office/drawing/2014/main" id="{6DA09EFA-AF8A-1C14-68C1-49BA1BF9B13C}"/>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D8BAE655-BE2F-F7C6-D639-6BC822220F9D}"/>
              </a:ext>
            </a:extLst>
          </p:cNvPr>
          <p:cNvSpPr>
            <a:spLocks noGrp="1"/>
          </p:cNvSpPr>
          <p:nvPr>
            <p:ph type="sldNum" sz="quarter" idx="12"/>
          </p:nvPr>
        </p:nvSpPr>
        <p:spPr/>
        <p:txBody>
          <a:bodyPr/>
          <a:lstStyle/>
          <a:p>
            <a:fld id="{6ACCAD18-447D-4FF3-8F49-69341032569D}" type="slidenum">
              <a:rPr lang="en-IL" smtClean="0"/>
              <a:t>‹#›</a:t>
            </a:fld>
            <a:endParaRPr lang="en-IL"/>
          </a:p>
        </p:txBody>
      </p:sp>
    </p:spTree>
    <p:extLst>
      <p:ext uri="{BB962C8B-B14F-4D97-AF65-F5344CB8AC3E}">
        <p14:creationId xmlns:p14="http://schemas.microsoft.com/office/powerpoint/2010/main" val="3697221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571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87F66E4-06DE-0B40-BCA4-D92B925EC948}" type="datetime13">
              <a:rPr lang="he-IL" smtClean="0"/>
              <a:t>14.12.2025</a:t>
            </a:fld>
            <a:endParaRPr lang="en-US"/>
          </a:p>
        </p:txBody>
      </p:sp>
      <p:sp>
        <p:nvSpPr>
          <p:cNvPr id="5" name="Footer Placeholder 4"/>
          <p:cNvSpPr>
            <a:spLocks noGrp="1"/>
          </p:cNvSpPr>
          <p:nvPr>
            <p:ph type="ftr" sz="quarter" idx="11"/>
          </p:nvPr>
        </p:nvSpPr>
        <p:spPr/>
        <p:txBody>
          <a:bodyPr/>
          <a:lstStyle/>
          <a:p>
            <a:r>
              <a:rPr lang="en-US"/>
              <a:t>Data Science Workshop - Project Options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85621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4F0310-300F-EA41-93E9-AF345995A55A}" type="datetime13">
              <a:rPr lang="he-IL" smtClean="0"/>
              <a:t>14.12.2025</a:t>
            </a:fld>
            <a:endParaRPr lang="en-US"/>
          </a:p>
        </p:txBody>
      </p:sp>
      <p:sp>
        <p:nvSpPr>
          <p:cNvPr id="5" name="Footer Placeholder 4"/>
          <p:cNvSpPr>
            <a:spLocks noGrp="1"/>
          </p:cNvSpPr>
          <p:nvPr>
            <p:ph type="ftr" sz="quarter" idx="11"/>
          </p:nvPr>
        </p:nvSpPr>
        <p:spPr/>
        <p:txBody>
          <a:bodyPr/>
          <a:lstStyle/>
          <a:p>
            <a:r>
              <a:rPr lang="en-US"/>
              <a:t>Data Science Workshop - Project Options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675392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702750-F344-EA49-A46F-381423429D01}" type="datetime13">
              <a:rPr lang="he-IL" smtClean="0"/>
              <a:t>14.12.2025</a:t>
            </a:fld>
            <a:endParaRPr lang="en-US"/>
          </a:p>
        </p:txBody>
      </p:sp>
      <p:sp>
        <p:nvSpPr>
          <p:cNvPr id="5" name="Footer Placeholder 4"/>
          <p:cNvSpPr>
            <a:spLocks noGrp="1"/>
          </p:cNvSpPr>
          <p:nvPr>
            <p:ph type="ftr" sz="quarter" idx="11"/>
          </p:nvPr>
        </p:nvSpPr>
        <p:spPr/>
        <p:txBody>
          <a:bodyPr/>
          <a:lstStyle/>
          <a:p>
            <a:r>
              <a:rPr lang="en-US"/>
              <a:t>Data Science Workshop - Project Options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35104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357DBA8-90D0-AA42-9A42-ED7A3AEB6C51}" type="datetime13">
              <a:rPr lang="he-IL" smtClean="0"/>
              <a:t>14.12.2025</a:t>
            </a:fld>
            <a:endParaRPr lang="en-US"/>
          </a:p>
        </p:txBody>
      </p:sp>
      <p:sp>
        <p:nvSpPr>
          <p:cNvPr id="6" name="Footer Placeholder 5"/>
          <p:cNvSpPr>
            <a:spLocks noGrp="1"/>
          </p:cNvSpPr>
          <p:nvPr>
            <p:ph type="ftr" sz="quarter" idx="11"/>
          </p:nvPr>
        </p:nvSpPr>
        <p:spPr/>
        <p:txBody>
          <a:bodyPr/>
          <a:lstStyle/>
          <a:p>
            <a:r>
              <a:rPr lang="en-US"/>
              <a:t>Data Science Workshop - Project Options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319303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0F3303-2B75-724A-9960-61AFF1FB627A}" type="datetime13">
              <a:rPr lang="he-IL" smtClean="0"/>
              <a:t>14.12.2025</a:t>
            </a:fld>
            <a:endParaRPr lang="en-US"/>
          </a:p>
        </p:txBody>
      </p:sp>
      <p:sp>
        <p:nvSpPr>
          <p:cNvPr id="8" name="Footer Placeholder 7"/>
          <p:cNvSpPr>
            <a:spLocks noGrp="1"/>
          </p:cNvSpPr>
          <p:nvPr>
            <p:ph type="ftr" sz="quarter" idx="11"/>
          </p:nvPr>
        </p:nvSpPr>
        <p:spPr/>
        <p:txBody>
          <a:bodyPr/>
          <a:lstStyle/>
          <a:p>
            <a:r>
              <a:rPr lang="en-US"/>
              <a:t>Data Science Workshop - Project Options</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546601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56D5A8D-213E-BE43-978A-A6A5A5743FF1}" type="datetime13">
              <a:rPr lang="he-IL" smtClean="0"/>
              <a:t>14.12.2025</a:t>
            </a:fld>
            <a:endParaRPr lang="en-US"/>
          </a:p>
        </p:txBody>
      </p:sp>
      <p:sp>
        <p:nvSpPr>
          <p:cNvPr id="4" name="Footer Placeholder 3"/>
          <p:cNvSpPr>
            <a:spLocks noGrp="1"/>
          </p:cNvSpPr>
          <p:nvPr>
            <p:ph type="ftr" sz="quarter" idx="11"/>
          </p:nvPr>
        </p:nvSpPr>
        <p:spPr/>
        <p:txBody>
          <a:bodyPr/>
          <a:lstStyle/>
          <a:p>
            <a:r>
              <a:rPr lang="en-US"/>
              <a:t>Data Science Workshop - Project Options</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50102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A792BA-DE5A-904A-B48C-83C9489152F3}" type="datetime13">
              <a:rPr lang="he-IL" smtClean="0"/>
              <a:t>14.12.2025</a:t>
            </a:fld>
            <a:endParaRPr lang="en-US"/>
          </a:p>
        </p:txBody>
      </p:sp>
      <p:sp>
        <p:nvSpPr>
          <p:cNvPr id="3" name="Footer Placeholder 2"/>
          <p:cNvSpPr>
            <a:spLocks noGrp="1"/>
          </p:cNvSpPr>
          <p:nvPr>
            <p:ph type="ftr" sz="quarter" idx="11"/>
          </p:nvPr>
        </p:nvSpPr>
        <p:spPr/>
        <p:txBody>
          <a:bodyPr/>
          <a:lstStyle/>
          <a:p>
            <a:r>
              <a:rPr lang="en-US"/>
              <a:t>Data Science Workshop - Project Options</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055898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5D403C-09DB-3844-9712-8DBC90134995}" type="datetime13">
              <a:rPr lang="he-IL" smtClean="0"/>
              <a:t>14.12.2025</a:t>
            </a:fld>
            <a:endParaRPr lang="en-US"/>
          </a:p>
        </p:txBody>
      </p:sp>
      <p:sp>
        <p:nvSpPr>
          <p:cNvPr id="6" name="Footer Placeholder 5"/>
          <p:cNvSpPr>
            <a:spLocks noGrp="1"/>
          </p:cNvSpPr>
          <p:nvPr>
            <p:ph type="ftr" sz="quarter" idx="11"/>
          </p:nvPr>
        </p:nvSpPr>
        <p:spPr/>
        <p:txBody>
          <a:bodyPr/>
          <a:lstStyle/>
          <a:p>
            <a:r>
              <a:rPr lang="en-US"/>
              <a:t>Data Science Workshop - Project Options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598740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34B927-E40F-1F45-B303-502F6E359B11}" type="datetime13">
              <a:rPr lang="he-IL" smtClean="0"/>
              <a:t>14.12.2025</a:t>
            </a:fld>
            <a:endParaRPr lang="en-US"/>
          </a:p>
        </p:txBody>
      </p:sp>
      <p:sp>
        <p:nvSpPr>
          <p:cNvPr id="6" name="Footer Placeholder 5"/>
          <p:cNvSpPr>
            <a:spLocks noGrp="1"/>
          </p:cNvSpPr>
          <p:nvPr>
            <p:ph type="ftr" sz="quarter" idx="11"/>
          </p:nvPr>
        </p:nvSpPr>
        <p:spPr/>
        <p:txBody>
          <a:bodyPr/>
          <a:lstStyle/>
          <a:p>
            <a:r>
              <a:rPr lang="en-US"/>
              <a:t>Data Science Workshop - Project Options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41202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6DD2B9-D026-6142-837F-6E665A79104F}" type="datetime13">
              <a:rPr lang="he-IL" smtClean="0"/>
              <a:t>14.12.2025</a:t>
            </a:fld>
            <a:endParaRPr lang="en-US"/>
          </a:p>
        </p:txBody>
      </p:sp>
      <p:sp>
        <p:nvSpPr>
          <p:cNvPr id="5" name="Footer Placeholder 4"/>
          <p:cNvSpPr>
            <a:spLocks noGrp="1"/>
          </p:cNvSpPr>
          <p:nvPr>
            <p:ph type="ftr" sz="quarter" idx="11"/>
          </p:nvPr>
        </p:nvSpPr>
        <p:spPr/>
        <p:txBody>
          <a:bodyPr/>
          <a:lstStyle/>
          <a:p>
            <a:r>
              <a:rPr lang="en-US"/>
              <a:t>Data Science Workshop - Project Options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672203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DEDE16-B89B-4947-B45B-F5CDDF51DE33}" type="datetime13">
              <a:rPr lang="he-IL" smtClean="0"/>
              <a:t>14.12.2025</a:t>
            </a:fld>
            <a:endParaRPr lang="en-US"/>
          </a:p>
        </p:txBody>
      </p:sp>
      <p:sp>
        <p:nvSpPr>
          <p:cNvPr id="5" name="Footer Placeholder 4"/>
          <p:cNvSpPr>
            <a:spLocks noGrp="1"/>
          </p:cNvSpPr>
          <p:nvPr>
            <p:ph type="ftr" sz="quarter" idx="11"/>
          </p:nvPr>
        </p:nvSpPr>
        <p:spPr/>
        <p:txBody>
          <a:bodyPr/>
          <a:lstStyle/>
          <a:p>
            <a:r>
              <a:rPr lang="en-US"/>
              <a:t>Data Science Workshop - Project Options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6527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F268D7E2-1984-FA4E-E4C2-D627E86B390A}"/>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A3389695-8706-342C-2E1E-D4FB11D2FD20}"/>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E629FB81-1EB7-3CA0-0397-D06350ABA561}"/>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E648E9CE-AA87-432D-9E51-9F6E5B7B2E5A}" type="datetimeFigureOut">
              <a:rPr lang="en-IL" smtClean="0"/>
              <a:t>14/12/2025</a:t>
            </a:fld>
            <a:endParaRPr lang="en-IL"/>
          </a:p>
        </p:txBody>
      </p:sp>
      <p:sp>
        <p:nvSpPr>
          <p:cNvPr id="5" name="מציין מיקום של כותרת תחתונה 4">
            <a:extLst>
              <a:ext uri="{FF2B5EF4-FFF2-40B4-BE49-F238E27FC236}">
                <a16:creationId xmlns:a16="http://schemas.microsoft.com/office/drawing/2014/main" id="{31DFA1E0-B4A3-04B5-E52F-7A1649B499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en-IL"/>
          </a:p>
        </p:txBody>
      </p:sp>
      <p:sp>
        <p:nvSpPr>
          <p:cNvPr id="6" name="מציין מיקום של מספר שקופית 5">
            <a:extLst>
              <a:ext uri="{FF2B5EF4-FFF2-40B4-BE49-F238E27FC236}">
                <a16:creationId xmlns:a16="http://schemas.microsoft.com/office/drawing/2014/main" id="{D01C0C1B-EA27-DBC5-B6ED-E4D88915B9AC}"/>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6ACCAD18-447D-4FF3-8F49-69341032569D}" type="slidenum">
              <a:rPr lang="en-IL" smtClean="0"/>
              <a:t>‹#›</a:t>
            </a:fld>
            <a:endParaRPr lang="en-IL"/>
          </a:p>
        </p:txBody>
      </p:sp>
    </p:spTree>
    <p:extLst>
      <p:ext uri="{BB962C8B-B14F-4D97-AF65-F5344CB8AC3E}">
        <p14:creationId xmlns:p14="http://schemas.microsoft.com/office/powerpoint/2010/main" val="2440122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800AD9-F236-2F43-BB94-EFEF07D6F6F7}" type="datetime13">
              <a:rPr lang="he-IL" smtClean="0"/>
              <a:t>14.12.2025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Data Science Workshop - Project Options</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407110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png"/><Relationship Id="rId7" Type="http://schemas.microsoft.com/office/2007/relationships/hdphoto" Target="../media/hdphoto1.wdp"/><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image" Target="../media/image2.png"/><Relationship Id="rId5" Type="http://schemas.openxmlformats.org/officeDocument/2006/relationships/image" Target="../media/image1.jpeg"/><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19.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19.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0.png"/><Relationship Id="rId7"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microsoft.com/office/2007/relationships/hdphoto" Target="../media/hdphoto1.wdp"/><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slide" Target="slide4.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slide" Target="slide3.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172F7-373A-9CF1-B254-7FDE3268D2E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3464CB-A23C-CF7C-83C8-8B4215EBBEE2}"/>
              </a:ext>
            </a:extLst>
          </p:cNvPr>
          <p:cNvSpPr txBox="1"/>
          <p:nvPr/>
        </p:nvSpPr>
        <p:spPr>
          <a:xfrm>
            <a:off x="1729421" y="3604717"/>
            <a:ext cx="8229600" cy="646331"/>
          </a:xfrm>
          <a:prstGeom prst="rect">
            <a:avLst/>
          </a:prstGeom>
          <a:noFill/>
        </p:spPr>
        <p:txBody>
          <a:bodyPr wrap="square">
            <a:spAutoFit/>
          </a:bodyPr>
          <a:lstStyle/>
          <a:p>
            <a:pPr algn="ctr" rtl="0">
              <a:defRPr sz="5400" b="1">
                <a:solidFill>
                  <a:srgbClr val="0F172A"/>
                </a:solidFill>
              </a:defRPr>
            </a:pPr>
            <a:r>
              <a:rPr lang="en-US" sz="3600" dirty="0"/>
              <a:t> Stocks Prediction Project</a:t>
            </a:r>
            <a:endParaRPr lang="en" sz="5400" dirty="0"/>
          </a:p>
        </p:txBody>
      </p:sp>
      <p:sp>
        <p:nvSpPr>
          <p:cNvPr id="4" name="TextBox 3">
            <a:extLst>
              <a:ext uri="{FF2B5EF4-FFF2-40B4-BE49-F238E27FC236}">
                <a16:creationId xmlns:a16="http://schemas.microsoft.com/office/drawing/2014/main" id="{3E423405-F2E0-CA05-0DD9-A2428FB29BB7}"/>
              </a:ext>
            </a:extLst>
          </p:cNvPr>
          <p:cNvSpPr txBox="1"/>
          <p:nvPr/>
        </p:nvSpPr>
        <p:spPr>
          <a:xfrm>
            <a:off x="3792039" y="5486400"/>
            <a:ext cx="4607928" cy="553998"/>
          </a:xfrm>
          <a:prstGeom prst="rect">
            <a:avLst/>
          </a:prstGeom>
          <a:noFill/>
        </p:spPr>
        <p:txBody>
          <a:bodyPr wrap="none">
            <a:spAutoFit/>
          </a:bodyPr>
          <a:lstStyle/>
          <a:p>
            <a:pPr algn="ctr">
              <a:defRPr sz="1600">
                <a:solidFill>
                  <a:srgbClr val="64748B"/>
                </a:solidFill>
              </a:defRPr>
            </a:pPr>
            <a:r>
              <a:rPr lang="en" sz="1600" dirty="0"/>
              <a:t>Workshop in Data Science</a:t>
            </a:r>
          </a:p>
          <a:p>
            <a:pPr algn="ctr">
              <a:defRPr sz="1400" b="1">
                <a:solidFill>
                  <a:srgbClr val="64748B"/>
                </a:solidFill>
              </a:defRPr>
            </a:pPr>
            <a:r>
              <a:rPr lang="en" sz="1400" dirty="0"/>
              <a:t>Team 003 - Itay </a:t>
            </a:r>
            <a:r>
              <a:rPr lang="en" sz="1400" dirty="0" err="1"/>
              <a:t>Mutzafi</a:t>
            </a:r>
            <a:r>
              <a:rPr lang="en" sz="1400" dirty="0"/>
              <a:t>, Moran Zaks , Shaked Schnarch</a:t>
            </a:r>
          </a:p>
        </p:txBody>
      </p:sp>
      <p:pic>
        <p:nvPicPr>
          <p:cNvPr id="3080" name="Picture 8" descr="Blavatnik School of Computer Science and AI, Tel Aviv University: Alumni  and Graduates | LinkedIn">
            <a:extLst>
              <a:ext uri="{FF2B5EF4-FFF2-40B4-BE49-F238E27FC236}">
                <a16:creationId xmlns:a16="http://schemas.microsoft.com/office/drawing/2014/main" id="{E743FD28-8F8B-0130-4338-9153ABA910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0150" y="121564"/>
            <a:ext cx="1377851" cy="1377851"/>
          </a:xfrm>
          <a:prstGeom prst="rect">
            <a:avLst/>
          </a:prstGeom>
          <a:noFill/>
          <a:extLst>
            <a:ext uri="{909E8E84-426E-40DD-AFC4-6F175D3DCCD1}">
              <a14:hiddenFill xmlns:a14="http://schemas.microsoft.com/office/drawing/2010/main">
                <a:solidFill>
                  <a:srgbClr val="FFFFFF"/>
                </a:solidFill>
              </a14:hiddenFill>
            </a:ext>
          </a:extLst>
        </p:spPr>
      </p:pic>
      <p:sp>
        <p:nvSpPr>
          <p:cNvPr id="11" name="מציין מיקום של תאריך 10">
            <a:extLst>
              <a:ext uri="{FF2B5EF4-FFF2-40B4-BE49-F238E27FC236}">
                <a16:creationId xmlns:a16="http://schemas.microsoft.com/office/drawing/2014/main" id="{88680904-FD96-7180-52D9-C24CECCC7EFE}"/>
              </a:ext>
            </a:extLst>
          </p:cNvPr>
          <p:cNvSpPr>
            <a:spLocks noGrp="1"/>
          </p:cNvSpPr>
          <p:nvPr>
            <p:ph type="dt" sz="half" idx="10"/>
          </p:nvPr>
        </p:nvSpPr>
        <p:spPr/>
        <p:txBody>
          <a:bodyPr/>
          <a:lstStyle/>
          <a:p>
            <a:fld id="{A3D7C9C3-36DE-774D-8341-FD5758BF5039}" type="datetime13">
              <a:rPr lang="he-IL" smtClean="0"/>
              <a:t>14.12.2025</a:t>
            </a:fld>
            <a:endParaRPr lang="en-US"/>
          </a:p>
        </p:txBody>
      </p:sp>
      <p:sp>
        <p:nvSpPr>
          <p:cNvPr id="13" name="מציין מיקום של כותרת תחתונה 12">
            <a:extLst>
              <a:ext uri="{FF2B5EF4-FFF2-40B4-BE49-F238E27FC236}">
                <a16:creationId xmlns:a16="http://schemas.microsoft.com/office/drawing/2014/main" id="{6E6B100F-7BD0-CEFC-783A-BD7CF1DC9D9B}"/>
              </a:ext>
            </a:extLst>
          </p:cNvPr>
          <p:cNvSpPr>
            <a:spLocks noGrp="1"/>
          </p:cNvSpPr>
          <p:nvPr>
            <p:ph type="ftr" sz="quarter" idx="11"/>
          </p:nvPr>
        </p:nvSpPr>
        <p:spPr/>
        <p:txBody>
          <a:bodyPr/>
          <a:lstStyle/>
          <a:p>
            <a:r>
              <a:rPr lang="en-US" dirty="0"/>
              <a:t>Data Science Workshop - Project Options</a:t>
            </a:r>
          </a:p>
        </p:txBody>
      </p:sp>
      <p:sp>
        <p:nvSpPr>
          <p:cNvPr id="14" name="מציין מיקום של מספר שקופית 13">
            <a:extLst>
              <a:ext uri="{FF2B5EF4-FFF2-40B4-BE49-F238E27FC236}">
                <a16:creationId xmlns:a16="http://schemas.microsoft.com/office/drawing/2014/main" id="{ABDB3A79-DB92-20B3-33CB-318175222769}"/>
              </a:ext>
            </a:extLst>
          </p:cNvPr>
          <p:cNvSpPr>
            <a:spLocks noGrp="1"/>
          </p:cNvSpPr>
          <p:nvPr>
            <p:ph type="sldNum" sz="quarter" idx="12"/>
          </p:nvPr>
        </p:nvSpPr>
        <p:spPr/>
        <p:txBody>
          <a:bodyPr/>
          <a:lstStyle/>
          <a:p>
            <a:fld id="{C1FF6DA9-008F-8B48-92A6-B652298478BF}" type="slidenum">
              <a:rPr lang="en-US" smtClean="0"/>
              <a:t>1</a:t>
            </a:fld>
            <a:endParaRPr lang="en-US"/>
          </a:p>
        </p:txBody>
      </p:sp>
      <p:pic>
        <p:nvPicPr>
          <p:cNvPr id="5" name="תמונה 4">
            <a:extLst>
              <a:ext uri="{FF2B5EF4-FFF2-40B4-BE49-F238E27FC236}">
                <a16:creationId xmlns:a16="http://schemas.microsoft.com/office/drawing/2014/main" id="{BE72BB0B-D705-429B-F9E0-DBBD1D8A606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66113" y1="50293" x2="66113" y2="50293"/>
                        <a14:foregroundMark x1="79883" y1="34863" x2="79883" y2="34863"/>
                        <a14:foregroundMark x1="72559" y1="34473" x2="72559" y2="34473"/>
                        <a14:foregroundMark x1="74609" y1="38965" x2="74609" y2="38965"/>
                        <a14:foregroundMark x1="66504" y1="59961" x2="66504" y2="59961"/>
                        <a14:foregroundMark x1="66113" y1="66406" x2="66113" y2="66406"/>
                        <a14:foregroundMark x1="65332" y1="73340" x2="65332" y2="73340"/>
                        <a14:foregroundMark x1="45410" y1="67285" x2="45410" y2="67285"/>
                        <a14:foregroundMark x1="38184" y1="67285" x2="38184" y2="67285"/>
                        <a14:foregroundMark x1="25586" y1="68457" x2="25586" y2="68457"/>
                        <a14:foregroundMark x1="28906" y1="62012" x2="28906" y2="62012"/>
                        <a14:foregroundMark x1="19141" y1="71680" x2="19141" y2="71680"/>
                      </a14:backgroundRemoval>
                    </a14:imgEffect>
                  </a14:imgLayer>
                </a14:imgProps>
              </a:ext>
            </a:extLst>
          </a:blip>
          <a:srcRect l="12615" t="13933" r="15503" b="14186"/>
          <a:stretch>
            <a:fillRect/>
          </a:stretch>
        </p:blipFill>
        <p:spPr>
          <a:xfrm>
            <a:off x="8918693" y="121564"/>
            <a:ext cx="1603158" cy="1603157"/>
          </a:xfrm>
          <a:prstGeom prst="rect">
            <a:avLst/>
          </a:prstGeom>
        </p:spPr>
      </p:pic>
      <p:sp>
        <p:nvSpPr>
          <p:cNvPr id="7" name="תיבת טקסט 6">
            <a:extLst>
              <a:ext uri="{FF2B5EF4-FFF2-40B4-BE49-F238E27FC236}">
                <a16:creationId xmlns:a16="http://schemas.microsoft.com/office/drawing/2014/main" id="{90D8B125-8A9F-402F-CAA0-7D02C01CB28C}"/>
              </a:ext>
            </a:extLst>
          </p:cNvPr>
          <p:cNvSpPr txBox="1"/>
          <p:nvPr/>
        </p:nvSpPr>
        <p:spPr>
          <a:xfrm>
            <a:off x="2359075" y="2069029"/>
            <a:ext cx="6970295" cy="1015663"/>
          </a:xfrm>
          <a:prstGeom prst="rect">
            <a:avLst/>
          </a:prstGeom>
          <a:noFill/>
        </p:spPr>
        <p:txBody>
          <a:bodyPr wrap="square">
            <a:spAutoFit/>
          </a:bodyPr>
          <a:lstStyle/>
          <a:p>
            <a:pPr algn="ctr">
              <a:defRPr sz="5400" b="1">
                <a:solidFill>
                  <a:srgbClr val="0F172A"/>
                </a:solidFill>
              </a:defRPr>
            </a:pPr>
            <a:r>
              <a:rPr lang="en-US" sz="6000" dirty="0"/>
              <a:t>Check Point 1</a:t>
            </a:r>
          </a:p>
        </p:txBody>
      </p:sp>
    </p:spTree>
    <p:extLst>
      <p:ext uri="{BB962C8B-B14F-4D97-AF65-F5344CB8AC3E}">
        <p14:creationId xmlns:p14="http://schemas.microsoft.com/office/powerpoint/2010/main" val="1364766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4861" y="34668"/>
            <a:ext cx="8640255" cy="73152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rtl="0"/>
            <a:endParaRPr>
              <a:solidFill>
                <a:prstClr val="white"/>
              </a:solidFill>
              <a:latin typeface="Calibri"/>
            </a:endParaRPr>
          </a:p>
        </p:txBody>
      </p:sp>
      <p:sp>
        <p:nvSpPr>
          <p:cNvPr id="3" name="TextBox 2"/>
          <p:cNvSpPr txBox="1"/>
          <p:nvPr/>
        </p:nvSpPr>
        <p:spPr>
          <a:xfrm>
            <a:off x="4826261" y="111409"/>
            <a:ext cx="2539478" cy="584775"/>
          </a:xfrm>
          <a:prstGeom prst="rect">
            <a:avLst/>
          </a:prstGeom>
          <a:noFill/>
        </p:spPr>
        <p:txBody>
          <a:bodyPr wrap="none">
            <a:spAutoFit/>
          </a:bodyPr>
          <a:lstStyle/>
          <a:p>
            <a:pPr algn="l" defTabSz="457200" rtl="0">
              <a:defRPr sz="3200" b="1">
                <a:solidFill>
                  <a:srgbClr val="0F172A"/>
                </a:solidFill>
              </a:defRPr>
            </a:pPr>
            <a:r>
              <a:rPr lang="en-US" sz="3200" b="1" dirty="0">
                <a:solidFill>
                  <a:srgbClr val="0F172A"/>
                </a:solidFill>
                <a:latin typeface="Calibri"/>
              </a:rPr>
              <a:t>Project Status</a:t>
            </a:r>
            <a:endParaRPr sz="3200" b="1" dirty="0">
              <a:solidFill>
                <a:srgbClr val="0F172A"/>
              </a:solidFill>
              <a:latin typeface="Calibri"/>
            </a:endParaRPr>
          </a:p>
        </p:txBody>
      </p:sp>
      <p:sp>
        <p:nvSpPr>
          <p:cNvPr id="21" name="מציין מיקום של תאריך 20">
            <a:extLst>
              <a:ext uri="{FF2B5EF4-FFF2-40B4-BE49-F238E27FC236}">
                <a16:creationId xmlns:a16="http://schemas.microsoft.com/office/drawing/2014/main" id="{3D0BB6FB-F76C-DD04-94D8-9E14D7BD8C38}"/>
              </a:ext>
            </a:extLst>
          </p:cNvPr>
          <p:cNvSpPr>
            <a:spLocks noGrp="1"/>
          </p:cNvSpPr>
          <p:nvPr>
            <p:ph type="dt" sz="half" idx="10"/>
          </p:nvPr>
        </p:nvSpPr>
        <p:spPr/>
        <p:txBody>
          <a:bodyPr/>
          <a:lstStyle/>
          <a:p>
            <a:pPr defTabSz="457200" rtl="0"/>
            <a:fld id="{7522674C-8C3B-884E-BDB8-C58B6C07EE60}" type="datetime13">
              <a:rPr lang="he-IL">
                <a:solidFill>
                  <a:prstClr val="black">
                    <a:tint val="75000"/>
                  </a:prstClr>
                </a:solidFill>
                <a:latin typeface="Calibri"/>
                <a:cs typeface="Arial" panose="020B0604020202020204" pitchFamily="34" charset="0"/>
              </a:rPr>
              <a:pPr defTabSz="457200" rtl="0"/>
              <a:t>14.12.2025</a:t>
            </a:fld>
            <a:endParaRPr lang="en-US">
              <a:solidFill>
                <a:prstClr val="black">
                  <a:tint val="75000"/>
                </a:prstClr>
              </a:solidFill>
              <a:latin typeface="Calibri"/>
            </a:endParaRPr>
          </a:p>
        </p:txBody>
      </p:sp>
      <p:sp>
        <p:nvSpPr>
          <p:cNvPr id="22" name="מציין מיקום של כותרת תחתונה 21">
            <a:extLst>
              <a:ext uri="{FF2B5EF4-FFF2-40B4-BE49-F238E27FC236}">
                <a16:creationId xmlns:a16="http://schemas.microsoft.com/office/drawing/2014/main" id="{0492CC2B-35C4-9D95-4199-8A470E30789F}"/>
              </a:ext>
            </a:extLst>
          </p:cNvPr>
          <p:cNvSpPr>
            <a:spLocks noGrp="1"/>
          </p:cNvSpPr>
          <p:nvPr>
            <p:ph type="ftr" sz="quarter" idx="11"/>
          </p:nvPr>
        </p:nvSpPr>
        <p:spPr/>
        <p:txBody>
          <a:bodyPr/>
          <a:lstStyle/>
          <a:p>
            <a:pPr defTabSz="457200" rtl="0"/>
            <a:r>
              <a:rPr lang="en-US">
                <a:solidFill>
                  <a:prstClr val="black">
                    <a:tint val="75000"/>
                  </a:prstClr>
                </a:solidFill>
                <a:latin typeface="Calibri"/>
              </a:rPr>
              <a:t>Data Science Workshop - Project Options</a:t>
            </a:r>
          </a:p>
        </p:txBody>
      </p:sp>
      <p:sp>
        <p:nvSpPr>
          <p:cNvPr id="23" name="מציין מיקום של מספר שקופית 22">
            <a:extLst>
              <a:ext uri="{FF2B5EF4-FFF2-40B4-BE49-F238E27FC236}">
                <a16:creationId xmlns:a16="http://schemas.microsoft.com/office/drawing/2014/main" id="{64F9565C-D9F5-4445-F4F8-9D30F39FB11A}"/>
              </a:ext>
            </a:extLst>
          </p:cNvPr>
          <p:cNvSpPr>
            <a:spLocks noGrp="1"/>
          </p:cNvSpPr>
          <p:nvPr>
            <p:ph type="sldNum" sz="quarter" idx="12"/>
          </p:nvPr>
        </p:nvSpPr>
        <p:spPr/>
        <p:txBody>
          <a:bodyPr/>
          <a:lstStyle/>
          <a:p>
            <a:pPr defTabSz="457200" rtl="0"/>
            <a:fld id="{C1FF6DA9-008F-8B48-92A6-B652298478BF}" type="slidenum">
              <a:rPr lang="en-US">
                <a:solidFill>
                  <a:prstClr val="black">
                    <a:tint val="75000"/>
                  </a:prstClr>
                </a:solidFill>
                <a:latin typeface="Calibri"/>
              </a:rPr>
              <a:pPr defTabSz="457200" rtl="0"/>
              <a:t>2</a:t>
            </a:fld>
            <a:endParaRPr lang="en-US">
              <a:solidFill>
                <a:prstClr val="black">
                  <a:tint val="75000"/>
                </a:prstClr>
              </a:solidFill>
              <a:latin typeface="Calibri"/>
            </a:endParaRPr>
          </a:p>
        </p:txBody>
      </p:sp>
      <p:pic>
        <p:nvPicPr>
          <p:cNvPr id="32" name="תמונה 31">
            <a:extLst>
              <a:ext uri="{FF2B5EF4-FFF2-40B4-BE49-F238E27FC236}">
                <a16:creationId xmlns:a16="http://schemas.microsoft.com/office/drawing/2014/main" id="{129A2ED6-B415-5C09-7C31-ABAFB8C4E87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69434" y1="45898" x2="69434" y2="45898"/>
                        <a14:foregroundMark x1="67285" y1="57617" x2="67285" y2="57617"/>
                        <a14:foregroundMark x1="56543" y1="68945" x2="56543" y2="68945"/>
                        <a14:foregroundMark x1="36523" y1="69238" x2="36523" y2="69238"/>
                        <a14:backgroundMark x1="63184" y1="44824" x2="63184" y2="44824"/>
                        <a14:backgroundMark x1="80469" y1="35938" x2="80469" y2="35938"/>
                      </a14:backgroundRemoval>
                    </a14:imgEffect>
                  </a14:imgLayer>
                </a14:imgProps>
              </a:ext>
            </a:extLst>
          </a:blip>
          <a:stretch>
            <a:fillRect/>
          </a:stretch>
        </p:blipFill>
        <p:spPr>
          <a:xfrm>
            <a:off x="9692076" y="-152966"/>
            <a:ext cx="1037449" cy="1037449"/>
          </a:xfrm>
          <a:prstGeom prst="rect">
            <a:avLst/>
          </a:prstGeom>
        </p:spPr>
      </p:pic>
      <p:pic>
        <p:nvPicPr>
          <p:cNvPr id="18" name="Picture 8" descr="Blavatnik School of Computer Science and AI, Tel Aviv University: Alumni  and Graduates | LinkedIn">
            <a:extLst>
              <a:ext uri="{FF2B5EF4-FFF2-40B4-BE49-F238E27FC236}">
                <a16:creationId xmlns:a16="http://schemas.microsoft.com/office/drawing/2014/main" id="{404B0B63-2DF8-E015-9F7C-AA3773D591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947" y="166369"/>
            <a:ext cx="833564" cy="833564"/>
          </a:xfrm>
          <a:prstGeom prst="rect">
            <a:avLst/>
          </a:prstGeom>
          <a:noFill/>
          <a:extLst>
            <a:ext uri="{909E8E84-426E-40DD-AFC4-6F175D3DCCD1}">
              <a14:hiddenFill xmlns:a14="http://schemas.microsoft.com/office/drawing/2010/main">
                <a:solidFill>
                  <a:srgbClr val="FFFFFF"/>
                </a:solidFill>
              </a14:hiddenFill>
            </a:ext>
          </a:extLst>
        </p:spPr>
      </p:pic>
      <p:pic>
        <p:nvPicPr>
          <p:cNvPr id="24" name="תמונה 23">
            <a:extLst>
              <a:ext uri="{FF2B5EF4-FFF2-40B4-BE49-F238E27FC236}">
                <a16:creationId xmlns:a16="http://schemas.microsoft.com/office/drawing/2014/main" id="{AA7E7E41-AD2C-6B69-E51C-24FCFF931EE8}"/>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foregroundMark x1="66113" y1="50293" x2="66113" y2="50293"/>
                        <a14:foregroundMark x1="79883" y1="34863" x2="79883" y2="34863"/>
                        <a14:foregroundMark x1="72559" y1="34473" x2="72559" y2="34473"/>
                        <a14:foregroundMark x1="74609" y1="38965" x2="74609" y2="38965"/>
                        <a14:foregroundMark x1="66504" y1="59961" x2="66504" y2="59961"/>
                        <a14:foregroundMark x1="66113" y1="66406" x2="66113" y2="66406"/>
                        <a14:foregroundMark x1="65332" y1="73340" x2="65332" y2="73340"/>
                        <a14:foregroundMark x1="45410" y1="67285" x2="45410" y2="67285"/>
                        <a14:foregroundMark x1="38184" y1="67285" x2="38184" y2="67285"/>
                        <a14:foregroundMark x1="25586" y1="68457" x2="25586" y2="68457"/>
                        <a14:foregroundMark x1="28906" y1="62012" x2="28906" y2="62012"/>
                        <a14:foregroundMark x1="19141" y1="71680" x2="19141" y2="71680"/>
                      </a14:backgroundRemoval>
                    </a14:imgEffect>
                  </a14:imgLayer>
                </a14:imgProps>
              </a:ext>
            </a:extLst>
          </a:blip>
          <a:srcRect l="12615" t="13933" r="15503" b="14186"/>
          <a:stretch>
            <a:fillRect/>
          </a:stretch>
        </p:blipFill>
        <p:spPr>
          <a:xfrm>
            <a:off x="11012546" y="166369"/>
            <a:ext cx="682507" cy="682507"/>
          </a:xfrm>
          <a:prstGeom prst="rect">
            <a:avLst/>
          </a:prstGeom>
        </p:spPr>
      </p:pic>
      <p:grpSp>
        <p:nvGrpSpPr>
          <p:cNvPr id="68" name="קבוצה 67">
            <a:extLst>
              <a:ext uri="{FF2B5EF4-FFF2-40B4-BE49-F238E27FC236}">
                <a16:creationId xmlns:a16="http://schemas.microsoft.com/office/drawing/2014/main" id="{27796BDA-C9F1-412B-42AE-26B3542B1F4E}"/>
              </a:ext>
            </a:extLst>
          </p:cNvPr>
          <p:cNvGrpSpPr/>
          <p:nvPr/>
        </p:nvGrpSpPr>
        <p:grpSpPr>
          <a:xfrm>
            <a:off x="842142" y="1429591"/>
            <a:ext cx="10740258" cy="3638168"/>
            <a:chOff x="1800752" y="726534"/>
            <a:chExt cx="8551619" cy="2777589"/>
          </a:xfrm>
        </p:grpSpPr>
        <p:pic>
          <p:nvPicPr>
            <p:cNvPr id="7" name="Picture 5">
              <a:extLst>
                <a:ext uri="{FF2B5EF4-FFF2-40B4-BE49-F238E27FC236}">
                  <a16:creationId xmlns:a16="http://schemas.microsoft.com/office/drawing/2014/main" id="{25B47450-5C07-9F94-1D52-73DE201EC6A4}"/>
                </a:ext>
              </a:extLst>
            </p:cNvPr>
            <p:cNvPicPr>
              <a:picLocks noChangeAspect="1"/>
            </p:cNvPicPr>
            <p:nvPr/>
          </p:nvPicPr>
          <p:blipFill>
            <a:blip r:embed="rId8"/>
            <a:stretch>
              <a:fillRect/>
            </a:stretch>
          </p:blipFill>
          <p:spPr>
            <a:xfrm rot="-5400000">
              <a:off x="5729553" y="939003"/>
              <a:ext cx="2450568" cy="2450568"/>
            </a:xfrm>
            <a:prstGeom prst="rect">
              <a:avLst/>
            </a:prstGeom>
          </p:spPr>
        </p:pic>
        <p:grpSp>
          <p:nvGrpSpPr>
            <p:cNvPr id="63" name="קבוצה 62">
              <a:extLst>
                <a:ext uri="{FF2B5EF4-FFF2-40B4-BE49-F238E27FC236}">
                  <a16:creationId xmlns:a16="http://schemas.microsoft.com/office/drawing/2014/main" id="{5F9C4441-5ACC-335B-40D8-7BD8B063E294}"/>
                </a:ext>
              </a:extLst>
            </p:cNvPr>
            <p:cNvGrpSpPr/>
            <p:nvPr/>
          </p:nvGrpSpPr>
          <p:grpSpPr>
            <a:xfrm>
              <a:off x="1800752" y="726534"/>
              <a:ext cx="8450124" cy="2777589"/>
              <a:chOff x="1797473" y="1253780"/>
              <a:chExt cx="8450124" cy="2777589"/>
            </a:xfrm>
          </p:grpSpPr>
          <p:sp>
            <p:nvSpPr>
              <p:cNvPr id="25" name="TextBox 4">
                <a:extLst>
                  <a:ext uri="{FF2B5EF4-FFF2-40B4-BE49-F238E27FC236}">
                    <a16:creationId xmlns:a16="http://schemas.microsoft.com/office/drawing/2014/main" id="{90C10132-83B6-B577-4596-123BA50C74B3}"/>
                  </a:ext>
                </a:extLst>
              </p:cNvPr>
              <p:cNvSpPr txBox="1"/>
              <p:nvPr/>
            </p:nvSpPr>
            <p:spPr>
              <a:xfrm>
                <a:off x="1797473" y="1253780"/>
                <a:ext cx="1560059" cy="309179"/>
              </a:xfrm>
              <a:prstGeom prst="rect">
                <a:avLst/>
              </a:prstGeom>
              <a:noFill/>
            </p:spPr>
            <p:txBody>
              <a:bodyPr wrap="square">
                <a:spAutoFit/>
              </a:bodyPr>
              <a:lstStyle/>
              <a:p>
                <a:pPr algn="l" defTabSz="457200" rtl="0"/>
                <a:endParaRPr lang="en" sz="1600" b="1" dirty="0">
                  <a:solidFill>
                    <a:srgbClr val="475569"/>
                  </a:solidFill>
                  <a:latin typeface="Calibri"/>
                </a:endParaRPr>
              </a:p>
            </p:txBody>
          </p:sp>
          <p:sp>
            <p:nvSpPr>
              <p:cNvPr id="27" name="TextBox 6">
                <a:extLst>
                  <a:ext uri="{FF2B5EF4-FFF2-40B4-BE49-F238E27FC236}">
                    <a16:creationId xmlns:a16="http://schemas.microsoft.com/office/drawing/2014/main" id="{1A871FE8-EAA1-D16F-4380-D49ACCB6331A}"/>
                  </a:ext>
                </a:extLst>
              </p:cNvPr>
              <p:cNvSpPr txBox="1"/>
              <p:nvPr/>
            </p:nvSpPr>
            <p:spPr>
              <a:xfrm>
                <a:off x="3357532" y="3754370"/>
                <a:ext cx="1865057" cy="276999"/>
              </a:xfrm>
              <a:prstGeom prst="rect">
                <a:avLst/>
              </a:prstGeom>
              <a:noFill/>
            </p:spPr>
            <p:txBody>
              <a:bodyPr wrap="square">
                <a:spAutoFit/>
              </a:bodyPr>
              <a:lstStyle/>
              <a:p>
                <a:pPr marL="171450" indent="-171450" algn="l" defTabSz="457200" rtl="0">
                  <a:buFont typeface="Arial" panose="020B0604020202020204" pitchFamily="34" charset="0"/>
                  <a:buChar char="•"/>
                </a:pPr>
                <a:endParaRPr lang="en" sz="1200" b="1" dirty="0">
                  <a:solidFill>
                    <a:srgbClr val="475569"/>
                  </a:solidFill>
                  <a:latin typeface="Calibri"/>
                </a:endParaRPr>
              </a:p>
            </p:txBody>
          </p:sp>
          <p:grpSp>
            <p:nvGrpSpPr>
              <p:cNvPr id="4" name="Group 2">
                <a:extLst>
                  <a:ext uri="{FF2B5EF4-FFF2-40B4-BE49-F238E27FC236}">
                    <a16:creationId xmlns:a16="http://schemas.microsoft.com/office/drawing/2014/main" id="{5BA437EF-14B2-DF2B-EB81-12C913A2D20A}"/>
                  </a:ext>
                </a:extLst>
              </p:cNvPr>
              <p:cNvGrpSpPr/>
              <p:nvPr/>
            </p:nvGrpSpPr>
            <p:grpSpPr>
              <a:xfrm>
                <a:off x="6946774" y="3274103"/>
                <a:ext cx="1561332" cy="444653"/>
                <a:chOff x="0" y="0"/>
                <a:chExt cx="818182" cy="267928"/>
              </a:xfrm>
              <a:solidFill>
                <a:schemeClr val="bg1">
                  <a:lumMod val="75000"/>
                </a:schemeClr>
              </a:solidFill>
            </p:grpSpPr>
            <p:sp>
              <p:nvSpPr>
                <p:cNvPr id="5" name="Freeform 3">
                  <a:extLst>
                    <a:ext uri="{FF2B5EF4-FFF2-40B4-BE49-F238E27FC236}">
                      <a16:creationId xmlns:a16="http://schemas.microsoft.com/office/drawing/2014/main" id="{38105CF9-C617-E36B-4A55-7F9E1EBDC734}"/>
                    </a:ext>
                  </a:extLst>
                </p:cNvPr>
                <p:cNvSpPr/>
                <p:nvPr/>
              </p:nvSpPr>
              <p:spPr>
                <a:xfrm>
                  <a:off x="0" y="0"/>
                  <a:ext cx="818182" cy="267928"/>
                </a:xfrm>
                <a:custGeom>
                  <a:avLst/>
                  <a:gdLst/>
                  <a:ahLst/>
                  <a:cxnLst/>
                  <a:rect l="l" t="t" r="r" b="b"/>
                  <a:pathLst>
                    <a:path w="818182" h="267928">
                      <a:moveTo>
                        <a:pt x="0" y="0"/>
                      </a:moveTo>
                      <a:lnTo>
                        <a:pt x="818182" y="0"/>
                      </a:lnTo>
                      <a:lnTo>
                        <a:pt x="818182" y="267928"/>
                      </a:lnTo>
                      <a:lnTo>
                        <a:pt x="0" y="267928"/>
                      </a:lnTo>
                      <a:close/>
                    </a:path>
                  </a:pathLst>
                </a:custGeom>
                <a:grpFill/>
              </p:spPr>
              <p:txBody>
                <a:bodyPr/>
                <a:lstStyle/>
                <a:p>
                  <a:pPr algn="l" defTabSz="457200" rtl="0"/>
                  <a:endParaRPr lang="en-IL" sz="900" dirty="0">
                    <a:solidFill>
                      <a:prstClr val="black"/>
                    </a:solidFill>
                    <a:latin typeface="Calibri"/>
                  </a:endParaRPr>
                </a:p>
              </p:txBody>
            </p:sp>
            <p:sp>
              <p:nvSpPr>
                <p:cNvPr id="6" name="TextBox 4">
                  <a:extLst>
                    <a:ext uri="{FF2B5EF4-FFF2-40B4-BE49-F238E27FC236}">
                      <a16:creationId xmlns:a16="http://schemas.microsoft.com/office/drawing/2014/main" id="{6D16115D-0A19-E27A-62E2-951471E00BC1}"/>
                    </a:ext>
                  </a:extLst>
                </p:cNvPr>
                <p:cNvSpPr txBox="1"/>
                <p:nvPr/>
              </p:nvSpPr>
              <p:spPr>
                <a:xfrm>
                  <a:off x="0" y="-28575"/>
                  <a:ext cx="818182" cy="296503"/>
                </a:xfrm>
                <a:prstGeom prst="rect">
                  <a:avLst/>
                </a:prstGeom>
                <a:grpFill/>
              </p:spPr>
              <p:txBody>
                <a:bodyPr lIns="25400" tIns="25400" rIns="25400" bIns="25400" rtlCol="0" anchor="ctr"/>
                <a:lstStyle/>
                <a:p>
                  <a:pPr algn="ctr" defTabSz="457200" rtl="0">
                    <a:lnSpc>
                      <a:spcPts val="1260"/>
                    </a:lnSpc>
                  </a:pPr>
                  <a:endParaRPr sz="900">
                    <a:solidFill>
                      <a:prstClr val="black"/>
                    </a:solidFill>
                    <a:latin typeface="Calibri"/>
                  </a:endParaRPr>
                </a:p>
              </p:txBody>
            </p:sp>
          </p:grpSp>
          <p:grpSp>
            <p:nvGrpSpPr>
              <p:cNvPr id="8" name="Group 6">
                <a:extLst>
                  <a:ext uri="{FF2B5EF4-FFF2-40B4-BE49-F238E27FC236}">
                    <a16:creationId xmlns:a16="http://schemas.microsoft.com/office/drawing/2014/main" id="{2DF3EC8A-00D8-96A8-1F8F-DE3804F747FA}"/>
                  </a:ext>
                </a:extLst>
              </p:cNvPr>
              <p:cNvGrpSpPr/>
              <p:nvPr/>
            </p:nvGrpSpPr>
            <p:grpSpPr>
              <a:xfrm>
                <a:off x="1806273" y="3210113"/>
                <a:ext cx="5148565" cy="508644"/>
                <a:chOff x="0" y="0"/>
                <a:chExt cx="2582108" cy="267928"/>
              </a:xfrm>
            </p:grpSpPr>
            <p:sp>
              <p:nvSpPr>
                <p:cNvPr id="9" name="Freeform 7">
                  <a:extLst>
                    <a:ext uri="{FF2B5EF4-FFF2-40B4-BE49-F238E27FC236}">
                      <a16:creationId xmlns:a16="http://schemas.microsoft.com/office/drawing/2014/main" id="{BB8911CF-AE40-3302-1678-B8DA9FE26226}"/>
                    </a:ext>
                  </a:extLst>
                </p:cNvPr>
                <p:cNvSpPr/>
                <p:nvPr/>
              </p:nvSpPr>
              <p:spPr>
                <a:xfrm>
                  <a:off x="0" y="0"/>
                  <a:ext cx="2582108" cy="267928"/>
                </a:xfrm>
                <a:custGeom>
                  <a:avLst/>
                  <a:gdLst/>
                  <a:ahLst/>
                  <a:cxnLst/>
                  <a:rect l="l" t="t" r="r" b="b"/>
                  <a:pathLst>
                    <a:path w="2582108" h="267928">
                      <a:moveTo>
                        <a:pt x="0" y="0"/>
                      </a:moveTo>
                      <a:lnTo>
                        <a:pt x="2582108" y="0"/>
                      </a:lnTo>
                      <a:lnTo>
                        <a:pt x="2582108" y="267928"/>
                      </a:lnTo>
                      <a:lnTo>
                        <a:pt x="0" y="267928"/>
                      </a:lnTo>
                      <a:close/>
                    </a:path>
                  </a:pathLst>
                </a:custGeom>
                <a:solidFill>
                  <a:srgbClr val="C1C7D0"/>
                </a:solidFill>
              </p:spPr>
              <p:txBody>
                <a:bodyPr/>
                <a:lstStyle/>
                <a:p>
                  <a:pPr algn="l" defTabSz="457200" rtl="0"/>
                  <a:endParaRPr lang="en-IL" sz="900">
                    <a:solidFill>
                      <a:prstClr val="black"/>
                    </a:solidFill>
                    <a:latin typeface="Calibri"/>
                  </a:endParaRPr>
                </a:p>
              </p:txBody>
            </p:sp>
            <p:sp>
              <p:nvSpPr>
                <p:cNvPr id="10" name="TextBox 8">
                  <a:extLst>
                    <a:ext uri="{FF2B5EF4-FFF2-40B4-BE49-F238E27FC236}">
                      <a16:creationId xmlns:a16="http://schemas.microsoft.com/office/drawing/2014/main" id="{B7A01AF5-D5CD-7DB8-6E18-4E6A668842DA}"/>
                    </a:ext>
                  </a:extLst>
                </p:cNvPr>
                <p:cNvSpPr txBox="1"/>
                <p:nvPr/>
              </p:nvSpPr>
              <p:spPr>
                <a:xfrm>
                  <a:off x="0" y="-28575"/>
                  <a:ext cx="2582108" cy="296503"/>
                </a:xfrm>
                <a:prstGeom prst="rect">
                  <a:avLst/>
                </a:prstGeom>
              </p:spPr>
              <p:txBody>
                <a:bodyPr lIns="25400" tIns="25400" rIns="25400" bIns="25400" rtlCol="0" anchor="ctr"/>
                <a:lstStyle/>
                <a:p>
                  <a:pPr algn="ctr" defTabSz="457200" rtl="0">
                    <a:lnSpc>
                      <a:spcPts val="1260"/>
                    </a:lnSpc>
                  </a:pPr>
                  <a:endParaRPr sz="900">
                    <a:solidFill>
                      <a:prstClr val="black"/>
                    </a:solidFill>
                    <a:latin typeface="Calibri"/>
                  </a:endParaRPr>
                </a:p>
              </p:txBody>
            </p:sp>
          </p:grpSp>
          <p:grpSp>
            <p:nvGrpSpPr>
              <p:cNvPr id="11" name="Group 9">
                <a:extLst>
                  <a:ext uri="{FF2B5EF4-FFF2-40B4-BE49-F238E27FC236}">
                    <a16:creationId xmlns:a16="http://schemas.microsoft.com/office/drawing/2014/main" id="{2E14369F-3DE8-B4B0-9854-12375460C160}"/>
                  </a:ext>
                </a:extLst>
              </p:cNvPr>
              <p:cNvGrpSpPr/>
              <p:nvPr/>
            </p:nvGrpSpPr>
            <p:grpSpPr>
              <a:xfrm>
                <a:off x="5847871" y="2697688"/>
                <a:ext cx="735013" cy="276941"/>
                <a:chOff x="0" y="0"/>
                <a:chExt cx="600197" cy="226144"/>
              </a:xfrm>
            </p:grpSpPr>
            <p:sp>
              <p:nvSpPr>
                <p:cNvPr id="14" name="Freeform 10">
                  <a:extLst>
                    <a:ext uri="{FF2B5EF4-FFF2-40B4-BE49-F238E27FC236}">
                      <a16:creationId xmlns:a16="http://schemas.microsoft.com/office/drawing/2014/main" id="{0D325BEC-1751-4C7A-6C39-90F4B0B09C75}"/>
                    </a:ext>
                  </a:extLst>
                </p:cNvPr>
                <p:cNvSpPr/>
                <p:nvPr/>
              </p:nvSpPr>
              <p:spPr>
                <a:xfrm>
                  <a:off x="0" y="0"/>
                  <a:ext cx="600197" cy="226144"/>
                </a:xfrm>
                <a:custGeom>
                  <a:avLst/>
                  <a:gdLst/>
                  <a:ahLst/>
                  <a:cxnLst/>
                  <a:rect l="l" t="t" r="r" b="b"/>
                  <a:pathLst>
                    <a:path w="600197" h="226144">
                      <a:moveTo>
                        <a:pt x="300099" y="226144"/>
                      </a:moveTo>
                      <a:lnTo>
                        <a:pt x="600197" y="0"/>
                      </a:lnTo>
                      <a:lnTo>
                        <a:pt x="0" y="0"/>
                      </a:lnTo>
                      <a:lnTo>
                        <a:pt x="300099" y="226144"/>
                      </a:lnTo>
                      <a:close/>
                    </a:path>
                  </a:pathLst>
                </a:custGeom>
                <a:solidFill>
                  <a:srgbClr val="C1C7D0"/>
                </a:solidFill>
              </p:spPr>
              <p:txBody>
                <a:bodyPr/>
                <a:lstStyle/>
                <a:p>
                  <a:pPr algn="l" defTabSz="457200" rtl="0"/>
                  <a:endParaRPr lang="en-IL" sz="900">
                    <a:solidFill>
                      <a:prstClr val="black"/>
                    </a:solidFill>
                    <a:latin typeface="Calibri"/>
                  </a:endParaRPr>
                </a:p>
              </p:txBody>
            </p:sp>
            <p:sp>
              <p:nvSpPr>
                <p:cNvPr id="15" name="TextBox 11">
                  <a:extLst>
                    <a:ext uri="{FF2B5EF4-FFF2-40B4-BE49-F238E27FC236}">
                      <a16:creationId xmlns:a16="http://schemas.microsoft.com/office/drawing/2014/main" id="{B5062CE2-F8D2-0190-2187-AC7DFA113526}"/>
                    </a:ext>
                  </a:extLst>
                </p:cNvPr>
                <p:cNvSpPr txBox="1"/>
                <p:nvPr/>
              </p:nvSpPr>
              <p:spPr>
                <a:xfrm>
                  <a:off x="93781" y="-12422"/>
                  <a:ext cx="412636" cy="133571"/>
                </a:xfrm>
                <a:prstGeom prst="rect">
                  <a:avLst/>
                </a:prstGeom>
              </p:spPr>
              <p:txBody>
                <a:bodyPr lIns="25400" tIns="25400" rIns="25400" bIns="25400" rtlCol="0" anchor="ctr"/>
                <a:lstStyle/>
                <a:p>
                  <a:pPr algn="ctr" defTabSz="457200" rtl="0">
                    <a:lnSpc>
                      <a:spcPts val="1260"/>
                    </a:lnSpc>
                  </a:pPr>
                  <a:endParaRPr sz="900">
                    <a:solidFill>
                      <a:prstClr val="black"/>
                    </a:solidFill>
                    <a:latin typeface="Calibri"/>
                  </a:endParaRPr>
                </a:p>
              </p:txBody>
            </p:sp>
          </p:grpSp>
          <p:grpSp>
            <p:nvGrpSpPr>
              <p:cNvPr id="17" name="Group 12">
                <a:extLst>
                  <a:ext uri="{FF2B5EF4-FFF2-40B4-BE49-F238E27FC236}">
                    <a16:creationId xmlns:a16="http://schemas.microsoft.com/office/drawing/2014/main" id="{7CC0DF72-4BB6-6593-6397-39AFEC40CD74}"/>
                  </a:ext>
                </a:extLst>
              </p:cNvPr>
              <p:cNvGrpSpPr/>
              <p:nvPr/>
            </p:nvGrpSpPr>
            <p:grpSpPr>
              <a:xfrm>
                <a:off x="1822894" y="3182235"/>
                <a:ext cx="1464082" cy="536522"/>
                <a:chOff x="-242600" y="-14685"/>
                <a:chExt cx="771203" cy="282613"/>
              </a:xfrm>
            </p:grpSpPr>
            <p:sp>
              <p:nvSpPr>
                <p:cNvPr id="19" name="Freeform 13">
                  <a:extLst>
                    <a:ext uri="{FF2B5EF4-FFF2-40B4-BE49-F238E27FC236}">
                      <a16:creationId xmlns:a16="http://schemas.microsoft.com/office/drawing/2014/main" id="{D19D3823-D851-3638-33F4-680FC0D06780}"/>
                    </a:ext>
                  </a:extLst>
                </p:cNvPr>
                <p:cNvSpPr/>
                <p:nvPr/>
              </p:nvSpPr>
              <p:spPr>
                <a:xfrm>
                  <a:off x="-176099" y="0"/>
                  <a:ext cx="627161" cy="267928"/>
                </a:xfrm>
                <a:custGeom>
                  <a:avLst/>
                  <a:gdLst/>
                  <a:ahLst/>
                  <a:cxnLst/>
                  <a:rect l="l" t="t" r="r" b="b"/>
                  <a:pathLst>
                    <a:path w="627161" h="267928">
                      <a:moveTo>
                        <a:pt x="133964" y="0"/>
                      </a:moveTo>
                      <a:lnTo>
                        <a:pt x="493197" y="0"/>
                      </a:lnTo>
                      <a:cubicBezTo>
                        <a:pt x="567183" y="0"/>
                        <a:pt x="627161" y="59978"/>
                        <a:pt x="627161" y="133964"/>
                      </a:cubicBezTo>
                      <a:lnTo>
                        <a:pt x="627161" y="133964"/>
                      </a:lnTo>
                      <a:cubicBezTo>
                        <a:pt x="627161" y="207950"/>
                        <a:pt x="567183" y="267928"/>
                        <a:pt x="493197" y="267928"/>
                      </a:cubicBezTo>
                      <a:lnTo>
                        <a:pt x="133964" y="267928"/>
                      </a:lnTo>
                      <a:cubicBezTo>
                        <a:pt x="59978" y="267928"/>
                        <a:pt x="0" y="207950"/>
                        <a:pt x="0" y="133964"/>
                      </a:cubicBezTo>
                      <a:lnTo>
                        <a:pt x="0" y="133964"/>
                      </a:lnTo>
                      <a:cubicBezTo>
                        <a:pt x="0" y="59978"/>
                        <a:pt x="59978" y="0"/>
                        <a:pt x="133964" y="0"/>
                      </a:cubicBezTo>
                      <a:close/>
                    </a:path>
                  </a:pathLst>
                </a:custGeom>
                <a:solidFill>
                  <a:srgbClr val="00B050"/>
                </a:solidFill>
              </p:spPr>
              <p:txBody>
                <a:bodyPr/>
                <a:lstStyle/>
                <a:p>
                  <a:pPr algn="l" defTabSz="457200" rtl="0"/>
                  <a:endParaRPr lang="en-IL" sz="1000" dirty="0">
                    <a:solidFill>
                      <a:prstClr val="black"/>
                    </a:solidFill>
                    <a:latin typeface="Calibri"/>
                  </a:endParaRPr>
                </a:p>
              </p:txBody>
            </p:sp>
            <p:sp>
              <p:nvSpPr>
                <p:cNvPr id="20" name="TextBox 14">
                  <a:extLst>
                    <a:ext uri="{FF2B5EF4-FFF2-40B4-BE49-F238E27FC236}">
                      <a16:creationId xmlns:a16="http://schemas.microsoft.com/office/drawing/2014/main" id="{FB5ED7BA-A94D-D38E-9670-C39C2B11E291}"/>
                    </a:ext>
                  </a:extLst>
                </p:cNvPr>
                <p:cNvSpPr txBox="1"/>
                <p:nvPr/>
              </p:nvSpPr>
              <p:spPr>
                <a:xfrm>
                  <a:off x="-242600" y="-14685"/>
                  <a:ext cx="771203" cy="278009"/>
                </a:xfrm>
                <a:prstGeom prst="rect">
                  <a:avLst/>
                </a:prstGeom>
              </p:spPr>
              <p:txBody>
                <a:bodyPr lIns="25400" tIns="25400" rIns="25400" bIns="25400" rtlCol="0" anchor="ctr"/>
                <a:lstStyle/>
                <a:p>
                  <a:pPr algn="ctr" defTabSz="457200" rtl="0">
                    <a:lnSpc>
                      <a:spcPts val="1260"/>
                    </a:lnSpc>
                  </a:pPr>
                  <a:r>
                    <a:rPr lang="en-US" sz="1400" b="1" dirty="0">
                      <a:solidFill>
                        <a:srgbClr val="DFE1E6"/>
                      </a:solidFill>
                      <a:latin typeface="Calibri"/>
                      <a:ea typeface="Open Sans Bold"/>
                      <a:cs typeface="Open Sans Bold"/>
                      <a:sym typeface="Open Sans Bold"/>
                    </a:rPr>
                    <a:t>Business Understanding</a:t>
                  </a:r>
                </a:p>
              </p:txBody>
            </p:sp>
          </p:grpSp>
          <p:grpSp>
            <p:nvGrpSpPr>
              <p:cNvPr id="33" name="Group 15">
                <a:extLst>
                  <a:ext uri="{FF2B5EF4-FFF2-40B4-BE49-F238E27FC236}">
                    <a16:creationId xmlns:a16="http://schemas.microsoft.com/office/drawing/2014/main" id="{C1764176-93E7-5939-031D-1B262538C466}"/>
                  </a:ext>
                </a:extLst>
              </p:cNvPr>
              <p:cNvGrpSpPr/>
              <p:nvPr/>
            </p:nvGrpSpPr>
            <p:grpSpPr>
              <a:xfrm>
                <a:off x="3656489" y="3210113"/>
                <a:ext cx="1190625" cy="508644"/>
                <a:chOff x="0" y="0"/>
                <a:chExt cx="627160" cy="267928"/>
              </a:xfrm>
            </p:grpSpPr>
            <p:sp>
              <p:nvSpPr>
                <p:cNvPr id="34" name="Freeform 16">
                  <a:extLst>
                    <a:ext uri="{FF2B5EF4-FFF2-40B4-BE49-F238E27FC236}">
                      <a16:creationId xmlns:a16="http://schemas.microsoft.com/office/drawing/2014/main" id="{419A4BBC-697F-F3A9-C23B-499A66E22FBF}"/>
                    </a:ext>
                  </a:extLst>
                </p:cNvPr>
                <p:cNvSpPr/>
                <p:nvPr/>
              </p:nvSpPr>
              <p:spPr>
                <a:xfrm>
                  <a:off x="0" y="0"/>
                  <a:ext cx="627161" cy="267928"/>
                </a:xfrm>
                <a:custGeom>
                  <a:avLst/>
                  <a:gdLst/>
                  <a:ahLst/>
                  <a:cxnLst/>
                  <a:rect l="l" t="t" r="r" b="b"/>
                  <a:pathLst>
                    <a:path w="627161" h="267928">
                      <a:moveTo>
                        <a:pt x="133964" y="0"/>
                      </a:moveTo>
                      <a:lnTo>
                        <a:pt x="493197" y="0"/>
                      </a:lnTo>
                      <a:cubicBezTo>
                        <a:pt x="567183" y="0"/>
                        <a:pt x="627161" y="59978"/>
                        <a:pt x="627161" y="133964"/>
                      </a:cubicBezTo>
                      <a:lnTo>
                        <a:pt x="627161" y="133964"/>
                      </a:lnTo>
                      <a:cubicBezTo>
                        <a:pt x="627161" y="207950"/>
                        <a:pt x="567183" y="267928"/>
                        <a:pt x="493197" y="267928"/>
                      </a:cubicBezTo>
                      <a:lnTo>
                        <a:pt x="133964" y="267928"/>
                      </a:lnTo>
                      <a:cubicBezTo>
                        <a:pt x="59978" y="267928"/>
                        <a:pt x="0" y="207950"/>
                        <a:pt x="0" y="133964"/>
                      </a:cubicBezTo>
                      <a:lnTo>
                        <a:pt x="0" y="133964"/>
                      </a:lnTo>
                      <a:cubicBezTo>
                        <a:pt x="0" y="59978"/>
                        <a:pt x="59978" y="0"/>
                        <a:pt x="133964" y="0"/>
                      </a:cubicBezTo>
                      <a:close/>
                    </a:path>
                  </a:pathLst>
                </a:custGeom>
                <a:solidFill>
                  <a:schemeClr val="accent6">
                    <a:lumMod val="75000"/>
                  </a:schemeClr>
                </a:solidFill>
              </p:spPr>
              <p:txBody>
                <a:bodyPr/>
                <a:lstStyle/>
                <a:p>
                  <a:pPr algn="l" defTabSz="457200" rtl="0"/>
                  <a:endParaRPr lang="en-IL" sz="900">
                    <a:solidFill>
                      <a:prstClr val="black"/>
                    </a:solidFill>
                    <a:latin typeface="Calibri"/>
                  </a:endParaRPr>
                </a:p>
              </p:txBody>
            </p:sp>
            <p:sp>
              <p:nvSpPr>
                <p:cNvPr id="35" name="TextBox 17">
                  <a:extLst>
                    <a:ext uri="{FF2B5EF4-FFF2-40B4-BE49-F238E27FC236}">
                      <a16:creationId xmlns:a16="http://schemas.microsoft.com/office/drawing/2014/main" id="{41E786CD-5BE4-25D8-BBC1-B1535145FBFF}"/>
                    </a:ext>
                  </a:extLst>
                </p:cNvPr>
                <p:cNvSpPr txBox="1"/>
                <p:nvPr/>
              </p:nvSpPr>
              <p:spPr>
                <a:xfrm>
                  <a:off x="0" y="-28575"/>
                  <a:ext cx="627160" cy="296503"/>
                </a:xfrm>
                <a:prstGeom prst="rect">
                  <a:avLst/>
                </a:prstGeom>
              </p:spPr>
              <p:txBody>
                <a:bodyPr lIns="25400" tIns="25400" rIns="25400" bIns="25400" rtlCol="0" anchor="ctr"/>
                <a:lstStyle/>
                <a:p>
                  <a:pPr algn="ctr" defTabSz="457200" rtl="0">
                    <a:lnSpc>
                      <a:spcPts val="1260"/>
                    </a:lnSpc>
                  </a:pPr>
                  <a:endParaRPr sz="900">
                    <a:solidFill>
                      <a:prstClr val="black"/>
                    </a:solidFill>
                    <a:latin typeface="Calibri"/>
                  </a:endParaRPr>
                </a:p>
              </p:txBody>
            </p:sp>
          </p:grpSp>
          <p:grpSp>
            <p:nvGrpSpPr>
              <p:cNvPr id="36" name="Group 18">
                <a:extLst>
                  <a:ext uri="{FF2B5EF4-FFF2-40B4-BE49-F238E27FC236}">
                    <a16:creationId xmlns:a16="http://schemas.microsoft.com/office/drawing/2014/main" id="{50D19ABB-0895-C42B-270E-93D3BDC7C7A3}"/>
                  </a:ext>
                </a:extLst>
              </p:cNvPr>
              <p:cNvGrpSpPr/>
              <p:nvPr/>
            </p:nvGrpSpPr>
            <p:grpSpPr>
              <a:xfrm>
                <a:off x="5159073" y="3210113"/>
                <a:ext cx="1190625" cy="508644"/>
                <a:chOff x="0" y="0"/>
                <a:chExt cx="627160" cy="267928"/>
              </a:xfrm>
            </p:grpSpPr>
            <p:sp>
              <p:nvSpPr>
                <p:cNvPr id="37" name="Freeform 19">
                  <a:extLst>
                    <a:ext uri="{FF2B5EF4-FFF2-40B4-BE49-F238E27FC236}">
                      <a16:creationId xmlns:a16="http://schemas.microsoft.com/office/drawing/2014/main" id="{92D6C94C-F551-CF52-DF8C-FACFA9F42DDB}"/>
                    </a:ext>
                  </a:extLst>
                </p:cNvPr>
                <p:cNvSpPr/>
                <p:nvPr/>
              </p:nvSpPr>
              <p:spPr>
                <a:xfrm>
                  <a:off x="0" y="0"/>
                  <a:ext cx="627161" cy="267928"/>
                </a:xfrm>
                <a:custGeom>
                  <a:avLst/>
                  <a:gdLst/>
                  <a:ahLst/>
                  <a:cxnLst/>
                  <a:rect l="l" t="t" r="r" b="b"/>
                  <a:pathLst>
                    <a:path w="627161" h="267928">
                      <a:moveTo>
                        <a:pt x="133964" y="0"/>
                      </a:moveTo>
                      <a:lnTo>
                        <a:pt x="493197" y="0"/>
                      </a:lnTo>
                      <a:cubicBezTo>
                        <a:pt x="567183" y="0"/>
                        <a:pt x="627161" y="59978"/>
                        <a:pt x="627161" y="133964"/>
                      </a:cubicBezTo>
                      <a:lnTo>
                        <a:pt x="627161" y="133964"/>
                      </a:lnTo>
                      <a:cubicBezTo>
                        <a:pt x="627161" y="207950"/>
                        <a:pt x="567183" y="267928"/>
                        <a:pt x="493197" y="267928"/>
                      </a:cubicBezTo>
                      <a:lnTo>
                        <a:pt x="133964" y="267928"/>
                      </a:lnTo>
                      <a:cubicBezTo>
                        <a:pt x="59978" y="267928"/>
                        <a:pt x="0" y="207950"/>
                        <a:pt x="0" y="133964"/>
                      </a:cubicBezTo>
                      <a:lnTo>
                        <a:pt x="0" y="133964"/>
                      </a:lnTo>
                      <a:cubicBezTo>
                        <a:pt x="0" y="59978"/>
                        <a:pt x="59978" y="0"/>
                        <a:pt x="133964" y="0"/>
                      </a:cubicBezTo>
                      <a:close/>
                    </a:path>
                  </a:pathLst>
                </a:custGeom>
                <a:solidFill>
                  <a:schemeClr val="accent6">
                    <a:lumMod val="75000"/>
                  </a:schemeClr>
                </a:solidFill>
              </p:spPr>
              <p:txBody>
                <a:bodyPr/>
                <a:lstStyle/>
                <a:p>
                  <a:pPr algn="l" defTabSz="457200" rtl="0"/>
                  <a:endParaRPr lang="en-IL" sz="900">
                    <a:solidFill>
                      <a:prstClr val="black"/>
                    </a:solidFill>
                    <a:latin typeface="Calibri"/>
                  </a:endParaRPr>
                </a:p>
              </p:txBody>
            </p:sp>
            <p:sp>
              <p:nvSpPr>
                <p:cNvPr id="38" name="TextBox 20">
                  <a:extLst>
                    <a:ext uri="{FF2B5EF4-FFF2-40B4-BE49-F238E27FC236}">
                      <a16:creationId xmlns:a16="http://schemas.microsoft.com/office/drawing/2014/main" id="{4B16EDFC-7FB1-79DF-58F4-DB021CF2D01C}"/>
                    </a:ext>
                  </a:extLst>
                </p:cNvPr>
                <p:cNvSpPr txBox="1"/>
                <p:nvPr/>
              </p:nvSpPr>
              <p:spPr>
                <a:xfrm>
                  <a:off x="0" y="-28575"/>
                  <a:ext cx="627160" cy="296503"/>
                </a:xfrm>
                <a:prstGeom prst="rect">
                  <a:avLst/>
                </a:prstGeom>
              </p:spPr>
              <p:txBody>
                <a:bodyPr lIns="25400" tIns="25400" rIns="25400" bIns="25400" rtlCol="0" anchor="ctr"/>
                <a:lstStyle/>
                <a:p>
                  <a:pPr algn="ctr" defTabSz="457200" rtl="0">
                    <a:lnSpc>
                      <a:spcPts val="1260"/>
                    </a:lnSpc>
                  </a:pPr>
                  <a:endParaRPr sz="900">
                    <a:solidFill>
                      <a:prstClr val="black"/>
                    </a:solidFill>
                    <a:latin typeface="Calibri"/>
                  </a:endParaRPr>
                </a:p>
              </p:txBody>
            </p:sp>
          </p:grpSp>
          <p:grpSp>
            <p:nvGrpSpPr>
              <p:cNvPr id="39" name="Group 21">
                <a:extLst>
                  <a:ext uri="{FF2B5EF4-FFF2-40B4-BE49-F238E27FC236}">
                    <a16:creationId xmlns:a16="http://schemas.microsoft.com/office/drawing/2014/main" id="{51CAF14C-E687-79A8-B75B-69F79F00EBD6}"/>
                  </a:ext>
                </a:extLst>
              </p:cNvPr>
              <p:cNvGrpSpPr/>
              <p:nvPr/>
            </p:nvGrpSpPr>
            <p:grpSpPr>
              <a:xfrm>
                <a:off x="8914097" y="3210113"/>
                <a:ext cx="1333500" cy="508644"/>
                <a:chOff x="0" y="0"/>
                <a:chExt cx="702420" cy="267928"/>
              </a:xfrm>
            </p:grpSpPr>
            <p:sp>
              <p:nvSpPr>
                <p:cNvPr id="40" name="Freeform 22">
                  <a:extLst>
                    <a:ext uri="{FF2B5EF4-FFF2-40B4-BE49-F238E27FC236}">
                      <a16:creationId xmlns:a16="http://schemas.microsoft.com/office/drawing/2014/main" id="{0FD65C95-193A-BA3B-4B15-D93DD95CDF50}"/>
                    </a:ext>
                  </a:extLst>
                </p:cNvPr>
                <p:cNvSpPr/>
                <p:nvPr/>
              </p:nvSpPr>
              <p:spPr>
                <a:xfrm>
                  <a:off x="0" y="0"/>
                  <a:ext cx="702420" cy="267928"/>
                </a:xfrm>
                <a:custGeom>
                  <a:avLst/>
                  <a:gdLst/>
                  <a:ahLst/>
                  <a:cxnLst/>
                  <a:rect l="l" t="t" r="r" b="b"/>
                  <a:pathLst>
                    <a:path w="702420" h="267928">
                      <a:moveTo>
                        <a:pt x="133964" y="0"/>
                      </a:moveTo>
                      <a:lnTo>
                        <a:pt x="568456" y="0"/>
                      </a:lnTo>
                      <a:cubicBezTo>
                        <a:pt x="642442" y="0"/>
                        <a:pt x="702420" y="59978"/>
                        <a:pt x="702420" y="133964"/>
                      </a:cubicBezTo>
                      <a:lnTo>
                        <a:pt x="702420" y="133964"/>
                      </a:lnTo>
                      <a:cubicBezTo>
                        <a:pt x="702420" y="207950"/>
                        <a:pt x="642442" y="267928"/>
                        <a:pt x="568456" y="267928"/>
                      </a:cubicBezTo>
                      <a:lnTo>
                        <a:pt x="133964" y="267928"/>
                      </a:lnTo>
                      <a:cubicBezTo>
                        <a:pt x="59978" y="267928"/>
                        <a:pt x="0" y="207950"/>
                        <a:pt x="0" y="133964"/>
                      </a:cubicBezTo>
                      <a:lnTo>
                        <a:pt x="0" y="133964"/>
                      </a:lnTo>
                      <a:cubicBezTo>
                        <a:pt x="0" y="59978"/>
                        <a:pt x="59978" y="0"/>
                        <a:pt x="133964" y="0"/>
                      </a:cubicBezTo>
                      <a:close/>
                    </a:path>
                  </a:pathLst>
                </a:custGeom>
                <a:solidFill>
                  <a:srgbClr val="FF0000"/>
                </a:solidFill>
              </p:spPr>
              <p:txBody>
                <a:bodyPr/>
                <a:lstStyle/>
                <a:p>
                  <a:pPr algn="l" defTabSz="457200" rtl="0"/>
                  <a:endParaRPr lang="en-IL" sz="900">
                    <a:solidFill>
                      <a:prstClr val="black"/>
                    </a:solidFill>
                    <a:latin typeface="Calibri"/>
                  </a:endParaRPr>
                </a:p>
              </p:txBody>
            </p:sp>
            <p:sp>
              <p:nvSpPr>
                <p:cNvPr id="41" name="TextBox 23">
                  <a:extLst>
                    <a:ext uri="{FF2B5EF4-FFF2-40B4-BE49-F238E27FC236}">
                      <a16:creationId xmlns:a16="http://schemas.microsoft.com/office/drawing/2014/main" id="{D6F9C620-2858-066D-89D5-5921B8FB3871}"/>
                    </a:ext>
                  </a:extLst>
                </p:cNvPr>
                <p:cNvSpPr txBox="1"/>
                <p:nvPr/>
              </p:nvSpPr>
              <p:spPr>
                <a:xfrm>
                  <a:off x="0" y="-28575"/>
                  <a:ext cx="702420" cy="296503"/>
                </a:xfrm>
                <a:prstGeom prst="rect">
                  <a:avLst/>
                </a:prstGeom>
              </p:spPr>
              <p:txBody>
                <a:bodyPr lIns="25400" tIns="25400" rIns="25400" bIns="25400" rtlCol="0" anchor="ctr"/>
                <a:lstStyle/>
                <a:p>
                  <a:pPr algn="ctr" defTabSz="457200" rtl="0">
                    <a:lnSpc>
                      <a:spcPts val="1260"/>
                    </a:lnSpc>
                  </a:pPr>
                  <a:endParaRPr sz="900">
                    <a:solidFill>
                      <a:prstClr val="black"/>
                    </a:solidFill>
                    <a:latin typeface="Calibri"/>
                  </a:endParaRPr>
                </a:p>
              </p:txBody>
            </p:sp>
          </p:grpSp>
          <p:sp>
            <p:nvSpPr>
              <p:cNvPr id="43" name="Freeform 25">
                <a:extLst>
                  <a:ext uri="{FF2B5EF4-FFF2-40B4-BE49-F238E27FC236}">
                    <a16:creationId xmlns:a16="http://schemas.microsoft.com/office/drawing/2014/main" id="{045AD48F-19A1-DB89-F117-E290B6368B98}"/>
                  </a:ext>
                </a:extLst>
              </p:cNvPr>
              <p:cNvSpPr/>
              <p:nvPr/>
            </p:nvSpPr>
            <p:spPr>
              <a:xfrm rot="16200000">
                <a:off x="8277711" y="3309032"/>
                <a:ext cx="735013" cy="276941"/>
              </a:xfrm>
              <a:custGeom>
                <a:avLst/>
                <a:gdLst/>
                <a:ahLst/>
                <a:cxnLst/>
                <a:rect l="l" t="t" r="r" b="b"/>
                <a:pathLst>
                  <a:path w="600197" h="226144">
                    <a:moveTo>
                      <a:pt x="300099" y="226144"/>
                    </a:moveTo>
                    <a:lnTo>
                      <a:pt x="600197" y="0"/>
                    </a:lnTo>
                    <a:lnTo>
                      <a:pt x="0" y="0"/>
                    </a:lnTo>
                    <a:lnTo>
                      <a:pt x="300099" y="226144"/>
                    </a:lnTo>
                    <a:close/>
                  </a:path>
                </a:pathLst>
              </a:custGeom>
              <a:solidFill>
                <a:schemeClr val="bg1">
                  <a:lumMod val="75000"/>
                </a:schemeClr>
              </a:solidFill>
            </p:spPr>
            <p:txBody>
              <a:bodyPr/>
              <a:lstStyle/>
              <a:p>
                <a:pPr algn="l" defTabSz="457200" rtl="0"/>
                <a:endParaRPr lang="en-IL" sz="900" dirty="0">
                  <a:solidFill>
                    <a:prstClr val="black"/>
                  </a:solidFill>
                  <a:latin typeface="Calibri"/>
                </a:endParaRPr>
              </a:p>
            </p:txBody>
          </p:sp>
          <p:sp>
            <p:nvSpPr>
              <p:cNvPr id="46" name="TextBox 29">
                <a:extLst>
                  <a:ext uri="{FF2B5EF4-FFF2-40B4-BE49-F238E27FC236}">
                    <a16:creationId xmlns:a16="http://schemas.microsoft.com/office/drawing/2014/main" id="{5CC98C3B-4BD5-CD11-6199-4109FC46DE0E}"/>
                  </a:ext>
                </a:extLst>
              </p:cNvPr>
              <p:cNvSpPr txBox="1"/>
              <p:nvPr/>
            </p:nvSpPr>
            <p:spPr>
              <a:xfrm>
                <a:off x="3680563" y="3331159"/>
                <a:ext cx="1160950" cy="268717"/>
              </a:xfrm>
              <a:prstGeom prst="rect">
                <a:avLst/>
              </a:prstGeom>
            </p:spPr>
            <p:txBody>
              <a:bodyPr wrap="square" lIns="0" tIns="0" rIns="0" bIns="0" rtlCol="0" anchor="t">
                <a:spAutoFit/>
              </a:bodyPr>
              <a:lstStyle/>
              <a:p>
                <a:pPr algn="ctr" defTabSz="457200" rtl="0">
                  <a:lnSpc>
                    <a:spcPts val="1080"/>
                  </a:lnSpc>
                </a:pPr>
                <a:r>
                  <a:rPr lang="en-US" sz="1400" b="1" dirty="0">
                    <a:solidFill>
                      <a:srgbClr val="FFFFFF"/>
                    </a:solidFill>
                    <a:latin typeface="Calibri"/>
                    <a:ea typeface="Open Sans Bold"/>
                    <a:cs typeface="Open Sans Bold"/>
                    <a:sym typeface="Open Sans Bold"/>
                  </a:rPr>
                  <a:t>Data Preparation</a:t>
                </a:r>
              </a:p>
            </p:txBody>
          </p:sp>
          <p:sp>
            <p:nvSpPr>
              <p:cNvPr id="47" name="TextBox 30">
                <a:extLst>
                  <a:ext uri="{FF2B5EF4-FFF2-40B4-BE49-F238E27FC236}">
                    <a16:creationId xmlns:a16="http://schemas.microsoft.com/office/drawing/2014/main" id="{B9168496-BDC0-EAA4-3CE3-BB357BED27A5}"/>
                  </a:ext>
                </a:extLst>
              </p:cNvPr>
              <p:cNvSpPr txBox="1"/>
              <p:nvPr/>
            </p:nvSpPr>
            <p:spPr>
              <a:xfrm>
                <a:off x="5373704" y="3327708"/>
                <a:ext cx="723733" cy="268717"/>
              </a:xfrm>
              <a:prstGeom prst="rect">
                <a:avLst/>
              </a:prstGeom>
            </p:spPr>
            <p:txBody>
              <a:bodyPr wrap="square" lIns="0" tIns="0" rIns="0" bIns="0" rtlCol="0" anchor="t">
                <a:spAutoFit/>
              </a:bodyPr>
              <a:lstStyle/>
              <a:p>
                <a:pPr algn="ctr" defTabSz="457200" rtl="0">
                  <a:lnSpc>
                    <a:spcPts val="1080"/>
                  </a:lnSpc>
                </a:pPr>
                <a:r>
                  <a:rPr lang="en-US" sz="1400" b="1" dirty="0">
                    <a:solidFill>
                      <a:srgbClr val="FFFFFF"/>
                    </a:solidFill>
                    <a:latin typeface="Calibri"/>
                    <a:ea typeface="Open Sans Bold"/>
                    <a:cs typeface="Open Sans Bold"/>
                    <a:sym typeface="Open Sans Bold"/>
                  </a:rPr>
                  <a:t>Model Selection</a:t>
                </a:r>
              </a:p>
            </p:txBody>
          </p:sp>
          <p:sp>
            <p:nvSpPr>
              <p:cNvPr id="48" name="TextBox 31">
                <a:extLst>
                  <a:ext uri="{FF2B5EF4-FFF2-40B4-BE49-F238E27FC236}">
                    <a16:creationId xmlns:a16="http://schemas.microsoft.com/office/drawing/2014/main" id="{0A69C2B0-323A-9E00-1433-1EBD573E4FF4}"/>
                  </a:ext>
                </a:extLst>
              </p:cNvPr>
              <p:cNvSpPr txBox="1"/>
              <p:nvPr/>
            </p:nvSpPr>
            <p:spPr>
              <a:xfrm>
                <a:off x="9214436" y="3402523"/>
                <a:ext cx="723733" cy="139892"/>
              </a:xfrm>
              <a:prstGeom prst="rect">
                <a:avLst/>
              </a:prstGeom>
            </p:spPr>
            <p:txBody>
              <a:bodyPr wrap="square" lIns="0" tIns="0" rIns="0" bIns="0" rtlCol="0" anchor="t">
                <a:spAutoFit/>
              </a:bodyPr>
              <a:lstStyle/>
              <a:p>
                <a:pPr algn="ctr" defTabSz="457200" rtl="0">
                  <a:lnSpc>
                    <a:spcPts val="1080"/>
                  </a:lnSpc>
                </a:pPr>
                <a:r>
                  <a:rPr lang="en-US" sz="1400" b="1" dirty="0">
                    <a:solidFill>
                      <a:srgbClr val="F5F5F5"/>
                    </a:solidFill>
                    <a:latin typeface="Calibri"/>
                    <a:ea typeface="Open Sans Bold"/>
                    <a:cs typeface="Open Sans Bold"/>
                    <a:sym typeface="Open Sans Bold"/>
                  </a:rPr>
                  <a:t>Finishers</a:t>
                </a:r>
              </a:p>
            </p:txBody>
          </p:sp>
          <p:sp>
            <p:nvSpPr>
              <p:cNvPr id="52" name="TextBox 35">
                <a:extLst>
                  <a:ext uri="{FF2B5EF4-FFF2-40B4-BE49-F238E27FC236}">
                    <a16:creationId xmlns:a16="http://schemas.microsoft.com/office/drawing/2014/main" id="{4C3CDCFF-CF74-1D87-D134-B0C6F0462FEE}"/>
                  </a:ext>
                </a:extLst>
              </p:cNvPr>
              <p:cNvSpPr txBox="1"/>
              <p:nvPr/>
            </p:nvSpPr>
            <p:spPr>
              <a:xfrm>
                <a:off x="1934861" y="2979391"/>
                <a:ext cx="1166813" cy="142988"/>
              </a:xfrm>
              <a:prstGeom prst="rect">
                <a:avLst/>
              </a:prstGeom>
            </p:spPr>
            <p:txBody>
              <a:bodyPr lIns="0" tIns="0" rIns="0" bIns="0" rtlCol="0" anchor="t">
                <a:spAutoFit/>
              </a:bodyPr>
              <a:lstStyle/>
              <a:p>
                <a:pPr algn="ctr" defTabSz="457200" rtl="0">
                  <a:lnSpc>
                    <a:spcPts val="1080"/>
                  </a:lnSpc>
                </a:pPr>
                <a:r>
                  <a:rPr lang="en-US" sz="1400" b="1" dirty="0">
                    <a:solidFill>
                      <a:srgbClr val="333333"/>
                    </a:solidFill>
                    <a:latin typeface="Calibri"/>
                    <a:ea typeface="Open Sans Bold"/>
                    <a:cs typeface="Open Sans Bold"/>
                    <a:sym typeface="Open Sans Bold"/>
                  </a:rPr>
                  <a:t>26.10 - 24.11</a:t>
                </a:r>
              </a:p>
            </p:txBody>
          </p:sp>
          <p:sp>
            <p:nvSpPr>
              <p:cNvPr id="53" name="TextBox 36">
                <a:extLst>
                  <a:ext uri="{FF2B5EF4-FFF2-40B4-BE49-F238E27FC236}">
                    <a16:creationId xmlns:a16="http://schemas.microsoft.com/office/drawing/2014/main" id="{87C5DF07-874C-2416-92C8-6DBE9ACDFF8C}"/>
                  </a:ext>
                </a:extLst>
              </p:cNvPr>
              <p:cNvSpPr txBox="1"/>
              <p:nvPr/>
            </p:nvSpPr>
            <p:spPr>
              <a:xfrm>
                <a:off x="3668395" y="2979391"/>
                <a:ext cx="1166813" cy="116949"/>
              </a:xfrm>
              <a:prstGeom prst="rect">
                <a:avLst/>
              </a:prstGeom>
            </p:spPr>
            <p:txBody>
              <a:bodyPr lIns="0" tIns="0" rIns="0" bIns="0" rtlCol="0" anchor="t">
                <a:spAutoFit/>
              </a:bodyPr>
              <a:lstStyle/>
              <a:p>
                <a:pPr algn="ctr" defTabSz="457200" rtl="0">
                  <a:lnSpc>
                    <a:spcPts val="1080"/>
                  </a:lnSpc>
                </a:pPr>
                <a:r>
                  <a:rPr lang="en-US" sz="1400" b="1" dirty="0">
                    <a:solidFill>
                      <a:srgbClr val="C00000"/>
                    </a:solidFill>
                    <a:latin typeface="Calibri"/>
                    <a:ea typeface="Open Sans Bold"/>
                    <a:cs typeface="Open Sans Bold"/>
                    <a:sym typeface="Open Sans Bold"/>
                  </a:rPr>
                  <a:t>24.11 - 8.12</a:t>
                </a:r>
              </a:p>
            </p:txBody>
          </p:sp>
          <p:sp>
            <p:nvSpPr>
              <p:cNvPr id="54" name="TextBox 37">
                <a:extLst>
                  <a:ext uri="{FF2B5EF4-FFF2-40B4-BE49-F238E27FC236}">
                    <a16:creationId xmlns:a16="http://schemas.microsoft.com/office/drawing/2014/main" id="{0660C7A2-4014-2AB1-DF2E-2F6042FAD0C2}"/>
                  </a:ext>
                </a:extLst>
              </p:cNvPr>
              <p:cNvSpPr txBox="1"/>
              <p:nvPr/>
            </p:nvSpPr>
            <p:spPr>
              <a:xfrm>
                <a:off x="5159073" y="2979391"/>
                <a:ext cx="1166813" cy="116949"/>
              </a:xfrm>
              <a:prstGeom prst="rect">
                <a:avLst/>
              </a:prstGeom>
            </p:spPr>
            <p:txBody>
              <a:bodyPr lIns="0" tIns="0" rIns="0" bIns="0" rtlCol="0" anchor="t">
                <a:spAutoFit/>
              </a:bodyPr>
              <a:lstStyle/>
              <a:p>
                <a:pPr algn="ctr" defTabSz="457200" rtl="0">
                  <a:lnSpc>
                    <a:spcPts val="1080"/>
                  </a:lnSpc>
                </a:pPr>
                <a:r>
                  <a:rPr lang="en-US" sz="1400" b="1" dirty="0">
                    <a:solidFill>
                      <a:srgbClr val="C00000"/>
                    </a:solidFill>
                    <a:latin typeface="Calibri"/>
                    <a:ea typeface="Open Sans Bold"/>
                    <a:cs typeface="Open Sans Bold"/>
                    <a:sym typeface="Open Sans Bold"/>
                  </a:rPr>
                  <a:t>9.12 - 15.12</a:t>
                </a:r>
              </a:p>
            </p:txBody>
          </p:sp>
          <p:grpSp>
            <p:nvGrpSpPr>
              <p:cNvPr id="55" name="Group 38">
                <a:extLst>
                  <a:ext uri="{FF2B5EF4-FFF2-40B4-BE49-F238E27FC236}">
                    <a16:creationId xmlns:a16="http://schemas.microsoft.com/office/drawing/2014/main" id="{9E8D853C-A256-E02A-231B-D77390E06B93}"/>
                  </a:ext>
                </a:extLst>
              </p:cNvPr>
              <p:cNvGrpSpPr/>
              <p:nvPr/>
            </p:nvGrpSpPr>
            <p:grpSpPr>
              <a:xfrm>
                <a:off x="6226924" y="1672595"/>
                <a:ext cx="1464082" cy="536522"/>
                <a:chOff x="-66500" y="-14685"/>
                <a:chExt cx="771203" cy="282613"/>
              </a:xfrm>
            </p:grpSpPr>
            <p:sp>
              <p:nvSpPr>
                <p:cNvPr id="56" name="Freeform 39">
                  <a:extLst>
                    <a:ext uri="{FF2B5EF4-FFF2-40B4-BE49-F238E27FC236}">
                      <a16:creationId xmlns:a16="http://schemas.microsoft.com/office/drawing/2014/main" id="{AB23E34B-CDD7-E0CE-C5D5-7B95981DEE7C}"/>
                    </a:ext>
                  </a:extLst>
                </p:cNvPr>
                <p:cNvSpPr/>
                <p:nvPr/>
              </p:nvSpPr>
              <p:spPr>
                <a:xfrm>
                  <a:off x="0" y="0"/>
                  <a:ext cx="627161" cy="267928"/>
                </a:xfrm>
                <a:custGeom>
                  <a:avLst/>
                  <a:gdLst/>
                  <a:ahLst/>
                  <a:cxnLst/>
                  <a:rect l="l" t="t" r="r" b="b"/>
                  <a:pathLst>
                    <a:path w="627161" h="267928">
                      <a:moveTo>
                        <a:pt x="133964" y="0"/>
                      </a:moveTo>
                      <a:lnTo>
                        <a:pt x="493197" y="0"/>
                      </a:lnTo>
                      <a:cubicBezTo>
                        <a:pt x="567183" y="0"/>
                        <a:pt x="627161" y="59978"/>
                        <a:pt x="627161" y="133964"/>
                      </a:cubicBezTo>
                      <a:lnTo>
                        <a:pt x="627161" y="133964"/>
                      </a:lnTo>
                      <a:cubicBezTo>
                        <a:pt x="627161" y="207950"/>
                        <a:pt x="567183" y="267928"/>
                        <a:pt x="493197" y="267928"/>
                      </a:cubicBezTo>
                      <a:lnTo>
                        <a:pt x="133964" y="267928"/>
                      </a:lnTo>
                      <a:cubicBezTo>
                        <a:pt x="59978" y="267928"/>
                        <a:pt x="0" y="207950"/>
                        <a:pt x="0" y="133964"/>
                      </a:cubicBezTo>
                      <a:lnTo>
                        <a:pt x="0" y="133964"/>
                      </a:lnTo>
                      <a:cubicBezTo>
                        <a:pt x="0" y="59978"/>
                        <a:pt x="59978" y="0"/>
                        <a:pt x="133964" y="0"/>
                      </a:cubicBezTo>
                      <a:close/>
                    </a:path>
                  </a:pathLst>
                </a:custGeom>
                <a:solidFill>
                  <a:schemeClr val="accent6">
                    <a:lumMod val="75000"/>
                  </a:schemeClr>
                </a:solidFill>
              </p:spPr>
              <p:txBody>
                <a:bodyPr/>
                <a:lstStyle/>
                <a:p>
                  <a:pPr algn="l" defTabSz="457200" rtl="0"/>
                  <a:endParaRPr lang="en-IL" sz="900" dirty="0">
                    <a:solidFill>
                      <a:prstClr val="black"/>
                    </a:solidFill>
                    <a:latin typeface="Calibri"/>
                  </a:endParaRPr>
                </a:p>
              </p:txBody>
            </p:sp>
            <p:sp>
              <p:nvSpPr>
                <p:cNvPr id="57" name="TextBox 40">
                  <a:extLst>
                    <a:ext uri="{FF2B5EF4-FFF2-40B4-BE49-F238E27FC236}">
                      <a16:creationId xmlns:a16="http://schemas.microsoft.com/office/drawing/2014/main" id="{D3A12B43-B52A-C9C5-9F2F-A18B69DE770C}"/>
                    </a:ext>
                  </a:extLst>
                </p:cNvPr>
                <p:cNvSpPr txBox="1"/>
                <p:nvPr/>
              </p:nvSpPr>
              <p:spPr>
                <a:xfrm>
                  <a:off x="-66500" y="-14685"/>
                  <a:ext cx="771203" cy="278009"/>
                </a:xfrm>
                <a:prstGeom prst="rect">
                  <a:avLst/>
                </a:prstGeom>
              </p:spPr>
              <p:txBody>
                <a:bodyPr lIns="25400" tIns="25400" rIns="25400" bIns="25400" rtlCol="0" anchor="ctr"/>
                <a:lstStyle/>
                <a:p>
                  <a:pPr algn="ctr" defTabSz="457200" rtl="0">
                    <a:lnSpc>
                      <a:spcPts val="1260"/>
                    </a:lnSpc>
                  </a:pPr>
                  <a:r>
                    <a:rPr lang="en-US" sz="1400" b="1" dirty="0">
                      <a:solidFill>
                        <a:srgbClr val="F5F5F5"/>
                      </a:solidFill>
                      <a:latin typeface="Calibri"/>
                      <a:ea typeface="Open Sans Bold"/>
                      <a:cs typeface="Open Sans Bold"/>
                      <a:sym typeface="Open Sans Bold"/>
                    </a:rPr>
                    <a:t>Evaluation</a:t>
                  </a:r>
                </a:p>
              </p:txBody>
            </p:sp>
          </p:grpSp>
          <p:sp>
            <p:nvSpPr>
              <p:cNvPr id="58" name="TextBox 41">
                <a:extLst>
                  <a:ext uri="{FF2B5EF4-FFF2-40B4-BE49-F238E27FC236}">
                    <a16:creationId xmlns:a16="http://schemas.microsoft.com/office/drawing/2014/main" id="{334F5F95-CCB5-7F65-BD4D-C6650E17AFC4}"/>
                  </a:ext>
                </a:extLst>
              </p:cNvPr>
              <p:cNvSpPr txBox="1"/>
              <p:nvPr/>
            </p:nvSpPr>
            <p:spPr>
              <a:xfrm>
                <a:off x="6383338" y="2642919"/>
                <a:ext cx="1166813" cy="116949"/>
              </a:xfrm>
              <a:prstGeom prst="rect">
                <a:avLst/>
              </a:prstGeom>
            </p:spPr>
            <p:txBody>
              <a:bodyPr lIns="0" tIns="0" rIns="0" bIns="0" rtlCol="0" anchor="t">
                <a:spAutoFit/>
              </a:bodyPr>
              <a:lstStyle/>
              <a:p>
                <a:pPr algn="ctr" defTabSz="457200" rtl="0">
                  <a:lnSpc>
                    <a:spcPts val="1080"/>
                  </a:lnSpc>
                </a:pPr>
                <a:r>
                  <a:rPr lang="en-US" sz="1400" b="1" dirty="0">
                    <a:solidFill>
                      <a:srgbClr val="C00000"/>
                    </a:solidFill>
                    <a:latin typeface="Calibri"/>
                    <a:ea typeface="Open Sans Bold"/>
                    <a:cs typeface="Open Sans Bold"/>
                    <a:sym typeface="Open Sans Bold"/>
                  </a:rPr>
                  <a:t>16.12 - 5.1</a:t>
                </a:r>
              </a:p>
            </p:txBody>
          </p:sp>
          <p:sp>
            <p:nvSpPr>
              <p:cNvPr id="59" name="TextBox 42">
                <a:extLst>
                  <a:ext uri="{FF2B5EF4-FFF2-40B4-BE49-F238E27FC236}">
                    <a16:creationId xmlns:a16="http://schemas.microsoft.com/office/drawing/2014/main" id="{3C40DFE0-2F5E-63A7-8D85-C3CA3158B510}"/>
                  </a:ext>
                </a:extLst>
              </p:cNvPr>
              <p:cNvSpPr txBox="1"/>
              <p:nvPr/>
            </p:nvSpPr>
            <p:spPr>
              <a:xfrm>
                <a:off x="8997442" y="3029397"/>
                <a:ext cx="1166813" cy="142988"/>
              </a:xfrm>
              <a:prstGeom prst="rect">
                <a:avLst/>
              </a:prstGeom>
            </p:spPr>
            <p:txBody>
              <a:bodyPr lIns="0" tIns="0" rIns="0" bIns="0" rtlCol="0" anchor="t">
                <a:spAutoFit/>
              </a:bodyPr>
              <a:lstStyle/>
              <a:p>
                <a:pPr algn="ctr" defTabSz="457200" rtl="0">
                  <a:lnSpc>
                    <a:spcPts val="1080"/>
                  </a:lnSpc>
                </a:pPr>
                <a:r>
                  <a:rPr lang="en-US" sz="1400" b="1" dirty="0">
                    <a:solidFill>
                      <a:srgbClr val="333333"/>
                    </a:solidFill>
                    <a:latin typeface="Calibri"/>
                    <a:ea typeface="Open Sans Bold"/>
                    <a:cs typeface="Open Sans Bold"/>
                    <a:sym typeface="Open Sans Bold"/>
                  </a:rPr>
                  <a:t>6.1 - 20.1</a:t>
                </a:r>
              </a:p>
            </p:txBody>
          </p:sp>
        </p:grpSp>
        <p:sp>
          <p:nvSpPr>
            <p:cNvPr id="65" name="TextBox 4">
              <a:extLst>
                <a:ext uri="{FF2B5EF4-FFF2-40B4-BE49-F238E27FC236}">
                  <a16:creationId xmlns:a16="http://schemas.microsoft.com/office/drawing/2014/main" id="{AB5E2732-9BC8-88F5-AE9C-7284C626312A}"/>
                </a:ext>
              </a:extLst>
            </p:cNvPr>
            <p:cNvSpPr txBox="1"/>
            <p:nvPr/>
          </p:nvSpPr>
          <p:spPr>
            <a:xfrm>
              <a:off x="8110499" y="739712"/>
              <a:ext cx="2241872" cy="309179"/>
            </a:xfrm>
            <a:prstGeom prst="rect">
              <a:avLst/>
            </a:prstGeom>
            <a:noFill/>
          </p:spPr>
          <p:txBody>
            <a:bodyPr wrap="square">
              <a:spAutoFit/>
            </a:bodyPr>
            <a:lstStyle/>
            <a:p>
              <a:pPr algn="l" defTabSz="457200" rtl="0"/>
              <a:endParaRPr lang="en" sz="1600" b="1" u="sng" dirty="0">
                <a:solidFill>
                  <a:srgbClr val="475569"/>
                </a:solidFill>
                <a:latin typeface="Calibri"/>
              </a:endParaRPr>
            </a:p>
          </p:txBody>
        </p:sp>
      </p:grpSp>
      <p:sp>
        <p:nvSpPr>
          <p:cNvPr id="70" name="תיבת טקסט 69">
            <a:extLst>
              <a:ext uri="{FF2B5EF4-FFF2-40B4-BE49-F238E27FC236}">
                <a16:creationId xmlns:a16="http://schemas.microsoft.com/office/drawing/2014/main" id="{3B7B0CC4-3AF9-64A3-8E78-1841783F5B8C}"/>
              </a:ext>
            </a:extLst>
          </p:cNvPr>
          <p:cNvSpPr txBox="1"/>
          <p:nvPr/>
        </p:nvSpPr>
        <p:spPr>
          <a:xfrm>
            <a:off x="6385828" y="4856501"/>
            <a:ext cx="1586166" cy="251742"/>
          </a:xfrm>
          <a:prstGeom prst="rect">
            <a:avLst/>
          </a:prstGeom>
          <a:noFill/>
        </p:spPr>
        <p:txBody>
          <a:bodyPr wrap="square">
            <a:spAutoFit/>
          </a:bodyPr>
          <a:lstStyle/>
          <a:p>
            <a:pPr algn="ctr" defTabSz="457200" rtl="0">
              <a:lnSpc>
                <a:spcPts val="1080"/>
              </a:lnSpc>
            </a:pPr>
            <a:r>
              <a:rPr lang="en-US" sz="1600" b="1" dirty="0">
                <a:solidFill>
                  <a:srgbClr val="002060"/>
                </a:solidFill>
                <a:latin typeface="Calibri"/>
                <a:ea typeface="Open Sans Bold"/>
                <a:cs typeface="Open Sans Bold"/>
                <a:sym typeface="Open Sans Bold"/>
              </a:rPr>
              <a:t>21.12 - 5.1</a:t>
            </a:r>
          </a:p>
        </p:txBody>
      </p:sp>
      <p:sp>
        <p:nvSpPr>
          <p:cNvPr id="73" name="תיבת טקסט 72">
            <a:extLst>
              <a:ext uri="{FF2B5EF4-FFF2-40B4-BE49-F238E27FC236}">
                <a16:creationId xmlns:a16="http://schemas.microsoft.com/office/drawing/2014/main" id="{95C41DA8-17F9-19A1-4854-DAD0DA2DEF10}"/>
              </a:ext>
            </a:extLst>
          </p:cNvPr>
          <p:cNvSpPr txBox="1"/>
          <p:nvPr/>
        </p:nvSpPr>
        <p:spPr>
          <a:xfrm>
            <a:off x="3122854" y="4856501"/>
            <a:ext cx="1586166" cy="251742"/>
          </a:xfrm>
          <a:prstGeom prst="rect">
            <a:avLst/>
          </a:prstGeom>
          <a:noFill/>
        </p:spPr>
        <p:txBody>
          <a:bodyPr wrap="square">
            <a:spAutoFit/>
          </a:bodyPr>
          <a:lstStyle/>
          <a:p>
            <a:pPr algn="ctr" defTabSz="457200" rtl="0">
              <a:lnSpc>
                <a:spcPts val="1080"/>
              </a:lnSpc>
            </a:pPr>
            <a:r>
              <a:rPr lang="en-US" sz="1600" b="1" dirty="0">
                <a:solidFill>
                  <a:srgbClr val="002060"/>
                </a:solidFill>
                <a:latin typeface="Calibri"/>
                <a:ea typeface="Open Sans Bold"/>
                <a:cs typeface="Open Sans Bold"/>
                <a:sym typeface="Open Sans Bold"/>
              </a:rPr>
              <a:t>24.11-21.12</a:t>
            </a:r>
          </a:p>
        </p:txBody>
      </p:sp>
      <p:sp>
        <p:nvSpPr>
          <p:cNvPr id="74" name="תיבת טקסט 73">
            <a:extLst>
              <a:ext uri="{FF2B5EF4-FFF2-40B4-BE49-F238E27FC236}">
                <a16:creationId xmlns:a16="http://schemas.microsoft.com/office/drawing/2014/main" id="{B45197AB-D8C9-83FA-A1F4-D3FE986B01EE}"/>
              </a:ext>
            </a:extLst>
          </p:cNvPr>
          <p:cNvSpPr txBox="1"/>
          <p:nvPr/>
        </p:nvSpPr>
        <p:spPr>
          <a:xfrm>
            <a:off x="10081209" y="5381272"/>
            <a:ext cx="1586166" cy="792781"/>
          </a:xfrm>
          <a:prstGeom prst="rect">
            <a:avLst/>
          </a:prstGeom>
          <a:noFill/>
        </p:spPr>
        <p:txBody>
          <a:bodyPr wrap="square">
            <a:spAutoFit/>
          </a:bodyPr>
          <a:lstStyle/>
          <a:p>
            <a:pPr algn="ctr" defTabSz="457200" rtl="0">
              <a:lnSpc>
                <a:spcPct val="150000"/>
              </a:lnSpc>
            </a:pPr>
            <a:r>
              <a:rPr lang="en-US" sz="1600" b="1" dirty="0">
                <a:solidFill>
                  <a:srgbClr val="002060"/>
                </a:solidFill>
                <a:latin typeface="Calibri"/>
                <a:ea typeface="Open Sans Bold"/>
                <a:cs typeface="Open Sans Bold"/>
                <a:sym typeface="Open Sans Bold"/>
              </a:rPr>
              <a:t>Updated dates</a:t>
            </a:r>
          </a:p>
          <a:p>
            <a:pPr algn="ctr" defTabSz="457200" rtl="0">
              <a:lnSpc>
                <a:spcPct val="150000"/>
              </a:lnSpc>
            </a:pPr>
            <a:r>
              <a:rPr lang="en-US" sz="1600" b="1" dirty="0">
                <a:solidFill>
                  <a:srgbClr val="C00000"/>
                </a:solidFill>
                <a:latin typeface="Calibri"/>
                <a:ea typeface="Open Sans Bold"/>
                <a:cs typeface="Open Sans Bold"/>
                <a:sym typeface="Open Sans Bold"/>
              </a:rPr>
              <a:t>Planned dates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62A1D-6B0E-6714-04EC-8AC6640DAB66}"/>
            </a:ext>
          </a:extLst>
        </p:cNvPr>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3A694126-0878-12F0-3859-EAEE86323A04}"/>
              </a:ext>
            </a:extLst>
          </p:cNvPr>
          <p:cNvSpPr>
            <a:spLocks noGrp="1"/>
          </p:cNvSpPr>
          <p:nvPr>
            <p:ph type="dt" sz="half" idx="10"/>
          </p:nvPr>
        </p:nvSpPr>
        <p:spPr/>
        <p:txBody>
          <a:bodyPr/>
          <a:lstStyle/>
          <a:p>
            <a:fld id="{81A792BA-DE5A-904A-B48C-83C9489152F3}" type="datetime13">
              <a:rPr lang="he-IL" smtClean="0"/>
              <a:t>14.12.2025</a:t>
            </a:fld>
            <a:endParaRPr lang="en-US"/>
          </a:p>
        </p:txBody>
      </p:sp>
      <p:sp>
        <p:nvSpPr>
          <p:cNvPr id="3" name="מציין מיקום של כותרת תחתונה 2">
            <a:extLst>
              <a:ext uri="{FF2B5EF4-FFF2-40B4-BE49-F238E27FC236}">
                <a16:creationId xmlns:a16="http://schemas.microsoft.com/office/drawing/2014/main" id="{F32A1FAA-0135-AC40-AA12-944EBC7C8271}"/>
              </a:ext>
            </a:extLst>
          </p:cNvPr>
          <p:cNvSpPr>
            <a:spLocks noGrp="1"/>
          </p:cNvSpPr>
          <p:nvPr>
            <p:ph type="ftr" sz="quarter" idx="11"/>
          </p:nvPr>
        </p:nvSpPr>
        <p:spPr/>
        <p:txBody>
          <a:bodyPr/>
          <a:lstStyle/>
          <a:p>
            <a:r>
              <a:rPr lang="en-US"/>
              <a:t>Data Science Workshop - Project Options</a:t>
            </a:r>
          </a:p>
        </p:txBody>
      </p:sp>
      <p:sp>
        <p:nvSpPr>
          <p:cNvPr id="4" name="מציין מיקום של מספר שקופית 3">
            <a:extLst>
              <a:ext uri="{FF2B5EF4-FFF2-40B4-BE49-F238E27FC236}">
                <a16:creationId xmlns:a16="http://schemas.microsoft.com/office/drawing/2014/main" id="{AE0A5691-5F2B-E86A-59EC-BC94F2E69FE4}"/>
              </a:ext>
            </a:extLst>
          </p:cNvPr>
          <p:cNvSpPr>
            <a:spLocks noGrp="1"/>
          </p:cNvSpPr>
          <p:nvPr>
            <p:ph type="sldNum" sz="quarter" idx="12"/>
          </p:nvPr>
        </p:nvSpPr>
        <p:spPr/>
        <p:txBody>
          <a:bodyPr/>
          <a:lstStyle/>
          <a:p>
            <a:fld id="{C1FF6DA9-008F-8B48-92A6-B652298478BF}" type="slidenum">
              <a:rPr lang="en-US" smtClean="0"/>
              <a:t>3</a:t>
            </a:fld>
            <a:endParaRPr lang="en-US"/>
          </a:p>
        </p:txBody>
      </p:sp>
      <p:sp>
        <p:nvSpPr>
          <p:cNvPr id="5" name="Rectangle 1">
            <a:extLst>
              <a:ext uri="{FF2B5EF4-FFF2-40B4-BE49-F238E27FC236}">
                <a16:creationId xmlns:a16="http://schemas.microsoft.com/office/drawing/2014/main" id="{E421C3C2-AEDE-ACCE-7123-54FD04917AE9}"/>
              </a:ext>
            </a:extLst>
          </p:cNvPr>
          <p:cNvSpPr/>
          <p:nvPr/>
        </p:nvSpPr>
        <p:spPr>
          <a:xfrm>
            <a:off x="1934861" y="34668"/>
            <a:ext cx="8640255" cy="73152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rtl="0"/>
            <a:endParaRPr dirty="0">
              <a:solidFill>
                <a:prstClr val="white"/>
              </a:solidFill>
              <a:latin typeface="Calibri"/>
            </a:endParaRPr>
          </a:p>
        </p:txBody>
      </p:sp>
      <p:pic>
        <p:nvPicPr>
          <p:cNvPr id="6" name="תמונה 5">
            <a:extLst>
              <a:ext uri="{FF2B5EF4-FFF2-40B4-BE49-F238E27FC236}">
                <a16:creationId xmlns:a16="http://schemas.microsoft.com/office/drawing/2014/main" id="{1957CC02-8D2D-F167-CBE4-11FBDDC4D86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69434" y1="45898" x2="69434" y2="45898"/>
                        <a14:foregroundMark x1="67285" y1="57617" x2="67285" y2="57617"/>
                        <a14:foregroundMark x1="56543" y1="68945" x2="56543" y2="68945"/>
                        <a14:foregroundMark x1="36523" y1="69238" x2="36523" y2="69238"/>
                        <a14:backgroundMark x1="63184" y1="44824" x2="63184" y2="44824"/>
                        <a14:backgroundMark x1="80469" y1="35938" x2="80469" y2="35938"/>
                      </a14:backgroundRemoval>
                    </a14:imgEffect>
                  </a14:imgLayer>
                </a14:imgProps>
              </a:ext>
            </a:extLst>
          </a:blip>
          <a:stretch>
            <a:fillRect/>
          </a:stretch>
        </p:blipFill>
        <p:spPr>
          <a:xfrm>
            <a:off x="9692076" y="-152966"/>
            <a:ext cx="1037449" cy="1037449"/>
          </a:xfrm>
          <a:prstGeom prst="rect">
            <a:avLst/>
          </a:prstGeom>
        </p:spPr>
      </p:pic>
      <p:pic>
        <p:nvPicPr>
          <p:cNvPr id="7" name="Picture 8" descr="Blavatnik School of Computer Science and AI, Tel Aviv University: Alumni  and Graduates | LinkedIn">
            <a:extLst>
              <a:ext uri="{FF2B5EF4-FFF2-40B4-BE49-F238E27FC236}">
                <a16:creationId xmlns:a16="http://schemas.microsoft.com/office/drawing/2014/main" id="{27C6A37A-895C-4EA9-D6C9-0D45E70EDC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47" y="166369"/>
            <a:ext cx="833564" cy="833564"/>
          </a:xfrm>
          <a:prstGeom prst="rect">
            <a:avLst/>
          </a:prstGeom>
          <a:noFill/>
          <a:extLst>
            <a:ext uri="{909E8E84-426E-40DD-AFC4-6F175D3DCCD1}">
              <a14:hiddenFill xmlns:a14="http://schemas.microsoft.com/office/drawing/2010/main">
                <a:solidFill>
                  <a:srgbClr val="FFFFFF"/>
                </a:solidFill>
              </a14:hiddenFill>
            </a:ext>
          </a:extLst>
        </p:spPr>
      </p:pic>
      <p:pic>
        <p:nvPicPr>
          <p:cNvPr id="8" name="תמונה 7">
            <a:extLst>
              <a:ext uri="{FF2B5EF4-FFF2-40B4-BE49-F238E27FC236}">
                <a16:creationId xmlns:a16="http://schemas.microsoft.com/office/drawing/2014/main" id="{911A98F0-D310-FFC4-9F32-E0EFBFDC9DB7}"/>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66113" y1="50293" x2="66113" y2="50293"/>
                        <a14:foregroundMark x1="79883" y1="34863" x2="79883" y2="34863"/>
                        <a14:foregroundMark x1="72559" y1="34473" x2="72559" y2="34473"/>
                        <a14:foregroundMark x1="74609" y1="38965" x2="74609" y2="38965"/>
                        <a14:foregroundMark x1="66504" y1="59961" x2="66504" y2="59961"/>
                        <a14:foregroundMark x1="66113" y1="66406" x2="66113" y2="66406"/>
                        <a14:foregroundMark x1="65332" y1="73340" x2="65332" y2="73340"/>
                        <a14:foregroundMark x1="45410" y1="67285" x2="45410" y2="67285"/>
                        <a14:foregroundMark x1="38184" y1="67285" x2="38184" y2="67285"/>
                        <a14:foregroundMark x1="25586" y1="68457" x2="25586" y2="68457"/>
                        <a14:foregroundMark x1="28906" y1="62012" x2="28906" y2="62012"/>
                        <a14:foregroundMark x1="19141" y1="71680" x2="19141" y2="71680"/>
                      </a14:backgroundRemoval>
                    </a14:imgEffect>
                  </a14:imgLayer>
                </a14:imgProps>
              </a:ext>
            </a:extLst>
          </a:blip>
          <a:srcRect l="12615" t="13933" r="15503" b="14186"/>
          <a:stretch>
            <a:fillRect/>
          </a:stretch>
        </p:blipFill>
        <p:spPr>
          <a:xfrm>
            <a:off x="11012546" y="166369"/>
            <a:ext cx="682507" cy="682507"/>
          </a:xfrm>
          <a:prstGeom prst="rect">
            <a:avLst/>
          </a:prstGeom>
        </p:spPr>
      </p:pic>
      <p:sp>
        <p:nvSpPr>
          <p:cNvPr id="12" name="תיבת טקסט 11">
            <a:extLst>
              <a:ext uri="{FF2B5EF4-FFF2-40B4-BE49-F238E27FC236}">
                <a16:creationId xmlns:a16="http://schemas.microsoft.com/office/drawing/2014/main" id="{772194D2-DBD2-08ED-D431-8C27B92CA40C}"/>
              </a:ext>
            </a:extLst>
          </p:cNvPr>
          <p:cNvSpPr txBox="1"/>
          <p:nvPr/>
        </p:nvSpPr>
        <p:spPr>
          <a:xfrm>
            <a:off x="2325766" y="83558"/>
            <a:ext cx="7183648" cy="1200329"/>
          </a:xfrm>
          <a:prstGeom prst="rect">
            <a:avLst/>
          </a:prstGeom>
          <a:noFill/>
        </p:spPr>
        <p:txBody>
          <a:bodyPr wrap="square">
            <a:spAutoFit/>
          </a:bodyPr>
          <a:lstStyle/>
          <a:p>
            <a:pPr algn="ctr" defTabSz="457200" rtl="0">
              <a:defRPr sz="3200" b="1">
                <a:solidFill>
                  <a:srgbClr val="0F172A"/>
                </a:solidFill>
              </a:defRPr>
            </a:pPr>
            <a:r>
              <a:rPr lang="en-US" sz="3600" b="1" dirty="0">
                <a:solidFill>
                  <a:srgbClr val="0F172A"/>
                </a:solidFill>
                <a:latin typeface="Calibri"/>
              </a:rPr>
              <a:t>Project Status - Finished Missions</a:t>
            </a:r>
          </a:p>
          <a:p>
            <a:pPr algn="ctr" defTabSz="457200" rtl="0">
              <a:defRPr sz="3200" b="1">
                <a:solidFill>
                  <a:srgbClr val="0F172A"/>
                </a:solidFill>
              </a:defRPr>
            </a:pPr>
            <a:r>
              <a:rPr lang="en-US" sz="3600" b="1" dirty="0">
                <a:solidFill>
                  <a:srgbClr val="0F172A"/>
                </a:solidFill>
                <a:latin typeface="Calibri"/>
              </a:rPr>
              <a:t> </a:t>
            </a:r>
          </a:p>
        </p:txBody>
      </p:sp>
      <p:sp>
        <p:nvSpPr>
          <p:cNvPr id="14" name="תיבת טקסט 13">
            <a:extLst>
              <a:ext uri="{FF2B5EF4-FFF2-40B4-BE49-F238E27FC236}">
                <a16:creationId xmlns:a16="http://schemas.microsoft.com/office/drawing/2014/main" id="{DC179693-866B-53DF-9FBA-E678C2605741}"/>
              </a:ext>
            </a:extLst>
          </p:cNvPr>
          <p:cNvSpPr txBox="1"/>
          <p:nvPr/>
        </p:nvSpPr>
        <p:spPr>
          <a:xfrm>
            <a:off x="5376877" y="1244254"/>
            <a:ext cx="4237024" cy="4549835"/>
          </a:xfrm>
          <a:prstGeom prst="rect">
            <a:avLst/>
          </a:prstGeom>
          <a:noFill/>
        </p:spPr>
        <p:txBody>
          <a:bodyPr wrap="square">
            <a:spAutoFit/>
          </a:bodyPr>
          <a:lstStyle/>
          <a:p>
            <a:pPr marL="171450" indent="-171450" algn="l" defTabSz="457200" rtl="0">
              <a:lnSpc>
                <a:spcPct val="150000"/>
              </a:lnSpc>
              <a:buFont typeface="Arial" panose="020B0604020202020204" pitchFamily="34" charset="0"/>
              <a:buChar char="•"/>
            </a:pPr>
            <a:r>
              <a:rPr lang="en-US" sz="2800" b="1" dirty="0">
                <a:solidFill>
                  <a:srgbClr val="475569"/>
                </a:solidFill>
                <a:latin typeface="Calibri"/>
              </a:rPr>
              <a:t>I</a:t>
            </a:r>
            <a:r>
              <a:rPr lang="en" sz="2800" b="1" dirty="0">
                <a:solidFill>
                  <a:srgbClr val="475569"/>
                </a:solidFill>
                <a:latin typeface="Calibri"/>
              </a:rPr>
              <a:t>nit Repo</a:t>
            </a:r>
          </a:p>
          <a:p>
            <a:pPr marL="171450" indent="-171450" algn="l" defTabSz="457200" rtl="0">
              <a:lnSpc>
                <a:spcPct val="150000"/>
              </a:lnSpc>
              <a:buFont typeface="Arial" panose="020B0604020202020204" pitchFamily="34" charset="0"/>
              <a:buChar char="•"/>
            </a:pPr>
            <a:r>
              <a:rPr lang="en" sz="2800" b="1" dirty="0">
                <a:solidFill>
                  <a:srgbClr val="475569"/>
                </a:solidFill>
                <a:latin typeface="Calibri"/>
              </a:rPr>
              <a:t>Fetch Data</a:t>
            </a:r>
          </a:p>
          <a:p>
            <a:pPr marL="171450" indent="-171450" algn="l" defTabSz="457200" rtl="0">
              <a:lnSpc>
                <a:spcPct val="150000"/>
              </a:lnSpc>
              <a:buFont typeface="Arial" panose="020B0604020202020204" pitchFamily="34" charset="0"/>
              <a:buChar char="•"/>
            </a:pPr>
            <a:r>
              <a:rPr lang="en" sz="2800" b="1" dirty="0">
                <a:solidFill>
                  <a:srgbClr val="475569"/>
                </a:solidFill>
                <a:latin typeface="Calibri"/>
              </a:rPr>
              <a:t>EDA </a:t>
            </a:r>
          </a:p>
          <a:p>
            <a:pPr marL="171450" indent="-171450" algn="l" defTabSz="457200" rtl="0">
              <a:lnSpc>
                <a:spcPct val="150000"/>
              </a:lnSpc>
              <a:buFont typeface="Arial" panose="020B0604020202020204" pitchFamily="34" charset="0"/>
              <a:buChar char="•"/>
            </a:pPr>
            <a:r>
              <a:rPr lang="en" sz="2800" b="1" dirty="0">
                <a:solidFill>
                  <a:srgbClr val="475569"/>
                </a:solidFill>
                <a:latin typeface="Calibri"/>
              </a:rPr>
              <a:t>Project Scope – 4 stocks</a:t>
            </a:r>
          </a:p>
          <a:p>
            <a:pPr marL="285750" indent="-285750" algn="l" defTabSz="457200" rtl="0">
              <a:lnSpc>
                <a:spcPct val="150000"/>
              </a:lnSpc>
              <a:buFont typeface="Arial" panose="020B0604020202020204" pitchFamily="34" charset="0"/>
              <a:buChar char="•"/>
            </a:pPr>
            <a:endParaRPr lang="en" sz="2800" b="1" dirty="0">
              <a:solidFill>
                <a:srgbClr val="475569"/>
              </a:solidFill>
            </a:endParaRPr>
          </a:p>
          <a:p>
            <a:pPr marL="285750" indent="-285750" algn="l" defTabSz="457200" rtl="0">
              <a:lnSpc>
                <a:spcPct val="150000"/>
              </a:lnSpc>
              <a:buFont typeface="Arial" panose="020B0604020202020204" pitchFamily="34" charset="0"/>
              <a:buChar char="•"/>
            </a:pPr>
            <a:r>
              <a:rPr lang="en" sz="2800" b="1" dirty="0">
                <a:solidFill>
                  <a:srgbClr val="475569"/>
                </a:solidFill>
              </a:rPr>
              <a:t>Evaluation Metrics</a:t>
            </a:r>
          </a:p>
          <a:p>
            <a:pPr marL="285750" indent="-285750" algn="l" defTabSz="457200" rtl="0">
              <a:lnSpc>
                <a:spcPct val="150000"/>
              </a:lnSpc>
              <a:buFont typeface="Arial" panose="020B0604020202020204" pitchFamily="34" charset="0"/>
              <a:buChar char="•"/>
            </a:pPr>
            <a:r>
              <a:rPr lang="en" sz="2800" b="1" dirty="0">
                <a:solidFill>
                  <a:srgbClr val="475569"/>
                </a:solidFill>
              </a:rPr>
              <a:t>Evaluation Functions</a:t>
            </a:r>
          </a:p>
        </p:txBody>
      </p:sp>
      <p:grpSp>
        <p:nvGrpSpPr>
          <p:cNvPr id="9" name="קבוצה 8">
            <a:extLst>
              <a:ext uri="{FF2B5EF4-FFF2-40B4-BE49-F238E27FC236}">
                <a16:creationId xmlns:a16="http://schemas.microsoft.com/office/drawing/2014/main" id="{59521B0D-6C5B-BAA4-2246-83B1DF0108A6}"/>
              </a:ext>
            </a:extLst>
          </p:cNvPr>
          <p:cNvGrpSpPr/>
          <p:nvPr/>
        </p:nvGrpSpPr>
        <p:grpSpPr>
          <a:xfrm>
            <a:off x="2963561" y="2071540"/>
            <a:ext cx="2075641" cy="968263"/>
            <a:chOff x="243375" y="2847002"/>
            <a:chExt cx="1274357" cy="556970"/>
          </a:xfrm>
        </p:grpSpPr>
        <p:sp>
          <p:nvSpPr>
            <p:cNvPr id="15" name="Freeform 16">
              <a:extLst>
                <a:ext uri="{FF2B5EF4-FFF2-40B4-BE49-F238E27FC236}">
                  <a16:creationId xmlns:a16="http://schemas.microsoft.com/office/drawing/2014/main" id="{05182AAC-967C-983D-A8C0-20796CC775FB}"/>
                </a:ext>
              </a:extLst>
            </p:cNvPr>
            <p:cNvSpPr/>
            <p:nvPr/>
          </p:nvSpPr>
          <p:spPr>
            <a:xfrm>
              <a:off x="246777" y="2847002"/>
              <a:ext cx="1270955" cy="556970"/>
            </a:xfrm>
            <a:custGeom>
              <a:avLst/>
              <a:gdLst/>
              <a:ahLst/>
              <a:cxnLst/>
              <a:rect l="l" t="t" r="r" b="b"/>
              <a:pathLst>
                <a:path w="627161" h="267928">
                  <a:moveTo>
                    <a:pt x="133964" y="0"/>
                  </a:moveTo>
                  <a:lnTo>
                    <a:pt x="493197" y="0"/>
                  </a:lnTo>
                  <a:cubicBezTo>
                    <a:pt x="567183" y="0"/>
                    <a:pt x="627161" y="59978"/>
                    <a:pt x="627161" y="133964"/>
                  </a:cubicBezTo>
                  <a:lnTo>
                    <a:pt x="627161" y="133964"/>
                  </a:lnTo>
                  <a:cubicBezTo>
                    <a:pt x="627161" y="207950"/>
                    <a:pt x="567183" y="267928"/>
                    <a:pt x="493197" y="267928"/>
                  </a:cubicBezTo>
                  <a:lnTo>
                    <a:pt x="133964" y="267928"/>
                  </a:lnTo>
                  <a:cubicBezTo>
                    <a:pt x="59978" y="267928"/>
                    <a:pt x="0" y="207950"/>
                    <a:pt x="0" y="133964"/>
                  </a:cubicBezTo>
                  <a:lnTo>
                    <a:pt x="0" y="133964"/>
                  </a:lnTo>
                  <a:cubicBezTo>
                    <a:pt x="0" y="59978"/>
                    <a:pt x="59978" y="0"/>
                    <a:pt x="133964" y="0"/>
                  </a:cubicBezTo>
                  <a:close/>
                </a:path>
              </a:pathLst>
            </a:custGeom>
            <a:solidFill>
              <a:schemeClr val="tx2">
                <a:lumMod val="60000"/>
                <a:lumOff val="40000"/>
              </a:schemeClr>
            </a:solidFill>
          </p:spPr>
          <p:txBody>
            <a:bodyPr/>
            <a:lstStyle/>
            <a:p>
              <a:pPr algn="l" defTabSz="457200" rtl="0"/>
              <a:endParaRPr lang="en-IL" sz="1400">
                <a:solidFill>
                  <a:prstClr val="black"/>
                </a:solidFill>
                <a:latin typeface="Calibri"/>
              </a:endParaRPr>
            </a:p>
          </p:txBody>
        </p:sp>
        <p:sp>
          <p:nvSpPr>
            <p:cNvPr id="16" name="TextBox 29">
              <a:extLst>
                <a:ext uri="{FF2B5EF4-FFF2-40B4-BE49-F238E27FC236}">
                  <a16:creationId xmlns:a16="http://schemas.microsoft.com/office/drawing/2014/main" id="{048EF3FB-5B07-E6FB-36DF-F5123335F062}"/>
                </a:ext>
              </a:extLst>
            </p:cNvPr>
            <p:cNvSpPr txBox="1"/>
            <p:nvPr/>
          </p:nvSpPr>
          <p:spPr>
            <a:xfrm>
              <a:off x="243375" y="3081913"/>
              <a:ext cx="1239276" cy="99807"/>
            </a:xfrm>
            <a:prstGeom prst="rect">
              <a:avLst/>
            </a:prstGeom>
          </p:spPr>
          <p:txBody>
            <a:bodyPr wrap="square" lIns="0" tIns="0" rIns="0" bIns="0" rtlCol="0" anchor="t">
              <a:spAutoFit/>
            </a:bodyPr>
            <a:lstStyle/>
            <a:p>
              <a:pPr algn="ctr" defTabSz="457200" rtl="0">
                <a:lnSpc>
                  <a:spcPts val="1080"/>
                </a:lnSpc>
              </a:pPr>
              <a:r>
                <a:rPr lang="en-US" sz="2000" b="1" dirty="0">
                  <a:solidFill>
                    <a:srgbClr val="FFFFFF"/>
                  </a:solidFill>
                  <a:latin typeface="Calibri"/>
                  <a:ea typeface="Open Sans Bold"/>
                  <a:cs typeface="Open Sans Bold"/>
                  <a:sym typeface="Open Sans Bold"/>
                </a:rPr>
                <a:t>Data Preparation</a:t>
              </a:r>
            </a:p>
          </p:txBody>
        </p:sp>
      </p:grpSp>
      <p:grpSp>
        <p:nvGrpSpPr>
          <p:cNvPr id="10" name="קבוצה 9">
            <a:extLst>
              <a:ext uri="{FF2B5EF4-FFF2-40B4-BE49-F238E27FC236}">
                <a16:creationId xmlns:a16="http://schemas.microsoft.com/office/drawing/2014/main" id="{2397E212-195A-F884-D4AE-DCC81BE5DB23}"/>
              </a:ext>
            </a:extLst>
          </p:cNvPr>
          <p:cNvGrpSpPr/>
          <p:nvPr/>
        </p:nvGrpSpPr>
        <p:grpSpPr>
          <a:xfrm>
            <a:off x="2963560" y="4676635"/>
            <a:ext cx="2070099" cy="968262"/>
            <a:chOff x="421973" y="5022071"/>
            <a:chExt cx="1270955" cy="556970"/>
          </a:xfrm>
        </p:grpSpPr>
        <p:sp>
          <p:nvSpPr>
            <p:cNvPr id="18" name="Freeform 16">
              <a:extLst>
                <a:ext uri="{FF2B5EF4-FFF2-40B4-BE49-F238E27FC236}">
                  <a16:creationId xmlns:a16="http://schemas.microsoft.com/office/drawing/2014/main" id="{105AD0A5-D5B9-F536-3633-B85CA742A5A0}"/>
                </a:ext>
              </a:extLst>
            </p:cNvPr>
            <p:cNvSpPr/>
            <p:nvPr/>
          </p:nvSpPr>
          <p:spPr>
            <a:xfrm>
              <a:off x="421973" y="5022071"/>
              <a:ext cx="1270955" cy="556970"/>
            </a:xfrm>
            <a:custGeom>
              <a:avLst/>
              <a:gdLst/>
              <a:ahLst/>
              <a:cxnLst/>
              <a:rect l="l" t="t" r="r" b="b"/>
              <a:pathLst>
                <a:path w="627161" h="267928">
                  <a:moveTo>
                    <a:pt x="133964" y="0"/>
                  </a:moveTo>
                  <a:lnTo>
                    <a:pt x="493197" y="0"/>
                  </a:lnTo>
                  <a:cubicBezTo>
                    <a:pt x="567183" y="0"/>
                    <a:pt x="627161" y="59978"/>
                    <a:pt x="627161" y="133964"/>
                  </a:cubicBezTo>
                  <a:lnTo>
                    <a:pt x="627161" y="133964"/>
                  </a:lnTo>
                  <a:cubicBezTo>
                    <a:pt x="627161" y="207950"/>
                    <a:pt x="567183" y="267928"/>
                    <a:pt x="493197" y="267928"/>
                  </a:cubicBezTo>
                  <a:lnTo>
                    <a:pt x="133964" y="267928"/>
                  </a:lnTo>
                  <a:cubicBezTo>
                    <a:pt x="59978" y="267928"/>
                    <a:pt x="0" y="207950"/>
                    <a:pt x="0" y="133964"/>
                  </a:cubicBezTo>
                  <a:lnTo>
                    <a:pt x="0" y="133964"/>
                  </a:lnTo>
                  <a:cubicBezTo>
                    <a:pt x="0" y="59978"/>
                    <a:pt x="59978" y="0"/>
                    <a:pt x="133964" y="0"/>
                  </a:cubicBezTo>
                  <a:close/>
                </a:path>
              </a:pathLst>
            </a:custGeom>
            <a:solidFill>
              <a:schemeClr val="tx2">
                <a:lumMod val="60000"/>
                <a:lumOff val="40000"/>
              </a:schemeClr>
            </a:solidFill>
          </p:spPr>
          <p:txBody>
            <a:bodyPr/>
            <a:lstStyle/>
            <a:p>
              <a:pPr algn="l" defTabSz="457200" rtl="0"/>
              <a:endParaRPr lang="en-IL" sz="1400">
                <a:solidFill>
                  <a:prstClr val="black"/>
                </a:solidFill>
                <a:latin typeface="Calibri"/>
              </a:endParaRPr>
            </a:p>
          </p:txBody>
        </p:sp>
        <p:sp>
          <p:nvSpPr>
            <p:cNvPr id="19" name="TextBox 29">
              <a:extLst>
                <a:ext uri="{FF2B5EF4-FFF2-40B4-BE49-F238E27FC236}">
                  <a16:creationId xmlns:a16="http://schemas.microsoft.com/office/drawing/2014/main" id="{A92CB692-8465-016D-92E7-D8ED0830AEBE}"/>
                </a:ext>
              </a:extLst>
            </p:cNvPr>
            <p:cNvSpPr txBox="1"/>
            <p:nvPr/>
          </p:nvSpPr>
          <p:spPr>
            <a:xfrm>
              <a:off x="439434" y="5264551"/>
              <a:ext cx="1239276" cy="110872"/>
            </a:xfrm>
            <a:prstGeom prst="rect">
              <a:avLst/>
            </a:prstGeom>
          </p:spPr>
          <p:txBody>
            <a:bodyPr wrap="square" lIns="0" tIns="0" rIns="0" bIns="0" rtlCol="0" anchor="t">
              <a:spAutoFit/>
            </a:bodyPr>
            <a:lstStyle/>
            <a:p>
              <a:pPr algn="ctr" defTabSz="457200" rtl="0">
                <a:lnSpc>
                  <a:spcPts val="1260"/>
                </a:lnSpc>
              </a:pPr>
              <a:r>
                <a:rPr lang="en-US" sz="2000" b="1" dirty="0">
                  <a:solidFill>
                    <a:srgbClr val="F5F5F5"/>
                  </a:solidFill>
                  <a:ea typeface="Open Sans Bold"/>
                  <a:cs typeface="Open Sans Bold"/>
                  <a:sym typeface="Open Sans Bold"/>
                </a:rPr>
                <a:t>Evaluation</a:t>
              </a:r>
            </a:p>
          </p:txBody>
        </p:sp>
      </p:grpSp>
    </p:spTree>
    <p:extLst>
      <p:ext uri="{BB962C8B-B14F-4D97-AF65-F5344CB8AC3E}">
        <p14:creationId xmlns:p14="http://schemas.microsoft.com/office/powerpoint/2010/main" val="2133509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239A621E-7B91-99ED-267E-E6495B608649}"/>
              </a:ext>
            </a:extLst>
          </p:cNvPr>
          <p:cNvSpPr>
            <a:spLocks noGrp="1"/>
          </p:cNvSpPr>
          <p:nvPr>
            <p:ph type="dt" sz="half" idx="10"/>
          </p:nvPr>
        </p:nvSpPr>
        <p:spPr/>
        <p:txBody>
          <a:bodyPr/>
          <a:lstStyle/>
          <a:p>
            <a:fld id="{81A792BA-DE5A-904A-B48C-83C9489152F3}" type="datetime13">
              <a:rPr lang="he-IL" smtClean="0"/>
              <a:t>14.12.2025</a:t>
            </a:fld>
            <a:endParaRPr lang="en-US"/>
          </a:p>
        </p:txBody>
      </p:sp>
      <p:sp>
        <p:nvSpPr>
          <p:cNvPr id="3" name="מציין מיקום של כותרת תחתונה 2">
            <a:extLst>
              <a:ext uri="{FF2B5EF4-FFF2-40B4-BE49-F238E27FC236}">
                <a16:creationId xmlns:a16="http://schemas.microsoft.com/office/drawing/2014/main" id="{FAC67815-849E-B87B-330D-EC80B9F6641C}"/>
              </a:ext>
            </a:extLst>
          </p:cNvPr>
          <p:cNvSpPr>
            <a:spLocks noGrp="1"/>
          </p:cNvSpPr>
          <p:nvPr>
            <p:ph type="ftr" sz="quarter" idx="11"/>
          </p:nvPr>
        </p:nvSpPr>
        <p:spPr/>
        <p:txBody>
          <a:bodyPr/>
          <a:lstStyle/>
          <a:p>
            <a:r>
              <a:rPr lang="en-US"/>
              <a:t>Data Science Workshop - Project Options</a:t>
            </a:r>
          </a:p>
        </p:txBody>
      </p:sp>
      <p:sp>
        <p:nvSpPr>
          <p:cNvPr id="4" name="מציין מיקום של מספר שקופית 3">
            <a:extLst>
              <a:ext uri="{FF2B5EF4-FFF2-40B4-BE49-F238E27FC236}">
                <a16:creationId xmlns:a16="http://schemas.microsoft.com/office/drawing/2014/main" id="{B5351683-CD9F-15FC-9E1A-7515DC9E63C4}"/>
              </a:ext>
            </a:extLst>
          </p:cNvPr>
          <p:cNvSpPr>
            <a:spLocks noGrp="1"/>
          </p:cNvSpPr>
          <p:nvPr>
            <p:ph type="sldNum" sz="quarter" idx="12"/>
          </p:nvPr>
        </p:nvSpPr>
        <p:spPr/>
        <p:txBody>
          <a:bodyPr/>
          <a:lstStyle/>
          <a:p>
            <a:fld id="{C1FF6DA9-008F-8B48-92A6-B652298478BF}" type="slidenum">
              <a:rPr lang="en-US" smtClean="0"/>
              <a:t>4</a:t>
            </a:fld>
            <a:endParaRPr lang="en-US"/>
          </a:p>
        </p:txBody>
      </p:sp>
      <p:sp>
        <p:nvSpPr>
          <p:cNvPr id="5" name="Rectangle 1">
            <a:extLst>
              <a:ext uri="{FF2B5EF4-FFF2-40B4-BE49-F238E27FC236}">
                <a16:creationId xmlns:a16="http://schemas.microsoft.com/office/drawing/2014/main" id="{C396AB59-62CD-2AA7-0554-42D3F76E0284}"/>
              </a:ext>
            </a:extLst>
          </p:cNvPr>
          <p:cNvSpPr/>
          <p:nvPr/>
        </p:nvSpPr>
        <p:spPr>
          <a:xfrm>
            <a:off x="1934861" y="34668"/>
            <a:ext cx="8640255" cy="73152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rtl="0"/>
            <a:endParaRPr dirty="0">
              <a:solidFill>
                <a:prstClr val="white"/>
              </a:solidFill>
              <a:latin typeface="Calibri"/>
            </a:endParaRPr>
          </a:p>
        </p:txBody>
      </p:sp>
      <p:pic>
        <p:nvPicPr>
          <p:cNvPr id="6" name="תמונה 5">
            <a:extLst>
              <a:ext uri="{FF2B5EF4-FFF2-40B4-BE49-F238E27FC236}">
                <a16:creationId xmlns:a16="http://schemas.microsoft.com/office/drawing/2014/main" id="{B1C58A7E-CC72-011E-1692-F920D709CAC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69434" y1="45898" x2="69434" y2="45898"/>
                        <a14:foregroundMark x1="67285" y1="57617" x2="67285" y2="57617"/>
                        <a14:foregroundMark x1="56543" y1="68945" x2="56543" y2="68945"/>
                        <a14:foregroundMark x1="36523" y1="69238" x2="36523" y2="69238"/>
                        <a14:backgroundMark x1="63184" y1="44824" x2="63184" y2="44824"/>
                        <a14:backgroundMark x1="80469" y1="35938" x2="80469" y2="35938"/>
                      </a14:backgroundRemoval>
                    </a14:imgEffect>
                  </a14:imgLayer>
                </a14:imgProps>
              </a:ext>
            </a:extLst>
          </a:blip>
          <a:stretch>
            <a:fillRect/>
          </a:stretch>
        </p:blipFill>
        <p:spPr>
          <a:xfrm>
            <a:off x="9692076" y="-152966"/>
            <a:ext cx="1037449" cy="1037449"/>
          </a:xfrm>
          <a:prstGeom prst="rect">
            <a:avLst/>
          </a:prstGeom>
        </p:spPr>
      </p:pic>
      <p:pic>
        <p:nvPicPr>
          <p:cNvPr id="7" name="Picture 8" descr="Blavatnik School of Computer Science and AI, Tel Aviv University: Alumni  and Graduates | LinkedIn">
            <a:extLst>
              <a:ext uri="{FF2B5EF4-FFF2-40B4-BE49-F238E27FC236}">
                <a16:creationId xmlns:a16="http://schemas.microsoft.com/office/drawing/2014/main" id="{8A6969BC-6418-89CE-8306-1966C4C11D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47" y="166369"/>
            <a:ext cx="833564" cy="833564"/>
          </a:xfrm>
          <a:prstGeom prst="rect">
            <a:avLst/>
          </a:prstGeom>
          <a:noFill/>
          <a:extLst>
            <a:ext uri="{909E8E84-426E-40DD-AFC4-6F175D3DCCD1}">
              <a14:hiddenFill xmlns:a14="http://schemas.microsoft.com/office/drawing/2010/main">
                <a:solidFill>
                  <a:srgbClr val="FFFFFF"/>
                </a:solidFill>
              </a14:hiddenFill>
            </a:ext>
          </a:extLst>
        </p:spPr>
      </p:pic>
      <p:pic>
        <p:nvPicPr>
          <p:cNvPr id="8" name="תמונה 7">
            <a:extLst>
              <a:ext uri="{FF2B5EF4-FFF2-40B4-BE49-F238E27FC236}">
                <a16:creationId xmlns:a16="http://schemas.microsoft.com/office/drawing/2014/main" id="{69C24408-D6D0-1C70-A070-6FEB6E53FAB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66113" y1="50293" x2="66113" y2="50293"/>
                        <a14:foregroundMark x1="79883" y1="34863" x2="79883" y2="34863"/>
                        <a14:foregroundMark x1="72559" y1="34473" x2="72559" y2="34473"/>
                        <a14:foregroundMark x1="74609" y1="38965" x2="74609" y2="38965"/>
                        <a14:foregroundMark x1="66504" y1="59961" x2="66504" y2="59961"/>
                        <a14:foregroundMark x1="66113" y1="66406" x2="66113" y2="66406"/>
                        <a14:foregroundMark x1="65332" y1="73340" x2="65332" y2="73340"/>
                        <a14:foregroundMark x1="45410" y1="67285" x2="45410" y2="67285"/>
                        <a14:foregroundMark x1="38184" y1="67285" x2="38184" y2="67285"/>
                        <a14:foregroundMark x1="25586" y1="68457" x2="25586" y2="68457"/>
                        <a14:foregroundMark x1="28906" y1="62012" x2="28906" y2="62012"/>
                        <a14:foregroundMark x1="19141" y1="71680" x2="19141" y2="71680"/>
                      </a14:backgroundRemoval>
                    </a14:imgEffect>
                  </a14:imgLayer>
                </a14:imgProps>
              </a:ext>
            </a:extLst>
          </a:blip>
          <a:srcRect l="12615" t="13933" r="15503" b="14186"/>
          <a:stretch>
            <a:fillRect/>
          </a:stretch>
        </p:blipFill>
        <p:spPr>
          <a:xfrm>
            <a:off x="11012546" y="166369"/>
            <a:ext cx="682507" cy="682507"/>
          </a:xfrm>
          <a:prstGeom prst="rect">
            <a:avLst/>
          </a:prstGeom>
        </p:spPr>
      </p:pic>
      <p:sp>
        <p:nvSpPr>
          <p:cNvPr id="12" name="תיבת טקסט 11">
            <a:extLst>
              <a:ext uri="{FF2B5EF4-FFF2-40B4-BE49-F238E27FC236}">
                <a16:creationId xmlns:a16="http://schemas.microsoft.com/office/drawing/2014/main" id="{2CA3AE11-4FA9-E64F-D31A-4F7394619497}"/>
              </a:ext>
            </a:extLst>
          </p:cNvPr>
          <p:cNvSpPr txBox="1"/>
          <p:nvPr/>
        </p:nvSpPr>
        <p:spPr>
          <a:xfrm>
            <a:off x="2548787" y="83558"/>
            <a:ext cx="7183648" cy="646331"/>
          </a:xfrm>
          <a:prstGeom prst="rect">
            <a:avLst/>
          </a:prstGeom>
          <a:noFill/>
        </p:spPr>
        <p:txBody>
          <a:bodyPr wrap="square">
            <a:spAutoFit/>
          </a:bodyPr>
          <a:lstStyle/>
          <a:p>
            <a:pPr algn="ctr" defTabSz="457200" rtl="0">
              <a:defRPr sz="3200" b="1">
                <a:solidFill>
                  <a:srgbClr val="0F172A"/>
                </a:solidFill>
              </a:defRPr>
            </a:pPr>
            <a:r>
              <a:rPr lang="en-US" sz="3600" b="1" dirty="0">
                <a:solidFill>
                  <a:srgbClr val="0F172A"/>
                </a:solidFill>
                <a:latin typeface="Calibri"/>
              </a:rPr>
              <a:t>Project Status – What’s Next </a:t>
            </a:r>
          </a:p>
        </p:txBody>
      </p:sp>
      <p:sp>
        <p:nvSpPr>
          <p:cNvPr id="14" name="תיבת טקסט 13">
            <a:extLst>
              <a:ext uri="{FF2B5EF4-FFF2-40B4-BE49-F238E27FC236}">
                <a16:creationId xmlns:a16="http://schemas.microsoft.com/office/drawing/2014/main" id="{99B5A9D9-914D-CF99-167B-147E460F59AA}"/>
              </a:ext>
            </a:extLst>
          </p:cNvPr>
          <p:cNvSpPr txBox="1"/>
          <p:nvPr/>
        </p:nvSpPr>
        <p:spPr>
          <a:xfrm>
            <a:off x="1934860" y="1095643"/>
            <a:ext cx="8640255" cy="5196166"/>
          </a:xfrm>
          <a:prstGeom prst="rect">
            <a:avLst/>
          </a:prstGeom>
          <a:noFill/>
        </p:spPr>
        <p:txBody>
          <a:bodyPr wrap="square">
            <a:spAutoFit/>
          </a:bodyPr>
          <a:lstStyle/>
          <a:p>
            <a:pPr marL="171450" indent="-171450" algn="l" defTabSz="457200" rtl="0">
              <a:lnSpc>
                <a:spcPct val="150000"/>
              </a:lnSpc>
              <a:buFont typeface="Arial" panose="020B0604020202020204" pitchFamily="34" charset="0"/>
              <a:buChar char="•"/>
            </a:pPr>
            <a:r>
              <a:rPr lang="en" sz="2800" b="1" dirty="0">
                <a:solidFill>
                  <a:srgbClr val="475569"/>
                </a:solidFill>
              </a:rPr>
              <a:t>Data Cleaning</a:t>
            </a:r>
          </a:p>
          <a:p>
            <a:pPr marL="171450" indent="-171450" algn="l" defTabSz="457200" rtl="0">
              <a:lnSpc>
                <a:spcPct val="150000"/>
              </a:lnSpc>
              <a:buFont typeface="Arial" panose="020B0604020202020204" pitchFamily="34" charset="0"/>
              <a:buChar char="•"/>
            </a:pPr>
            <a:r>
              <a:rPr lang="en" sz="2800" b="1" dirty="0">
                <a:solidFill>
                  <a:srgbClr val="475569"/>
                </a:solidFill>
              </a:rPr>
              <a:t>Feature Engineering (Yahoo!) – Days to report</a:t>
            </a:r>
          </a:p>
          <a:p>
            <a:pPr marL="171450" indent="-171450" algn="l" defTabSz="457200" rtl="0">
              <a:lnSpc>
                <a:spcPct val="150000"/>
              </a:lnSpc>
              <a:buFont typeface="Arial" panose="020B0604020202020204" pitchFamily="34" charset="0"/>
              <a:buChar char="•"/>
            </a:pPr>
            <a:r>
              <a:rPr lang="en" sz="2800" b="1" dirty="0">
                <a:solidFill>
                  <a:srgbClr val="475569"/>
                </a:solidFill>
              </a:rPr>
              <a:t>Sentiment Analysis (News)</a:t>
            </a:r>
          </a:p>
          <a:p>
            <a:pPr marL="171450" indent="-171450" algn="l" defTabSz="457200" rtl="0">
              <a:lnSpc>
                <a:spcPct val="150000"/>
              </a:lnSpc>
              <a:buFont typeface="Arial" panose="020B0604020202020204" pitchFamily="34" charset="0"/>
              <a:buChar char="•"/>
            </a:pPr>
            <a:r>
              <a:rPr lang="en" sz="2800" b="1" dirty="0">
                <a:solidFill>
                  <a:srgbClr val="475569"/>
                </a:solidFill>
              </a:rPr>
              <a:t>Test – Train split</a:t>
            </a:r>
          </a:p>
          <a:p>
            <a:pPr algn="l" defTabSz="457200" rtl="0">
              <a:lnSpc>
                <a:spcPct val="150000"/>
              </a:lnSpc>
            </a:pPr>
            <a:endParaRPr lang="en" sz="2800" b="1" u="sng" dirty="0">
              <a:solidFill>
                <a:srgbClr val="475569"/>
              </a:solidFill>
            </a:endParaRPr>
          </a:p>
          <a:p>
            <a:pPr marL="171450" indent="-171450" algn="l" defTabSz="457200" rtl="0">
              <a:lnSpc>
                <a:spcPct val="150000"/>
              </a:lnSpc>
              <a:buFont typeface="Arial" panose="020B0604020202020204" pitchFamily="34" charset="0"/>
              <a:buChar char="•"/>
            </a:pPr>
            <a:r>
              <a:rPr lang="en" sz="2800" b="1" dirty="0">
                <a:solidFill>
                  <a:srgbClr val="475569"/>
                </a:solidFill>
              </a:rPr>
              <a:t>Run Random Forest </a:t>
            </a:r>
          </a:p>
          <a:p>
            <a:pPr marL="171450" indent="-171450" algn="l" defTabSz="457200" rtl="0">
              <a:lnSpc>
                <a:spcPct val="150000"/>
              </a:lnSpc>
              <a:buFont typeface="Arial" panose="020B0604020202020204" pitchFamily="34" charset="0"/>
              <a:buChar char="•"/>
            </a:pPr>
            <a:r>
              <a:rPr lang="en" sz="2800" b="1" dirty="0">
                <a:solidFill>
                  <a:srgbClr val="475569"/>
                </a:solidFill>
              </a:rPr>
              <a:t>Run Regression Model</a:t>
            </a:r>
          </a:p>
          <a:p>
            <a:pPr marL="171450" indent="-171450" algn="l" defTabSz="457200" rtl="0">
              <a:lnSpc>
                <a:spcPct val="150000"/>
              </a:lnSpc>
              <a:buFont typeface="Arial" panose="020B0604020202020204" pitchFamily="34" charset="0"/>
              <a:buChar char="•"/>
            </a:pPr>
            <a:endParaRPr lang="en" sz="2800" b="1" dirty="0">
              <a:solidFill>
                <a:srgbClr val="475569"/>
              </a:solidFill>
            </a:endParaRPr>
          </a:p>
        </p:txBody>
      </p:sp>
      <p:grpSp>
        <p:nvGrpSpPr>
          <p:cNvPr id="25" name="קבוצה 24">
            <a:extLst>
              <a:ext uri="{FF2B5EF4-FFF2-40B4-BE49-F238E27FC236}">
                <a16:creationId xmlns:a16="http://schemas.microsoft.com/office/drawing/2014/main" id="{2B992641-A278-F17C-D434-68EFF9A4093E}"/>
              </a:ext>
            </a:extLst>
          </p:cNvPr>
          <p:cNvGrpSpPr/>
          <p:nvPr/>
        </p:nvGrpSpPr>
        <p:grpSpPr>
          <a:xfrm>
            <a:off x="223202" y="2164168"/>
            <a:ext cx="1270955" cy="556970"/>
            <a:chOff x="246777" y="2847002"/>
            <a:chExt cx="1270955" cy="556970"/>
          </a:xfrm>
        </p:grpSpPr>
        <p:sp>
          <p:nvSpPr>
            <p:cNvPr id="15" name="Freeform 16">
              <a:extLst>
                <a:ext uri="{FF2B5EF4-FFF2-40B4-BE49-F238E27FC236}">
                  <a16:creationId xmlns:a16="http://schemas.microsoft.com/office/drawing/2014/main" id="{5DC38861-42B6-C2F3-663B-4956802C6277}"/>
                </a:ext>
              </a:extLst>
            </p:cNvPr>
            <p:cNvSpPr/>
            <p:nvPr/>
          </p:nvSpPr>
          <p:spPr>
            <a:xfrm>
              <a:off x="246777" y="2847002"/>
              <a:ext cx="1270955" cy="556970"/>
            </a:xfrm>
            <a:custGeom>
              <a:avLst/>
              <a:gdLst/>
              <a:ahLst/>
              <a:cxnLst/>
              <a:rect l="l" t="t" r="r" b="b"/>
              <a:pathLst>
                <a:path w="627161" h="267928">
                  <a:moveTo>
                    <a:pt x="133964" y="0"/>
                  </a:moveTo>
                  <a:lnTo>
                    <a:pt x="493197" y="0"/>
                  </a:lnTo>
                  <a:cubicBezTo>
                    <a:pt x="567183" y="0"/>
                    <a:pt x="627161" y="59978"/>
                    <a:pt x="627161" y="133964"/>
                  </a:cubicBezTo>
                  <a:lnTo>
                    <a:pt x="627161" y="133964"/>
                  </a:lnTo>
                  <a:cubicBezTo>
                    <a:pt x="627161" y="207950"/>
                    <a:pt x="567183" y="267928"/>
                    <a:pt x="493197" y="267928"/>
                  </a:cubicBezTo>
                  <a:lnTo>
                    <a:pt x="133964" y="267928"/>
                  </a:lnTo>
                  <a:cubicBezTo>
                    <a:pt x="59978" y="267928"/>
                    <a:pt x="0" y="207950"/>
                    <a:pt x="0" y="133964"/>
                  </a:cubicBezTo>
                  <a:lnTo>
                    <a:pt x="0" y="133964"/>
                  </a:lnTo>
                  <a:cubicBezTo>
                    <a:pt x="0" y="59978"/>
                    <a:pt x="59978" y="0"/>
                    <a:pt x="133964" y="0"/>
                  </a:cubicBezTo>
                  <a:close/>
                </a:path>
              </a:pathLst>
            </a:custGeom>
            <a:solidFill>
              <a:schemeClr val="tx2">
                <a:lumMod val="60000"/>
                <a:lumOff val="40000"/>
              </a:schemeClr>
            </a:solidFill>
          </p:spPr>
          <p:txBody>
            <a:bodyPr/>
            <a:lstStyle/>
            <a:p>
              <a:pPr algn="l" defTabSz="457200" rtl="0"/>
              <a:endParaRPr lang="en-IL" sz="1400">
                <a:solidFill>
                  <a:prstClr val="black"/>
                </a:solidFill>
                <a:latin typeface="Calibri"/>
              </a:endParaRPr>
            </a:p>
          </p:txBody>
        </p:sp>
        <p:sp>
          <p:nvSpPr>
            <p:cNvPr id="16" name="TextBox 29">
              <a:extLst>
                <a:ext uri="{FF2B5EF4-FFF2-40B4-BE49-F238E27FC236}">
                  <a16:creationId xmlns:a16="http://schemas.microsoft.com/office/drawing/2014/main" id="{FD05A5CB-CEC3-3301-5294-EC4F285183F0}"/>
                </a:ext>
              </a:extLst>
            </p:cNvPr>
            <p:cNvSpPr txBox="1"/>
            <p:nvPr/>
          </p:nvSpPr>
          <p:spPr>
            <a:xfrm>
              <a:off x="272475" y="2979548"/>
              <a:ext cx="1239276" cy="300980"/>
            </a:xfrm>
            <a:prstGeom prst="rect">
              <a:avLst/>
            </a:prstGeom>
          </p:spPr>
          <p:txBody>
            <a:bodyPr wrap="square" lIns="0" tIns="0" rIns="0" bIns="0" rtlCol="0" anchor="t">
              <a:spAutoFit/>
            </a:bodyPr>
            <a:lstStyle/>
            <a:p>
              <a:pPr algn="ctr" defTabSz="457200" rtl="0">
                <a:lnSpc>
                  <a:spcPts val="1080"/>
                </a:lnSpc>
              </a:pPr>
              <a:r>
                <a:rPr lang="en-US" sz="1600" b="1" dirty="0">
                  <a:solidFill>
                    <a:srgbClr val="FFFFFF"/>
                  </a:solidFill>
                  <a:latin typeface="Calibri"/>
                  <a:ea typeface="Open Sans Bold"/>
                  <a:cs typeface="Open Sans Bold"/>
                  <a:sym typeface="Open Sans Bold"/>
                </a:rPr>
                <a:t>Data Preparation</a:t>
              </a:r>
            </a:p>
          </p:txBody>
        </p:sp>
      </p:grpSp>
      <p:sp>
        <p:nvSpPr>
          <p:cNvPr id="18" name="Freeform 16">
            <a:extLst>
              <a:ext uri="{FF2B5EF4-FFF2-40B4-BE49-F238E27FC236}">
                <a16:creationId xmlns:a16="http://schemas.microsoft.com/office/drawing/2014/main" id="{F8682513-F79B-7ED5-7D7E-3F52C9F3FEDB}"/>
              </a:ext>
            </a:extLst>
          </p:cNvPr>
          <p:cNvSpPr/>
          <p:nvPr/>
        </p:nvSpPr>
        <p:spPr>
          <a:xfrm>
            <a:off x="240796" y="4770319"/>
            <a:ext cx="1270955" cy="556970"/>
          </a:xfrm>
          <a:custGeom>
            <a:avLst/>
            <a:gdLst/>
            <a:ahLst/>
            <a:cxnLst/>
            <a:rect l="l" t="t" r="r" b="b"/>
            <a:pathLst>
              <a:path w="627161" h="267928">
                <a:moveTo>
                  <a:pt x="133964" y="0"/>
                </a:moveTo>
                <a:lnTo>
                  <a:pt x="493197" y="0"/>
                </a:lnTo>
                <a:cubicBezTo>
                  <a:pt x="567183" y="0"/>
                  <a:pt x="627161" y="59978"/>
                  <a:pt x="627161" y="133964"/>
                </a:cubicBezTo>
                <a:lnTo>
                  <a:pt x="627161" y="133964"/>
                </a:lnTo>
                <a:cubicBezTo>
                  <a:pt x="627161" y="207950"/>
                  <a:pt x="567183" y="267928"/>
                  <a:pt x="493197" y="267928"/>
                </a:cubicBezTo>
                <a:lnTo>
                  <a:pt x="133964" y="267928"/>
                </a:lnTo>
                <a:cubicBezTo>
                  <a:pt x="59978" y="267928"/>
                  <a:pt x="0" y="207950"/>
                  <a:pt x="0" y="133964"/>
                </a:cubicBezTo>
                <a:lnTo>
                  <a:pt x="0" y="133964"/>
                </a:lnTo>
                <a:cubicBezTo>
                  <a:pt x="0" y="59978"/>
                  <a:pt x="59978" y="0"/>
                  <a:pt x="133964" y="0"/>
                </a:cubicBezTo>
                <a:close/>
              </a:path>
            </a:pathLst>
          </a:custGeom>
          <a:solidFill>
            <a:schemeClr val="tx2">
              <a:lumMod val="60000"/>
              <a:lumOff val="40000"/>
            </a:schemeClr>
          </a:solidFill>
        </p:spPr>
        <p:txBody>
          <a:bodyPr/>
          <a:lstStyle/>
          <a:p>
            <a:pPr algn="l" defTabSz="457200" rtl="0"/>
            <a:endParaRPr lang="en-IL" sz="1400">
              <a:solidFill>
                <a:prstClr val="black"/>
              </a:solidFill>
              <a:latin typeface="Calibri"/>
            </a:endParaRPr>
          </a:p>
        </p:txBody>
      </p:sp>
      <p:sp>
        <p:nvSpPr>
          <p:cNvPr id="19" name="TextBox 29">
            <a:extLst>
              <a:ext uri="{FF2B5EF4-FFF2-40B4-BE49-F238E27FC236}">
                <a16:creationId xmlns:a16="http://schemas.microsoft.com/office/drawing/2014/main" id="{10F38B0F-51D2-0279-54B9-3F113A58E79A}"/>
              </a:ext>
            </a:extLst>
          </p:cNvPr>
          <p:cNvSpPr txBox="1"/>
          <p:nvPr/>
        </p:nvSpPr>
        <p:spPr>
          <a:xfrm>
            <a:off x="266494" y="4918167"/>
            <a:ext cx="1239276" cy="300980"/>
          </a:xfrm>
          <a:prstGeom prst="rect">
            <a:avLst/>
          </a:prstGeom>
        </p:spPr>
        <p:txBody>
          <a:bodyPr wrap="square" lIns="0" tIns="0" rIns="0" bIns="0" rtlCol="0" anchor="t">
            <a:spAutoFit/>
          </a:bodyPr>
          <a:lstStyle/>
          <a:p>
            <a:pPr algn="ctr" defTabSz="457200" rtl="0">
              <a:lnSpc>
                <a:spcPts val="1080"/>
              </a:lnSpc>
            </a:pPr>
            <a:r>
              <a:rPr lang="en-US" sz="1600" b="1" dirty="0">
                <a:solidFill>
                  <a:srgbClr val="FFFFFF"/>
                </a:solidFill>
                <a:ea typeface="Open Sans Bold"/>
                <a:cs typeface="Open Sans Bold"/>
                <a:sym typeface="Open Sans Bold"/>
              </a:rPr>
              <a:t>Model Selection</a:t>
            </a:r>
          </a:p>
        </p:txBody>
      </p:sp>
      <p:sp>
        <p:nvSpPr>
          <p:cNvPr id="20" name="סוגר מסולסל שמאלי 19">
            <a:extLst>
              <a:ext uri="{FF2B5EF4-FFF2-40B4-BE49-F238E27FC236}">
                <a16:creationId xmlns:a16="http://schemas.microsoft.com/office/drawing/2014/main" id="{9061CEB6-E5FC-18DA-4747-74EC011090EC}"/>
              </a:ext>
            </a:extLst>
          </p:cNvPr>
          <p:cNvSpPr/>
          <p:nvPr/>
        </p:nvSpPr>
        <p:spPr>
          <a:xfrm>
            <a:off x="1616885" y="4422971"/>
            <a:ext cx="352540" cy="1275930"/>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L" dirty="0"/>
          </a:p>
        </p:txBody>
      </p:sp>
      <p:grpSp>
        <p:nvGrpSpPr>
          <p:cNvPr id="24" name="קבוצה 23">
            <a:extLst>
              <a:ext uri="{FF2B5EF4-FFF2-40B4-BE49-F238E27FC236}">
                <a16:creationId xmlns:a16="http://schemas.microsoft.com/office/drawing/2014/main" id="{9504FCE8-2663-3293-92E4-76FCCB6D6410}"/>
              </a:ext>
            </a:extLst>
          </p:cNvPr>
          <p:cNvGrpSpPr/>
          <p:nvPr/>
        </p:nvGrpSpPr>
        <p:grpSpPr>
          <a:xfrm>
            <a:off x="6988456" y="4259325"/>
            <a:ext cx="4840616" cy="1775426"/>
            <a:chOff x="6925399" y="2818416"/>
            <a:chExt cx="4840616" cy="1775426"/>
          </a:xfrm>
        </p:grpSpPr>
        <p:sp>
          <p:nvSpPr>
            <p:cNvPr id="22" name="Freeform 16">
              <a:extLst>
                <a:ext uri="{FF2B5EF4-FFF2-40B4-BE49-F238E27FC236}">
                  <a16:creationId xmlns:a16="http://schemas.microsoft.com/office/drawing/2014/main" id="{5DECC1A4-BC29-1A2D-F958-135178640D94}"/>
                </a:ext>
              </a:extLst>
            </p:cNvPr>
            <p:cNvSpPr/>
            <p:nvPr/>
          </p:nvSpPr>
          <p:spPr>
            <a:xfrm>
              <a:off x="6925399" y="2818416"/>
              <a:ext cx="4840616" cy="1775426"/>
            </a:xfrm>
            <a:custGeom>
              <a:avLst/>
              <a:gdLst/>
              <a:ahLst/>
              <a:cxnLst/>
              <a:rect l="l" t="t" r="r" b="b"/>
              <a:pathLst>
                <a:path w="627161" h="267928">
                  <a:moveTo>
                    <a:pt x="133964" y="0"/>
                  </a:moveTo>
                  <a:lnTo>
                    <a:pt x="493197" y="0"/>
                  </a:lnTo>
                  <a:cubicBezTo>
                    <a:pt x="567183" y="0"/>
                    <a:pt x="627161" y="59978"/>
                    <a:pt x="627161" y="133964"/>
                  </a:cubicBezTo>
                  <a:lnTo>
                    <a:pt x="627161" y="133964"/>
                  </a:lnTo>
                  <a:cubicBezTo>
                    <a:pt x="627161" y="207950"/>
                    <a:pt x="567183" y="267928"/>
                    <a:pt x="493197" y="267928"/>
                  </a:cubicBezTo>
                  <a:lnTo>
                    <a:pt x="133964" y="267928"/>
                  </a:lnTo>
                  <a:cubicBezTo>
                    <a:pt x="59978" y="267928"/>
                    <a:pt x="0" y="207950"/>
                    <a:pt x="0" y="133964"/>
                  </a:cubicBezTo>
                  <a:lnTo>
                    <a:pt x="0" y="133964"/>
                  </a:lnTo>
                  <a:cubicBezTo>
                    <a:pt x="0" y="59978"/>
                    <a:pt x="59978" y="0"/>
                    <a:pt x="133964" y="0"/>
                  </a:cubicBezTo>
                  <a:close/>
                </a:path>
              </a:pathLst>
            </a:custGeom>
            <a:solidFill>
              <a:schemeClr val="tx2">
                <a:lumMod val="60000"/>
                <a:lumOff val="40000"/>
              </a:schemeClr>
            </a:solidFill>
          </p:spPr>
          <p:txBody>
            <a:bodyPr/>
            <a:lstStyle/>
            <a:p>
              <a:pPr algn="l" defTabSz="457200" rtl="0"/>
              <a:endParaRPr lang="en-IL" sz="1400" dirty="0">
                <a:solidFill>
                  <a:prstClr val="black"/>
                </a:solidFill>
                <a:latin typeface="Calibri"/>
              </a:endParaRPr>
            </a:p>
          </p:txBody>
        </p:sp>
        <p:sp>
          <p:nvSpPr>
            <p:cNvPr id="23" name="TextBox 29">
              <a:extLst>
                <a:ext uri="{FF2B5EF4-FFF2-40B4-BE49-F238E27FC236}">
                  <a16:creationId xmlns:a16="http://schemas.microsoft.com/office/drawing/2014/main" id="{EC5AE8A3-4C96-1E0C-28A2-A07D52C94C27}"/>
                </a:ext>
              </a:extLst>
            </p:cNvPr>
            <p:cNvSpPr txBox="1"/>
            <p:nvPr/>
          </p:nvSpPr>
          <p:spPr>
            <a:xfrm>
              <a:off x="7035569" y="3268226"/>
              <a:ext cx="4552669" cy="875624"/>
            </a:xfrm>
            <a:prstGeom prst="rect">
              <a:avLst/>
            </a:prstGeom>
          </p:spPr>
          <p:txBody>
            <a:bodyPr wrap="square" lIns="0" tIns="0" rIns="0" bIns="0" rtlCol="0" anchor="t">
              <a:spAutoFit/>
            </a:bodyPr>
            <a:lstStyle/>
            <a:p>
              <a:pPr algn="ctr" defTabSz="457200" rtl="0">
                <a:lnSpc>
                  <a:spcPct val="150000"/>
                </a:lnSpc>
              </a:pPr>
              <a:r>
                <a:rPr lang="en-US" sz="2000" b="1" dirty="0">
                  <a:solidFill>
                    <a:srgbClr val="FFFFFF"/>
                  </a:solidFill>
                  <a:latin typeface="Calibri"/>
                  <a:ea typeface="Open Sans Bold"/>
                  <a:cs typeface="Open Sans Bold"/>
                  <a:sym typeface="Open Sans Bold"/>
                </a:rPr>
                <a:t>80% has been done, new deadline – 21.12 </a:t>
              </a:r>
            </a:p>
            <a:p>
              <a:pPr algn="ctr" defTabSz="457200" rtl="0">
                <a:lnSpc>
                  <a:spcPct val="150000"/>
                </a:lnSpc>
              </a:pPr>
              <a:r>
                <a:rPr lang="en-US" sz="2000" b="1" dirty="0">
                  <a:solidFill>
                    <a:srgbClr val="FFFFFF"/>
                  </a:solidFill>
                  <a:latin typeface="Calibri"/>
                  <a:ea typeface="Open Sans Bold"/>
                  <a:cs typeface="Open Sans Bold"/>
                  <a:sym typeface="Open Sans Bold"/>
                </a:rPr>
                <a:t>2 weeks of delay</a:t>
              </a:r>
            </a:p>
          </p:txBody>
        </p:sp>
      </p:grpSp>
      <p:sp>
        <p:nvSpPr>
          <p:cNvPr id="26" name="סוגר מסולסל שמאלי 25">
            <a:extLst>
              <a:ext uri="{FF2B5EF4-FFF2-40B4-BE49-F238E27FC236}">
                <a16:creationId xmlns:a16="http://schemas.microsoft.com/office/drawing/2014/main" id="{7405FF20-DFDA-FB38-D3C8-77560C647636}"/>
              </a:ext>
            </a:extLst>
          </p:cNvPr>
          <p:cNvSpPr/>
          <p:nvPr/>
        </p:nvSpPr>
        <p:spPr>
          <a:xfrm>
            <a:off x="1573449" y="1322038"/>
            <a:ext cx="395976" cy="2241230"/>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L" dirty="0"/>
          </a:p>
        </p:txBody>
      </p:sp>
    </p:spTree>
    <p:extLst>
      <p:ext uri="{BB962C8B-B14F-4D97-AF65-F5344CB8AC3E}">
        <p14:creationId xmlns:p14="http://schemas.microsoft.com/office/powerpoint/2010/main" val="3318106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172F7-373A-9CF1-B254-7FDE3268D2EA}"/>
            </a:ext>
          </a:extLst>
        </p:cNvPr>
        <p:cNvGrpSpPr/>
        <p:nvPr/>
      </p:nvGrpSpPr>
      <p:grpSpPr>
        <a:xfrm>
          <a:off x="0" y="0"/>
          <a:ext cx="0" cy="0"/>
          <a:chOff x="0" y="0"/>
          <a:chExt cx="0" cy="0"/>
        </a:xfrm>
      </p:grpSpPr>
      <p:pic>
        <p:nvPicPr>
          <p:cNvPr id="3080" name="Picture 8" descr="Blavatnik School of Computer Science and AI, Tel Aviv University: Alumni  and Graduates | LinkedIn">
            <a:extLst>
              <a:ext uri="{FF2B5EF4-FFF2-40B4-BE49-F238E27FC236}">
                <a16:creationId xmlns:a16="http://schemas.microsoft.com/office/drawing/2014/main" id="{E743FD28-8F8B-0130-4338-9153ABA910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47" y="166369"/>
            <a:ext cx="833564" cy="833564"/>
          </a:xfrm>
          <a:prstGeom prst="rect">
            <a:avLst/>
          </a:prstGeom>
          <a:noFill/>
          <a:extLst>
            <a:ext uri="{909E8E84-426E-40DD-AFC4-6F175D3DCCD1}">
              <a14:hiddenFill xmlns:a14="http://schemas.microsoft.com/office/drawing/2010/main">
                <a:solidFill>
                  <a:srgbClr val="FFFFFF"/>
                </a:solidFill>
              </a14:hiddenFill>
            </a:ext>
          </a:extLst>
        </p:spPr>
      </p:pic>
      <p:sp>
        <p:nvSpPr>
          <p:cNvPr id="7" name="תיבת טקסט 6">
            <a:extLst>
              <a:ext uri="{FF2B5EF4-FFF2-40B4-BE49-F238E27FC236}">
                <a16:creationId xmlns:a16="http://schemas.microsoft.com/office/drawing/2014/main" id="{90D8B125-8A9F-402F-CAA0-7D02C01CB28C}"/>
              </a:ext>
            </a:extLst>
          </p:cNvPr>
          <p:cNvSpPr txBox="1"/>
          <p:nvPr/>
        </p:nvSpPr>
        <p:spPr>
          <a:xfrm>
            <a:off x="2359073" y="309770"/>
            <a:ext cx="6970295" cy="707886"/>
          </a:xfrm>
          <a:prstGeom prst="rect">
            <a:avLst/>
          </a:prstGeom>
          <a:noFill/>
        </p:spPr>
        <p:txBody>
          <a:bodyPr wrap="square">
            <a:spAutoFit/>
          </a:bodyPr>
          <a:lstStyle/>
          <a:p>
            <a:pPr algn="ctr">
              <a:defRPr sz="5400" b="1">
                <a:solidFill>
                  <a:srgbClr val="0F172A"/>
                </a:solidFill>
              </a:defRPr>
            </a:pPr>
            <a:r>
              <a:rPr lang="en-US" sz="4000" dirty="0"/>
              <a:t>Yahoo! – EDA General</a:t>
            </a:r>
          </a:p>
        </p:txBody>
      </p:sp>
      <p:pic>
        <p:nvPicPr>
          <p:cNvPr id="3" name="תמונה 2">
            <a:extLst>
              <a:ext uri="{FF2B5EF4-FFF2-40B4-BE49-F238E27FC236}">
                <a16:creationId xmlns:a16="http://schemas.microsoft.com/office/drawing/2014/main" id="{BE72BB0B-D705-429B-F9E0-DBBD1D8A606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66113" y1="50293" x2="66113" y2="50293"/>
                        <a14:foregroundMark x1="79883" y1="34863" x2="79883" y2="34863"/>
                        <a14:foregroundMark x1="72559" y1="34473" x2="72559" y2="34473"/>
                        <a14:foregroundMark x1="74609" y1="38965" x2="74609" y2="38965"/>
                        <a14:foregroundMark x1="66504" y1="59961" x2="66504" y2="59961"/>
                        <a14:foregroundMark x1="66113" y1="66406" x2="66113" y2="66406"/>
                        <a14:foregroundMark x1="65332" y1="73340" x2="65332" y2="73340"/>
                        <a14:foregroundMark x1="45410" y1="67285" x2="45410" y2="67285"/>
                        <a14:foregroundMark x1="38184" y1="67285" x2="38184" y2="67285"/>
                        <a14:foregroundMark x1="25586" y1="68457" x2="25586" y2="68457"/>
                        <a14:foregroundMark x1="28906" y1="62012" x2="28906" y2="62012"/>
                        <a14:foregroundMark x1="19141" y1="71680" x2="19141" y2="71680"/>
                      </a14:backgroundRemoval>
                    </a14:imgEffect>
                  </a14:imgLayer>
                </a14:imgProps>
              </a:ext>
            </a:extLst>
          </a:blip>
          <a:srcRect l="12615" t="13933" r="15503" b="14186"/>
          <a:stretch>
            <a:fillRect/>
          </a:stretch>
        </p:blipFill>
        <p:spPr>
          <a:xfrm>
            <a:off x="11012546" y="166369"/>
            <a:ext cx="682507" cy="682507"/>
          </a:xfrm>
          <a:prstGeom prst="rect">
            <a:avLst/>
          </a:prstGeom>
        </p:spPr>
      </p:pic>
      <p:pic>
        <p:nvPicPr>
          <p:cNvPr id="23" name="תמונה 22" descr="תמונה שמכילה טקסט, קו, עלילה, תרשים&#10;&#10;תוכן בינה מלאכותית גנרטיבית עשוי להיות שגוי.">
            <a:extLst>
              <a:ext uri="{FF2B5EF4-FFF2-40B4-BE49-F238E27FC236}">
                <a16:creationId xmlns:a16="http://schemas.microsoft.com/office/drawing/2014/main" id="{22D623E4-2F3B-DBF1-20E9-1F1484370610}"/>
              </a:ext>
            </a:extLst>
          </p:cNvPr>
          <p:cNvPicPr>
            <a:picLocks noChangeAspect="1"/>
          </p:cNvPicPr>
          <p:nvPr/>
        </p:nvPicPr>
        <p:blipFill>
          <a:blip r:embed="rId6"/>
          <a:stretch>
            <a:fillRect/>
          </a:stretch>
        </p:blipFill>
        <p:spPr>
          <a:xfrm>
            <a:off x="0" y="1396846"/>
            <a:ext cx="12192000" cy="5151384"/>
          </a:xfrm>
          <a:prstGeom prst="rect">
            <a:avLst/>
          </a:prstGeom>
        </p:spPr>
      </p:pic>
      <p:pic>
        <p:nvPicPr>
          <p:cNvPr id="25" name="תמונה 24" descr="תמונה שמכילה צילום מסך, עלילה, טקסט, קו&#10;&#10;תוכן בינה מלאכותית גנרטיבית עשוי להיות שגוי.">
            <a:extLst>
              <a:ext uri="{FF2B5EF4-FFF2-40B4-BE49-F238E27FC236}">
                <a16:creationId xmlns:a16="http://schemas.microsoft.com/office/drawing/2014/main" id="{CB0AE44F-3BD7-57BB-FC83-BBB35129EA39}"/>
              </a:ext>
            </a:extLst>
          </p:cNvPr>
          <p:cNvPicPr>
            <a:picLocks noChangeAspect="1"/>
          </p:cNvPicPr>
          <p:nvPr/>
        </p:nvPicPr>
        <p:blipFill>
          <a:blip r:embed="rId7"/>
          <a:stretch>
            <a:fillRect/>
          </a:stretch>
        </p:blipFill>
        <p:spPr>
          <a:xfrm>
            <a:off x="0" y="1396846"/>
            <a:ext cx="12192000" cy="5151384"/>
          </a:xfrm>
          <a:prstGeom prst="rect">
            <a:avLst/>
          </a:prstGeom>
        </p:spPr>
      </p:pic>
    </p:spTree>
    <p:extLst>
      <p:ext uri="{BB962C8B-B14F-4D97-AF65-F5344CB8AC3E}">
        <p14:creationId xmlns:p14="http://schemas.microsoft.com/office/powerpoint/2010/main" val="1490935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מציין מיקום של תאריך 10">
            <a:extLst>
              <a:ext uri="{FF2B5EF4-FFF2-40B4-BE49-F238E27FC236}">
                <a16:creationId xmlns:a16="http://schemas.microsoft.com/office/drawing/2014/main" id="{88680904-FD96-7180-52D9-C24CECCC7EFE}"/>
              </a:ext>
            </a:extLst>
          </p:cNvPr>
          <p:cNvSpPr>
            <a:spLocks noGrp="1"/>
          </p:cNvSpPr>
          <p:nvPr>
            <p:ph type="dt" sz="half" idx="10"/>
          </p:nvPr>
        </p:nvSpPr>
        <p:spPr>
          <a:xfrm>
            <a:off x="8610600" y="6356350"/>
            <a:ext cx="2743200" cy="365125"/>
          </a:xfrm>
        </p:spPr>
        <p:txBody>
          <a:bodyPr/>
          <a:lstStyle/>
          <a:p>
            <a:fld id="{A3D7C9C3-36DE-774D-8341-FD5758BF5039}" type="datetime13">
              <a:rPr lang="he-IL" smtClean="0"/>
              <a:t>14.12.2025</a:t>
            </a:fld>
            <a:endParaRPr lang="en-US"/>
          </a:p>
        </p:txBody>
      </p:sp>
      <p:sp>
        <p:nvSpPr>
          <p:cNvPr id="13" name="מציין מיקום של כותרת תחתונה 12">
            <a:extLst>
              <a:ext uri="{FF2B5EF4-FFF2-40B4-BE49-F238E27FC236}">
                <a16:creationId xmlns:a16="http://schemas.microsoft.com/office/drawing/2014/main" id="{6E6B100F-7BD0-CEFC-783A-BD7CF1DC9D9B}"/>
              </a:ext>
            </a:extLst>
          </p:cNvPr>
          <p:cNvSpPr>
            <a:spLocks noGrp="1"/>
          </p:cNvSpPr>
          <p:nvPr>
            <p:ph type="ftr" sz="quarter" idx="11"/>
          </p:nvPr>
        </p:nvSpPr>
        <p:spPr>
          <a:xfrm>
            <a:off x="4038600" y="6356350"/>
            <a:ext cx="4114800" cy="365125"/>
          </a:xfrm>
        </p:spPr>
        <p:txBody>
          <a:bodyPr/>
          <a:lstStyle/>
          <a:p>
            <a:r>
              <a:rPr lang="en-US" dirty="0"/>
              <a:t>Data Science Workshop – Check Point 1</a:t>
            </a:r>
          </a:p>
        </p:txBody>
      </p:sp>
      <p:sp>
        <p:nvSpPr>
          <p:cNvPr id="14" name="מציין מיקום של מספר שקופית 13">
            <a:extLst>
              <a:ext uri="{FF2B5EF4-FFF2-40B4-BE49-F238E27FC236}">
                <a16:creationId xmlns:a16="http://schemas.microsoft.com/office/drawing/2014/main" id="{ABDB3A79-DB92-20B3-33CB-318175222769}"/>
              </a:ext>
            </a:extLst>
          </p:cNvPr>
          <p:cNvSpPr>
            <a:spLocks noGrp="1"/>
          </p:cNvSpPr>
          <p:nvPr>
            <p:ph type="sldNum" sz="quarter" idx="12"/>
          </p:nvPr>
        </p:nvSpPr>
        <p:spPr>
          <a:xfrm>
            <a:off x="838200" y="6356350"/>
            <a:ext cx="2743200" cy="365125"/>
          </a:xfrm>
        </p:spPr>
        <p:txBody>
          <a:bodyPr/>
          <a:lstStyle/>
          <a:p>
            <a:fld id="{C1FF6DA9-008F-8B48-92A6-B652298478BF}" type="slidenum">
              <a:rPr lang="en-US" smtClean="0"/>
              <a:t>6</a:t>
            </a:fld>
            <a:endParaRPr lang="en-US"/>
          </a:p>
        </p:txBody>
      </p:sp>
      <p:pic>
        <p:nvPicPr>
          <p:cNvPr id="2" name="Picture 8" descr="Blavatnik School of Computer Science and AI, Tel Aviv University: Alumni  and Graduates | LinkedIn">
            <a:extLst>
              <a:ext uri="{FF2B5EF4-FFF2-40B4-BE49-F238E27FC236}">
                <a16:creationId xmlns:a16="http://schemas.microsoft.com/office/drawing/2014/main" id="{F9F9CF2D-6370-4D78-6EBB-D1191A0DE1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947" y="166369"/>
            <a:ext cx="833564" cy="833564"/>
          </a:xfrm>
          <a:prstGeom prst="rect">
            <a:avLst/>
          </a:prstGeom>
          <a:noFill/>
          <a:extLst>
            <a:ext uri="{909E8E84-426E-40DD-AFC4-6F175D3DCCD1}">
              <a14:hiddenFill xmlns:a14="http://schemas.microsoft.com/office/drawing/2010/main">
                <a:solidFill>
                  <a:srgbClr val="FFFFFF"/>
                </a:solidFill>
              </a14:hiddenFill>
            </a:ext>
          </a:extLst>
        </p:spPr>
      </p:pic>
      <p:sp>
        <p:nvSpPr>
          <p:cNvPr id="3" name="תיבת טקסט 2">
            <a:extLst>
              <a:ext uri="{FF2B5EF4-FFF2-40B4-BE49-F238E27FC236}">
                <a16:creationId xmlns:a16="http://schemas.microsoft.com/office/drawing/2014/main" id="{C95598BD-722F-FEBA-B0F9-BDD1C2A16E1F}"/>
              </a:ext>
            </a:extLst>
          </p:cNvPr>
          <p:cNvSpPr txBox="1"/>
          <p:nvPr/>
        </p:nvSpPr>
        <p:spPr>
          <a:xfrm>
            <a:off x="2359073" y="309770"/>
            <a:ext cx="6970295" cy="707886"/>
          </a:xfrm>
          <a:prstGeom prst="rect">
            <a:avLst/>
          </a:prstGeom>
          <a:noFill/>
        </p:spPr>
        <p:txBody>
          <a:bodyPr wrap="square">
            <a:spAutoFit/>
          </a:bodyPr>
          <a:lstStyle/>
          <a:p>
            <a:pPr algn="ctr">
              <a:defRPr sz="5400" b="1">
                <a:solidFill>
                  <a:srgbClr val="0F172A"/>
                </a:solidFill>
              </a:defRPr>
            </a:pPr>
            <a:r>
              <a:rPr lang="en-US" sz="4000" dirty="0"/>
              <a:t>Return - Seasonality</a:t>
            </a:r>
          </a:p>
        </p:txBody>
      </p:sp>
      <p:pic>
        <p:nvPicPr>
          <p:cNvPr id="4" name="תמונה 3">
            <a:extLst>
              <a:ext uri="{FF2B5EF4-FFF2-40B4-BE49-F238E27FC236}">
                <a16:creationId xmlns:a16="http://schemas.microsoft.com/office/drawing/2014/main" id="{B00C6EAF-55BF-A0F1-4EE0-0A329C10A2E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66113" y1="50293" x2="66113" y2="50293"/>
                        <a14:foregroundMark x1="79883" y1="34863" x2="79883" y2="34863"/>
                        <a14:foregroundMark x1="72559" y1="34473" x2="72559" y2="34473"/>
                        <a14:foregroundMark x1="74609" y1="38965" x2="74609" y2="38965"/>
                        <a14:foregroundMark x1="66504" y1="59961" x2="66504" y2="59961"/>
                        <a14:foregroundMark x1="66113" y1="66406" x2="66113" y2="66406"/>
                        <a14:foregroundMark x1="65332" y1="73340" x2="65332" y2="73340"/>
                        <a14:foregroundMark x1="45410" y1="67285" x2="45410" y2="67285"/>
                        <a14:foregroundMark x1="38184" y1="67285" x2="38184" y2="67285"/>
                        <a14:foregroundMark x1="25586" y1="68457" x2="25586" y2="68457"/>
                        <a14:foregroundMark x1="28906" y1="62012" x2="28906" y2="62012"/>
                        <a14:foregroundMark x1="19141" y1="71680" x2="19141" y2="71680"/>
                      </a14:backgroundRemoval>
                    </a14:imgEffect>
                  </a14:imgLayer>
                </a14:imgProps>
              </a:ext>
            </a:extLst>
          </a:blip>
          <a:srcRect l="12615" t="13933" r="15503" b="14186"/>
          <a:stretch>
            <a:fillRect/>
          </a:stretch>
        </p:blipFill>
        <p:spPr>
          <a:xfrm>
            <a:off x="11012546" y="166369"/>
            <a:ext cx="682507" cy="682507"/>
          </a:xfrm>
          <a:prstGeom prst="rect">
            <a:avLst/>
          </a:prstGeom>
        </p:spPr>
      </p:pic>
      <p:pic>
        <p:nvPicPr>
          <p:cNvPr id="6" name="תמונה 5" descr="תמונה שמכילה טקסט, צילום מסך, גופן, תרשים&#10;&#10;תוכן בינה מלאכותית גנרטיבית עשוי להיות שגוי.">
            <a:extLst>
              <a:ext uri="{FF2B5EF4-FFF2-40B4-BE49-F238E27FC236}">
                <a16:creationId xmlns:a16="http://schemas.microsoft.com/office/drawing/2014/main" id="{97E21B85-38A1-8CE2-8F97-2F902B92D106}"/>
              </a:ext>
            </a:extLst>
          </p:cNvPr>
          <p:cNvPicPr>
            <a:picLocks noChangeAspect="1"/>
          </p:cNvPicPr>
          <p:nvPr/>
        </p:nvPicPr>
        <p:blipFill>
          <a:blip r:embed="rId5"/>
          <a:stretch>
            <a:fillRect/>
          </a:stretch>
        </p:blipFill>
        <p:spPr>
          <a:xfrm>
            <a:off x="1740665" y="1467371"/>
            <a:ext cx="8989764" cy="4439264"/>
          </a:xfrm>
          <a:prstGeom prst="rect">
            <a:avLst/>
          </a:prstGeom>
        </p:spPr>
      </p:pic>
      <p:pic>
        <p:nvPicPr>
          <p:cNvPr id="8" name="תמונה 7" descr="תמונה שמכילה טקסט, צילום מסך, תרשים, קו&#10;&#10;תוכן בינה מלאכותית גנרטיבית עשוי להיות שגוי.">
            <a:extLst>
              <a:ext uri="{FF2B5EF4-FFF2-40B4-BE49-F238E27FC236}">
                <a16:creationId xmlns:a16="http://schemas.microsoft.com/office/drawing/2014/main" id="{42D906EB-69BA-EB13-44E6-1997A3EBCB94}"/>
              </a:ext>
            </a:extLst>
          </p:cNvPr>
          <p:cNvPicPr>
            <a:picLocks noChangeAspect="1"/>
          </p:cNvPicPr>
          <p:nvPr/>
        </p:nvPicPr>
        <p:blipFill>
          <a:blip r:embed="rId6"/>
          <a:stretch>
            <a:fillRect/>
          </a:stretch>
        </p:blipFill>
        <p:spPr>
          <a:xfrm>
            <a:off x="826265" y="1335557"/>
            <a:ext cx="10818564" cy="4571078"/>
          </a:xfrm>
          <a:prstGeom prst="rect">
            <a:avLst/>
          </a:prstGeom>
        </p:spPr>
      </p:pic>
      <p:pic>
        <p:nvPicPr>
          <p:cNvPr id="12" name="תמונה 11" descr="תמונה שמכילה טקסט, עלילה, תרשים, צילום מסך&#10;&#10;תוכן בינה מלאכותית גנרטיבית עשוי להיות שגוי.">
            <a:extLst>
              <a:ext uri="{FF2B5EF4-FFF2-40B4-BE49-F238E27FC236}">
                <a16:creationId xmlns:a16="http://schemas.microsoft.com/office/drawing/2014/main" id="{3C95C180-89E4-ED2E-D804-DC0924899760}"/>
              </a:ext>
            </a:extLst>
          </p:cNvPr>
          <p:cNvPicPr>
            <a:picLocks noChangeAspect="1"/>
          </p:cNvPicPr>
          <p:nvPr/>
        </p:nvPicPr>
        <p:blipFill>
          <a:blip r:embed="rId7"/>
          <a:stretch>
            <a:fillRect/>
          </a:stretch>
        </p:blipFill>
        <p:spPr>
          <a:xfrm>
            <a:off x="666483" y="1333952"/>
            <a:ext cx="11138128" cy="4706101"/>
          </a:xfrm>
          <a:prstGeom prst="rect">
            <a:avLst/>
          </a:prstGeom>
        </p:spPr>
      </p:pic>
    </p:spTree>
    <p:extLst>
      <p:ext uri="{BB962C8B-B14F-4D97-AF65-F5344CB8AC3E}">
        <p14:creationId xmlns:p14="http://schemas.microsoft.com/office/powerpoint/2010/main" val="419815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descr="תמונה שמכילה טקסט, צילום מסך, גופן, תוכנה&#10;&#10;תוכן בינה מלאכותית גנרטיבית עשוי להיות שגוי.">
            <a:extLst>
              <a:ext uri="{FF2B5EF4-FFF2-40B4-BE49-F238E27FC236}">
                <a16:creationId xmlns:a16="http://schemas.microsoft.com/office/drawing/2014/main" id="{CBABC8C6-6A27-14E4-73DF-3F8EAA5D0228}"/>
              </a:ext>
            </a:extLst>
          </p:cNvPr>
          <p:cNvPicPr>
            <a:picLocks noChangeAspect="1"/>
          </p:cNvPicPr>
          <p:nvPr/>
        </p:nvPicPr>
        <p:blipFill>
          <a:blip r:embed="rId3"/>
          <a:stretch>
            <a:fillRect/>
          </a:stretch>
        </p:blipFill>
        <p:spPr>
          <a:xfrm>
            <a:off x="656837" y="1368301"/>
            <a:ext cx="4334179" cy="3418192"/>
          </a:xfrm>
          <a:prstGeom prst="rect">
            <a:avLst/>
          </a:prstGeom>
        </p:spPr>
      </p:pic>
      <p:pic>
        <p:nvPicPr>
          <p:cNvPr id="5" name="תמונה 4" descr="תמונה שמכילה טקסט, צילום מסך, גופן, מספר&#10;&#10;תוכן בינה מלאכותית גנרטיבית עשוי להיות שגוי.">
            <a:extLst>
              <a:ext uri="{FF2B5EF4-FFF2-40B4-BE49-F238E27FC236}">
                <a16:creationId xmlns:a16="http://schemas.microsoft.com/office/drawing/2014/main" id="{C36B1598-114F-1CE2-891E-C59AE2FC0588}"/>
              </a:ext>
            </a:extLst>
          </p:cNvPr>
          <p:cNvPicPr>
            <a:picLocks noChangeAspect="1"/>
          </p:cNvPicPr>
          <p:nvPr/>
        </p:nvPicPr>
        <p:blipFill>
          <a:blip r:embed="rId4"/>
          <a:stretch>
            <a:fillRect/>
          </a:stretch>
        </p:blipFill>
        <p:spPr>
          <a:xfrm>
            <a:off x="3540023" y="2736590"/>
            <a:ext cx="8526065" cy="2753109"/>
          </a:xfrm>
          <a:prstGeom prst="rect">
            <a:avLst/>
          </a:prstGeom>
        </p:spPr>
      </p:pic>
      <p:pic>
        <p:nvPicPr>
          <p:cNvPr id="9" name="תמונה 8" descr="תמונה שמכילה טקסט, צילום מסך, גופן&#10;&#10;תוכן בינה מלאכותית גנרטיבית עשוי להיות שגוי.">
            <a:extLst>
              <a:ext uri="{FF2B5EF4-FFF2-40B4-BE49-F238E27FC236}">
                <a16:creationId xmlns:a16="http://schemas.microsoft.com/office/drawing/2014/main" id="{8D2FEED6-6797-A2AC-ABFF-5AC49961192B}"/>
              </a:ext>
            </a:extLst>
          </p:cNvPr>
          <p:cNvPicPr>
            <a:picLocks noChangeAspect="1"/>
          </p:cNvPicPr>
          <p:nvPr/>
        </p:nvPicPr>
        <p:blipFill>
          <a:blip r:embed="rId5"/>
          <a:stretch>
            <a:fillRect/>
          </a:stretch>
        </p:blipFill>
        <p:spPr>
          <a:xfrm>
            <a:off x="125912" y="1340982"/>
            <a:ext cx="5048955" cy="4286848"/>
          </a:xfrm>
          <a:prstGeom prst="rect">
            <a:avLst/>
          </a:prstGeom>
        </p:spPr>
      </p:pic>
      <p:pic>
        <p:nvPicPr>
          <p:cNvPr id="11" name="תמונה 10" descr="תמונה שמכילה טקסט, צילום מסך, גופן&#10;&#10;תוכן בינה מלאכותית גנרטיבית עשוי להיות שגוי.">
            <a:extLst>
              <a:ext uri="{FF2B5EF4-FFF2-40B4-BE49-F238E27FC236}">
                <a16:creationId xmlns:a16="http://schemas.microsoft.com/office/drawing/2014/main" id="{05C05C82-09E7-924E-22B3-C1CDE59158B5}"/>
              </a:ext>
            </a:extLst>
          </p:cNvPr>
          <p:cNvPicPr>
            <a:picLocks noChangeAspect="1"/>
          </p:cNvPicPr>
          <p:nvPr/>
        </p:nvPicPr>
        <p:blipFill>
          <a:blip r:embed="rId6"/>
          <a:stretch>
            <a:fillRect/>
          </a:stretch>
        </p:blipFill>
        <p:spPr>
          <a:xfrm>
            <a:off x="3556805" y="2598457"/>
            <a:ext cx="8583223" cy="3029373"/>
          </a:xfrm>
          <a:prstGeom prst="rect">
            <a:avLst/>
          </a:prstGeom>
        </p:spPr>
      </p:pic>
      <p:pic>
        <p:nvPicPr>
          <p:cNvPr id="12" name="Picture 8" descr="Blavatnik School of Computer Science and AI, Tel Aviv University: Alumni  and Graduates | LinkedIn">
            <a:extLst>
              <a:ext uri="{FF2B5EF4-FFF2-40B4-BE49-F238E27FC236}">
                <a16:creationId xmlns:a16="http://schemas.microsoft.com/office/drawing/2014/main" id="{966307F6-C301-CC0F-BBCE-5F340C3FF12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6947" y="166369"/>
            <a:ext cx="833564" cy="833564"/>
          </a:xfrm>
          <a:prstGeom prst="rect">
            <a:avLst/>
          </a:prstGeom>
          <a:noFill/>
          <a:extLst>
            <a:ext uri="{909E8E84-426E-40DD-AFC4-6F175D3DCCD1}">
              <a14:hiddenFill xmlns:a14="http://schemas.microsoft.com/office/drawing/2010/main">
                <a:solidFill>
                  <a:srgbClr val="FFFFFF"/>
                </a:solidFill>
              </a14:hiddenFill>
            </a:ext>
          </a:extLst>
        </p:spPr>
      </p:pic>
      <p:sp>
        <p:nvSpPr>
          <p:cNvPr id="13" name="תיבת טקסט 12">
            <a:extLst>
              <a:ext uri="{FF2B5EF4-FFF2-40B4-BE49-F238E27FC236}">
                <a16:creationId xmlns:a16="http://schemas.microsoft.com/office/drawing/2014/main" id="{50DE31B0-A830-B92A-3BAC-72A73C0537A7}"/>
              </a:ext>
            </a:extLst>
          </p:cNvPr>
          <p:cNvSpPr txBox="1"/>
          <p:nvPr/>
        </p:nvSpPr>
        <p:spPr>
          <a:xfrm>
            <a:off x="2359073" y="309770"/>
            <a:ext cx="6970295" cy="707886"/>
          </a:xfrm>
          <a:prstGeom prst="rect">
            <a:avLst/>
          </a:prstGeom>
          <a:noFill/>
        </p:spPr>
        <p:txBody>
          <a:bodyPr wrap="square">
            <a:spAutoFit/>
          </a:bodyPr>
          <a:lstStyle/>
          <a:p>
            <a:pPr algn="ctr">
              <a:defRPr sz="5400" b="1">
                <a:solidFill>
                  <a:srgbClr val="0F172A"/>
                </a:solidFill>
              </a:defRPr>
            </a:pPr>
            <a:r>
              <a:rPr lang="en-US" sz="4000" dirty="0"/>
              <a:t>Seasonality – Significant Test </a:t>
            </a:r>
          </a:p>
        </p:txBody>
      </p:sp>
      <p:pic>
        <p:nvPicPr>
          <p:cNvPr id="14" name="תמונה 13">
            <a:extLst>
              <a:ext uri="{FF2B5EF4-FFF2-40B4-BE49-F238E27FC236}">
                <a16:creationId xmlns:a16="http://schemas.microsoft.com/office/drawing/2014/main" id="{675530D2-5875-9D8B-D27B-7F4039C4AB55}"/>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66113" y1="50293" x2="66113" y2="50293"/>
                        <a14:foregroundMark x1="79883" y1="34863" x2="79883" y2="34863"/>
                        <a14:foregroundMark x1="72559" y1="34473" x2="72559" y2="34473"/>
                        <a14:foregroundMark x1="74609" y1="38965" x2="74609" y2="38965"/>
                        <a14:foregroundMark x1="66504" y1="59961" x2="66504" y2="59961"/>
                        <a14:foregroundMark x1="66113" y1="66406" x2="66113" y2="66406"/>
                        <a14:foregroundMark x1="65332" y1="73340" x2="65332" y2="73340"/>
                        <a14:foregroundMark x1="45410" y1="67285" x2="45410" y2="67285"/>
                        <a14:foregroundMark x1="38184" y1="67285" x2="38184" y2="67285"/>
                        <a14:foregroundMark x1="25586" y1="68457" x2="25586" y2="68457"/>
                        <a14:foregroundMark x1="28906" y1="62012" x2="28906" y2="62012"/>
                        <a14:foregroundMark x1="19141" y1="71680" x2="19141" y2="71680"/>
                      </a14:backgroundRemoval>
                    </a14:imgEffect>
                  </a14:imgLayer>
                </a14:imgProps>
              </a:ext>
            </a:extLst>
          </a:blip>
          <a:srcRect l="12615" t="13933" r="15503" b="14186"/>
          <a:stretch>
            <a:fillRect/>
          </a:stretch>
        </p:blipFill>
        <p:spPr>
          <a:xfrm>
            <a:off x="11012546" y="166369"/>
            <a:ext cx="682507" cy="682507"/>
          </a:xfrm>
          <a:prstGeom prst="rect">
            <a:avLst/>
          </a:prstGeom>
        </p:spPr>
      </p:pic>
    </p:spTree>
    <p:extLst>
      <p:ext uri="{BB962C8B-B14F-4D97-AF65-F5344CB8AC3E}">
        <p14:creationId xmlns:p14="http://schemas.microsoft.com/office/powerpoint/2010/main" val="1408962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8" descr="Blavatnik School of Computer Science and AI, Tel Aviv University: Alumni  and Graduates | LinkedIn">
            <a:extLst>
              <a:ext uri="{FF2B5EF4-FFF2-40B4-BE49-F238E27FC236}">
                <a16:creationId xmlns:a16="http://schemas.microsoft.com/office/drawing/2014/main" id="{B0692D92-B1A2-C69C-55D5-77E86305BF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47" y="166369"/>
            <a:ext cx="833564" cy="833564"/>
          </a:xfrm>
          <a:prstGeom prst="rect">
            <a:avLst/>
          </a:prstGeom>
          <a:noFill/>
          <a:extLst>
            <a:ext uri="{909E8E84-426E-40DD-AFC4-6F175D3DCCD1}">
              <a14:hiddenFill xmlns:a14="http://schemas.microsoft.com/office/drawing/2010/main">
                <a:solidFill>
                  <a:srgbClr val="FFFFFF"/>
                </a:solidFill>
              </a14:hiddenFill>
            </a:ext>
          </a:extLst>
        </p:spPr>
      </p:pic>
      <p:sp>
        <p:nvSpPr>
          <p:cNvPr id="11" name="תיבת טקסט 10">
            <a:extLst>
              <a:ext uri="{FF2B5EF4-FFF2-40B4-BE49-F238E27FC236}">
                <a16:creationId xmlns:a16="http://schemas.microsoft.com/office/drawing/2014/main" id="{6F56DF5B-DE20-A7BF-027A-DD7A5FAF302F}"/>
              </a:ext>
            </a:extLst>
          </p:cNvPr>
          <p:cNvSpPr txBox="1"/>
          <p:nvPr/>
        </p:nvSpPr>
        <p:spPr>
          <a:xfrm>
            <a:off x="2359073" y="309770"/>
            <a:ext cx="6970295" cy="707886"/>
          </a:xfrm>
          <a:prstGeom prst="rect">
            <a:avLst/>
          </a:prstGeom>
          <a:noFill/>
        </p:spPr>
        <p:txBody>
          <a:bodyPr wrap="square">
            <a:spAutoFit/>
          </a:bodyPr>
          <a:lstStyle/>
          <a:p>
            <a:pPr algn="ctr">
              <a:defRPr sz="5400" b="1">
                <a:solidFill>
                  <a:srgbClr val="0F172A"/>
                </a:solidFill>
              </a:defRPr>
            </a:pPr>
            <a:r>
              <a:rPr lang="en-US" sz="4000" dirty="0"/>
              <a:t>EDA - Engineered Features</a:t>
            </a:r>
          </a:p>
        </p:txBody>
      </p:sp>
      <p:pic>
        <p:nvPicPr>
          <p:cNvPr id="12" name="תמונה 11">
            <a:extLst>
              <a:ext uri="{FF2B5EF4-FFF2-40B4-BE49-F238E27FC236}">
                <a16:creationId xmlns:a16="http://schemas.microsoft.com/office/drawing/2014/main" id="{B52FE404-FC5C-9BC8-8F68-4479430DF5C3}"/>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66113" y1="50293" x2="66113" y2="50293"/>
                        <a14:foregroundMark x1="79883" y1="34863" x2="79883" y2="34863"/>
                        <a14:foregroundMark x1="72559" y1="34473" x2="72559" y2="34473"/>
                        <a14:foregroundMark x1="74609" y1="38965" x2="74609" y2="38965"/>
                        <a14:foregroundMark x1="66504" y1="59961" x2="66504" y2="59961"/>
                        <a14:foregroundMark x1="66113" y1="66406" x2="66113" y2="66406"/>
                        <a14:foregroundMark x1="65332" y1="73340" x2="65332" y2="73340"/>
                        <a14:foregroundMark x1="45410" y1="67285" x2="45410" y2="67285"/>
                        <a14:foregroundMark x1="38184" y1="67285" x2="38184" y2="67285"/>
                        <a14:foregroundMark x1="25586" y1="68457" x2="25586" y2="68457"/>
                        <a14:foregroundMark x1="28906" y1="62012" x2="28906" y2="62012"/>
                        <a14:foregroundMark x1="19141" y1="71680" x2="19141" y2="71680"/>
                      </a14:backgroundRemoval>
                    </a14:imgEffect>
                  </a14:imgLayer>
                </a14:imgProps>
              </a:ext>
            </a:extLst>
          </a:blip>
          <a:srcRect l="12615" t="13933" r="15503" b="14186"/>
          <a:stretch>
            <a:fillRect/>
          </a:stretch>
        </p:blipFill>
        <p:spPr>
          <a:xfrm>
            <a:off x="11012546" y="166369"/>
            <a:ext cx="682507" cy="682507"/>
          </a:xfrm>
          <a:prstGeom prst="rect">
            <a:avLst/>
          </a:prstGeom>
        </p:spPr>
      </p:pic>
      <p:pic>
        <p:nvPicPr>
          <p:cNvPr id="14" name="תמונה 13" descr="תמונה שמכילה טקסט, צילום מסך, קו, עלילה&#10;&#10;תוכן בינה מלאכותית גנרטיבית עשוי להיות שגוי.">
            <a:extLst>
              <a:ext uri="{FF2B5EF4-FFF2-40B4-BE49-F238E27FC236}">
                <a16:creationId xmlns:a16="http://schemas.microsoft.com/office/drawing/2014/main" id="{60AC8C66-93DE-95A7-4555-3D8201A7EEF3}"/>
              </a:ext>
            </a:extLst>
          </p:cNvPr>
          <p:cNvPicPr>
            <a:picLocks noChangeAspect="1"/>
          </p:cNvPicPr>
          <p:nvPr/>
        </p:nvPicPr>
        <p:blipFill>
          <a:blip r:embed="rId6"/>
          <a:stretch>
            <a:fillRect/>
          </a:stretch>
        </p:blipFill>
        <p:spPr>
          <a:xfrm>
            <a:off x="0" y="1254924"/>
            <a:ext cx="12192000" cy="5151384"/>
          </a:xfrm>
          <a:prstGeom prst="rect">
            <a:avLst/>
          </a:prstGeom>
        </p:spPr>
      </p:pic>
      <p:pic>
        <p:nvPicPr>
          <p:cNvPr id="16" name="תמונה 15" descr="תמונה שמכילה טקסט, קו, עלילה, תרשים&#10;&#10;תוכן בינה מלאכותית גנרטיבית עשוי להיות שגוי.">
            <a:extLst>
              <a:ext uri="{FF2B5EF4-FFF2-40B4-BE49-F238E27FC236}">
                <a16:creationId xmlns:a16="http://schemas.microsoft.com/office/drawing/2014/main" id="{3039CBF4-3D7E-53F1-1FB8-5D1F4D387B4F}"/>
              </a:ext>
            </a:extLst>
          </p:cNvPr>
          <p:cNvPicPr>
            <a:picLocks noChangeAspect="1"/>
          </p:cNvPicPr>
          <p:nvPr/>
        </p:nvPicPr>
        <p:blipFill>
          <a:blip r:embed="rId7"/>
          <a:stretch>
            <a:fillRect/>
          </a:stretch>
        </p:blipFill>
        <p:spPr>
          <a:xfrm>
            <a:off x="0" y="1237201"/>
            <a:ext cx="12192000" cy="5151384"/>
          </a:xfrm>
          <a:prstGeom prst="rect">
            <a:avLst/>
          </a:prstGeom>
        </p:spPr>
      </p:pic>
    </p:spTree>
    <p:extLst>
      <p:ext uri="{BB962C8B-B14F-4D97-AF65-F5344CB8AC3E}">
        <p14:creationId xmlns:p14="http://schemas.microsoft.com/office/powerpoint/2010/main" val="1181839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59282" y="288133"/>
            <a:ext cx="9873436" cy="1219200"/>
          </a:xfrm>
          <a:prstGeom prst="rect">
            <a:avLst/>
          </a:prstGeom>
          <a:noFill/>
          <a:ln/>
        </p:spPr>
        <p:txBody>
          <a:bodyPr wrap="square" rtlCol="0" anchor="ctr"/>
          <a:lstStyle/>
          <a:p>
            <a:pPr algn="ctr"/>
            <a:r>
              <a:rPr lang="en-US" sz="4267" b="1" dirty="0">
                <a:solidFill>
                  <a:srgbClr val="003366"/>
                </a:solidFill>
                <a:ea typeface="Arial" pitchFamily="34" charset="-122"/>
                <a:cs typeface="Arial" pitchFamily="34" charset="-120"/>
              </a:rPr>
              <a:t>Methodology: Formulation, Features &amp; Evaluation</a:t>
            </a:r>
            <a:endParaRPr lang="en-US" sz="4267" dirty="0"/>
          </a:p>
        </p:txBody>
      </p:sp>
      <p:sp>
        <p:nvSpPr>
          <p:cNvPr id="3" name="Text 1"/>
          <p:cNvSpPr/>
          <p:nvPr/>
        </p:nvSpPr>
        <p:spPr>
          <a:xfrm>
            <a:off x="609600" y="1751173"/>
            <a:ext cx="10972800" cy="609600"/>
          </a:xfrm>
          <a:prstGeom prst="rect">
            <a:avLst/>
          </a:prstGeom>
          <a:noFill/>
          <a:ln/>
        </p:spPr>
        <p:txBody>
          <a:bodyPr wrap="square" rtlCol="0" anchor="ctr"/>
          <a:lstStyle/>
          <a:p>
            <a:pPr marL="457189" indent="-457189" algn="l" rtl="0">
              <a:buSzPct val="100000"/>
              <a:buChar char="•"/>
            </a:pPr>
            <a:r>
              <a:rPr lang="en-US" sz="2400" b="1" dirty="0">
                <a:solidFill>
                  <a:srgbClr val="222222"/>
                </a:solidFill>
                <a:ea typeface="Arial" pitchFamily="34" charset="-122"/>
                <a:cs typeface="Arial" pitchFamily="34" charset="-120"/>
              </a:rPr>
              <a:t>Task Definition: Log-Returns Regression</a:t>
            </a:r>
            <a:endParaRPr lang="en-US" sz="2400" dirty="0"/>
          </a:p>
        </p:txBody>
      </p:sp>
      <mc:AlternateContent xmlns:mc="http://schemas.openxmlformats.org/markup-compatibility/2006">
        <mc:Choice xmlns:a14="http://schemas.microsoft.com/office/drawing/2010/main" Requires="a14">
          <p:sp>
            <p:nvSpPr>
              <p:cNvPr id="4" name="Text 2"/>
              <p:cNvSpPr/>
              <p:nvPr/>
            </p:nvSpPr>
            <p:spPr>
              <a:xfrm>
                <a:off x="1219200" y="2055973"/>
                <a:ext cx="10363200" cy="1463040"/>
              </a:xfrm>
              <a:prstGeom prst="rect">
                <a:avLst/>
              </a:prstGeom>
              <a:noFill/>
              <a:ln/>
            </p:spPr>
            <p:txBody>
              <a:bodyPr wrap="square" rtlCol="0" anchor="ctr"/>
              <a:lstStyle/>
              <a:p>
                <a:pPr marL="338658" indent="-338658" algn="l" rtl="0">
                  <a:lnSpc>
                    <a:spcPts val="3733"/>
                  </a:lnSpc>
                  <a:buSzPct val="100000"/>
                  <a:buChar char="•"/>
                </a:pPr>
                <a:r>
                  <a:rPr lang="en-US" sz="1867" dirty="0">
                    <a:solidFill>
                      <a:srgbClr val="444444"/>
                    </a:solidFill>
                    <a:ea typeface="Arial" pitchFamily="34" charset="-122"/>
                    <a:cs typeface="Arial" pitchFamily="34" charset="-120"/>
                  </a:rPr>
                  <a:t>Shifted from binary classification to </a:t>
                </a:r>
                <a:r>
                  <a:rPr lang="en-US" sz="1867" b="1" dirty="0">
                    <a:solidFill>
                      <a:srgbClr val="444444"/>
                    </a:solidFill>
                    <a:ea typeface="Arial" pitchFamily="34" charset="-122"/>
                    <a:cs typeface="Arial" pitchFamily="34" charset="-120"/>
                  </a:rPr>
                  <a:t>Regression (Daily Log-Returns).</a:t>
                </a:r>
                <a:endParaRPr lang="he-IL" sz="1867" b="1" dirty="0">
                  <a:solidFill>
                    <a:srgbClr val="444444"/>
                  </a:solidFill>
                  <a:ea typeface="Arial" pitchFamily="34" charset="-122"/>
                  <a:cs typeface="Arial" pitchFamily="34" charset="-120"/>
                </a:endParaRPr>
              </a:p>
              <a:p>
                <a:pPr marL="338658" indent="-338658" algn="l" rtl="0">
                  <a:lnSpc>
                    <a:spcPts val="3733"/>
                  </a:lnSpc>
                  <a:buSzPct val="100000"/>
                  <a:buFontTx/>
                  <a:buChar char="•"/>
                </a:pPr>
                <a:r>
                  <a:rPr lang="en-US" sz="1867" b="1" dirty="0">
                    <a:solidFill>
                      <a:srgbClr val="444444"/>
                    </a:solidFill>
                    <a:ea typeface="Arial" pitchFamily="34" charset="-122"/>
                    <a:cs typeface="Arial" pitchFamily="34" charset="-120"/>
                  </a:rPr>
                  <a:t>Target: </a:t>
                </a:r>
                <a14:m>
                  <m:oMath xmlns:m="http://schemas.openxmlformats.org/officeDocument/2006/math">
                    <m:sSub>
                      <m:sSubPr>
                        <m:ctrlPr>
                          <a:rPr lang="en-US" sz="1867" b="1" i="1">
                            <a:solidFill>
                              <a:srgbClr val="444444"/>
                            </a:solidFill>
                            <a:latin typeface="Cambria Math" panose="02040503050406030204" pitchFamily="18" charset="0"/>
                            <a:cs typeface="Arial" pitchFamily="34" charset="-120"/>
                          </a:rPr>
                        </m:ctrlPr>
                      </m:sSubPr>
                      <m:e>
                        <m:r>
                          <a:rPr lang="en-US" sz="1867" b="1" i="1">
                            <a:solidFill>
                              <a:srgbClr val="444444"/>
                            </a:solidFill>
                            <a:latin typeface="Cambria Math" panose="02040503050406030204" pitchFamily="18" charset="0"/>
                            <a:cs typeface="Arial" pitchFamily="34" charset="-120"/>
                          </a:rPr>
                          <m:t>𝒀</m:t>
                        </m:r>
                      </m:e>
                      <m:sub>
                        <m:r>
                          <a:rPr lang="en-US" sz="1867" b="1" i="1">
                            <a:solidFill>
                              <a:srgbClr val="444444"/>
                            </a:solidFill>
                            <a:latin typeface="Cambria Math" panose="02040503050406030204" pitchFamily="18" charset="0"/>
                            <a:cs typeface="Arial" pitchFamily="34" charset="-120"/>
                          </a:rPr>
                          <m:t>𝒕</m:t>
                        </m:r>
                        <m:r>
                          <a:rPr lang="en-US" sz="1867" b="1" i="1">
                            <a:solidFill>
                              <a:srgbClr val="444444"/>
                            </a:solidFill>
                            <a:latin typeface="Cambria Math" panose="02040503050406030204" pitchFamily="18" charset="0"/>
                            <a:cs typeface="Arial" pitchFamily="34" charset="-120"/>
                          </a:rPr>
                          <m:t>+</m:t>
                        </m:r>
                        <m:r>
                          <a:rPr lang="en-US" sz="1867" b="1" i="1">
                            <a:solidFill>
                              <a:srgbClr val="444444"/>
                            </a:solidFill>
                            <a:latin typeface="Cambria Math" panose="02040503050406030204" pitchFamily="18" charset="0"/>
                            <a:cs typeface="Arial" pitchFamily="34" charset="-120"/>
                          </a:rPr>
                          <m:t>𝟏</m:t>
                        </m:r>
                      </m:sub>
                    </m:sSub>
                    <m:r>
                      <a:rPr lang="en-US" sz="1867" b="1" i="1">
                        <a:solidFill>
                          <a:srgbClr val="444444"/>
                        </a:solidFill>
                        <a:latin typeface="Cambria Math" panose="02040503050406030204" pitchFamily="18" charset="0"/>
                        <a:cs typeface="Arial" pitchFamily="34" charset="-120"/>
                      </a:rPr>
                      <m:t>=</m:t>
                    </m:r>
                    <m:r>
                      <m:rPr>
                        <m:sty m:val="p"/>
                      </m:rPr>
                      <a:rPr lang="en-US" sz="1867" b="1" i="1">
                        <a:solidFill>
                          <a:srgbClr val="444444"/>
                        </a:solidFill>
                        <a:latin typeface="Cambria Math" panose="02040503050406030204" pitchFamily="18" charset="0"/>
                        <a:cs typeface="Arial" pitchFamily="34" charset="-120"/>
                      </a:rPr>
                      <m:t>ln</m:t>
                    </m:r>
                    <m:r>
                      <a:rPr lang="en-US" sz="1867" b="1" i="1">
                        <a:solidFill>
                          <a:srgbClr val="444444"/>
                        </a:solidFill>
                        <a:latin typeface="Cambria Math" panose="02040503050406030204" pitchFamily="18" charset="0"/>
                        <a:cs typeface="Arial" pitchFamily="34" charset="-120"/>
                      </a:rPr>
                      <m:t>(</m:t>
                    </m:r>
                    <m:sSub>
                      <m:sSubPr>
                        <m:ctrlPr>
                          <a:rPr lang="en-US" sz="1867" b="1" i="1">
                            <a:solidFill>
                              <a:srgbClr val="444444"/>
                            </a:solidFill>
                            <a:latin typeface="Cambria Math" panose="02040503050406030204" pitchFamily="18" charset="0"/>
                            <a:cs typeface="Arial" pitchFamily="34" charset="-120"/>
                          </a:rPr>
                        </m:ctrlPr>
                      </m:sSubPr>
                      <m:e>
                        <m:r>
                          <m:rPr>
                            <m:sty m:val="p"/>
                          </m:rPr>
                          <a:rPr lang="en-US" sz="1867" b="1" i="1">
                            <a:solidFill>
                              <a:srgbClr val="444444"/>
                            </a:solidFill>
                            <a:latin typeface="Cambria Math" panose="02040503050406030204" pitchFamily="18" charset="0"/>
                            <a:cs typeface="Arial" pitchFamily="34" charset="-120"/>
                          </a:rPr>
                          <m:t>P</m:t>
                        </m:r>
                      </m:e>
                      <m:sub>
                        <m:r>
                          <a:rPr lang="en-US" sz="1867" b="1" i="1">
                            <a:solidFill>
                              <a:srgbClr val="444444"/>
                            </a:solidFill>
                            <a:latin typeface="Cambria Math" panose="02040503050406030204" pitchFamily="18" charset="0"/>
                            <a:cs typeface="Arial" pitchFamily="34" charset="-120"/>
                          </a:rPr>
                          <m:t>𝒕</m:t>
                        </m:r>
                        <m:r>
                          <a:rPr lang="en-US" sz="1867" b="1" i="1">
                            <a:solidFill>
                              <a:srgbClr val="444444"/>
                            </a:solidFill>
                            <a:latin typeface="Cambria Math" panose="02040503050406030204" pitchFamily="18" charset="0"/>
                            <a:cs typeface="Arial" pitchFamily="34" charset="-120"/>
                          </a:rPr>
                          <m:t>+</m:t>
                        </m:r>
                        <m:r>
                          <a:rPr lang="en-US" sz="1867" b="1" i="1">
                            <a:solidFill>
                              <a:srgbClr val="444444"/>
                            </a:solidFill>
                            <a:latin typeface="Cambria Math" panose="02040503050406030204" pitchFamily="18" charset="0"/>
                            <a:cs typeface="Arial" pitchFamily="34" charset="-120"/>
                          </a:rPr>
                          <m:t>𝟏</m:t>
                        </m:r>
                      </m:sub>
                    </m:sSub>
                    <m:r>
                      <a:rPr lang="en-US" sz="1867" b="1" i="1">
                        <a:solidFill>
                          <a:srgbClr val="444444"/>
                        </a:solidFill>
                        <a:latin typeface="Cambria Math" panose="02040503050406030204" pitchFamily="18" charset="0"/>
                        <a:cs typeface="Arial" pitchFamily="34" charset="-120"/>
                      </a:rPr>
                      <m:t>) –</m:t>
                    </m:r>
                    <m:r>
                      <m:rPr>
                        <m:sty m:val="p"/>
                      </m:rPr>
                      <a:rPr lang="en-US" sz="1867" b="1" i="1">
                        <a:solidFill>
                          <a:srgbClr val="444444"/>
                        </a:solidFill>
                        <a:latin typeface="Cambria Math" panose="02040503050406030204" pitchFamily="18" charset="0"/>
                        <a:cs typeface="Arial" pitchFamily="34" charset="-120"/>
                      </a:rPr>
                      <m:t>ln</m:t>
                    </m:r>
                    <m:r>
                      <a:rPr lang="en-US" sz="1867" b="1" i="1">
                        <a:solidFill>
                          <a:srgbClr val="444444"/>
                        </a:solidFill>
                        <a:latin typeface="Cambria Math" panose="02040503050406030204" pitchFamily="18" charset="0"/>
                        <a:cs typeface="Arial" pitchFamily="34" charset="-120"/>
                      </a:rPr>
                      <m:t>(</m:t>
                    </m:r>
                    <m:sSub>
                      <m:sSubPr>
                        <m:ctrlPr>
                          <a:rPr lang="en-US" sz="1867" b="1" i="1">
                            <a:solidFill>
                              <a:srgbClr val="444444"/>
                            </a:solidFill>
                            <a:latin typeface="Cambria Math" panose="02040503050406030204" pitchFamily="18" charset="0"/>
                            <a:cs typeface="Arial" pitchFamily="34" charset="-120"/>
                          </a:rPr>
                        </m:ctrlPr>
                      </m:sSubPr>
                      <m:e>
                        <m:r>
                          <m:rPr>
                            <m:sty m:val="p"/>
                          </m:rPr>
                          <a:rPr lang="en-US" sz="1867" b="1" i="1">
                            <a:solidFill>
                              <a:srgbClr val="444444"/>
                            </a:solidFill>
                            <a:latin typeface="Cambria Math" panose="02040503050406030204" pitchFamily="18" charset="0"/>
                            <a:cs typeface="Arial" pitchFamily="34" charset="-120"/>
                          </a:rPr>
                          <m:t>P</m:t>
                        </m:r>
                      </m:e>
                      <m:sub>
                        <m:r>
                          <a:rPr lang="en-US" sz="1867" b="1" i="1">
                            <a:solidFill>
                              <a:srgbClr val="444444"/>
                            </a:solidFill>
                            <a:latin typeface="Cambria Math" panose="02040503050406030204" pitchFamily="18" charset="0"/>
                            <a:cs typeface="Arial" pitchFamily="34" charset="-120"/>
                          </a:rPr>
                          <m:t>𝒕</m:t>
                        </m:r>
                      </m:sub>
                    </m:sSub>
                    <m:r>
                      <a:rPr lang="en-US" sz="1867" b="1" i="1">
                        <a:solidFill>
                          <a:srgbClr val="444444"/>
                        </a:solidFill>
                        <a:latin typeface="Cambria Math" panose="02040503050406030204" pitchFamily="18" charset="0"/>
                        <a:cs typeface="Arial" pitchFamily="34" charset="-120"/>
                      </a:rPr>
                      <m:t>)</m:t>
                    </m:r>
                  </m:oMath>
                </a14:m>
                <a:r>
                  <a:rPr lang="en-US" sz="1867" b="1" dirty="0">
                    <a:solidFill>
                      <a:srgbClr val="444444"/>
                    </a:solidFill>
                    <a:ea typeface="Arial" pitchFamily="34" charset="-122"/>
                    <a:cs typeface="Arial" pitchFamily="34" charset="-120"/>
                  </a:rPr>
                  <a:t> </a:t>
                </a:r>
                <a:r>
                  <a:rPr lang="en-US" sz="1867" dirty="0">
                    <a:solidFill>
                      <a:srgbClr val="444444"/>
                    </a:solidFill>
                    <a:ea typeface="Arial" pitchFamily="34" charset="-122"/>
                    <a:cs typeface="Arial" pitchFamily="34" charset="-120"/>
                  </a:rPr>
                  <a:t>(Stationarity &amp; Magnitude).</a:t>
                </a:r>
              </a:p>
            </p:txBody>
          </p:sp>
        </mc:Choice>
        <mc:Fallback>
          <p:sp>
            <p:nvSpPr>
              <p:cNvPr id="4" name="Text 2"/>
              <p:cNvSpPr>
                <a:spLocks noRot="1" noChangeAspect="1" noMove="1" noResize="1" noEditPoints="1" noAdjustHandles="1" noChangeArrowheads="1" noChangeShapeType="1" noTextEdit="1"/>
              </p:cNvSpPr>
              <p:nvPr/>
            </p:nvSpPr>
            <p:spPr>
              <a:xfrm>
                <a:off x="1219200" y="2055973"/>
                <a:ext cx="10363200" cy="1463040"/>
              </a:xfrm>
              <a:prstGeom prst="rect">
                <a:avLst/>
              </a:prstGeom>
              <a:blipFill>
                <a:blip r:embed="rId3"/>
                <a:stretch>
                  <a:fillRect l="-529"/>
                </a:stretch>
              </a:blipFill>
              <a:ln/>
            </p:spPr>
            <p:txBody>
              <a:bodyPr/>
              <a:lstStyle/>
              <a:p>
                <a:r>
                  <a:rPr lang="en-IL">
                    <a:noFill/>
                  </a:rPr>
                  <a:t> </a:t>
                </a:r>
              </a:p>
            </p:txBody>
          </p:sp>
        </mc:Fallback>
      </mc:AlternateContent>
      <p:sp>
        <p:nvSpPr>
          <p:cNvPr id="5" name="Text 3"/>
          <p:cNvSpPr/>
          <p:nvPr/>
        </p:nvSpPr>
        <p:spPr>
          <a:xfrm>
            <a:off x="609600" y="3381853"/>
            <a:ext cx="10972800" cy="609600"/>
          </a:xfrm>
          <a:prstGeom prst="rect">
            <a:avLst/>
          </a:prstGeom>
          <a:noFill/>
          <a:ln/>
        </p:spPr>
        <p:txBody>
          <a:bodyPr wrap="square" rtlCol="0" anchor="ctr"/>
          <a:lstStyle/>
          <a:p>
            <a:pPr marL="457189" indent="-457189" algn="l" rtl="0">
              <a:buSzPct val="100000"/>
              <a:buChar char="•"/>
            </a:pPr>
            <a:r>
              <a:rPr lang="en-US" sz="2400" b="1" dirty="0">
                <a:solidFill>
                  <a:srgbClr val="222222"/>
                </a:solidFill>
                <a:ea typeface="Arial" pitchFamily="34" charset="-122"/>
                <a:cs typeface="Arial" pitchFamily="34" charset="-120"/>
              </a:rPr>
              <a:t>Feature Space &amp; Input Structure</a:t>
            </a:r>
            <a:endParaRPr lang="en-US" sz="2400" dirty="0"/>
          </a:p>
        </p:txBody>
      </p:sp>
      <p:sp>
        <p:nvSpPr>
          <p:cNvPr id="6" name="Text 4"/>
          <p:cNvSpPr/>
          <p:nvPr/>
        </p:nvSpPr>
        <p:spPr>
          <a:xfrm>
            <a:off x="1219200" y="3813653"/>
            <a:ext cx="10363200" cy="1463040"/>
          </a:xfrm>
          <a:prstGeom prst="rect">
            <a:avLst/>
          </a:prstGeom>
          <a:noFill/>
          <a:ln/>
        </p:spPr>
        <p:txBody>
          <a:bodyPr wrap="square" rtlCol="0" anchor="ctr"/>
          <a:lstStyle/>
          <a:p>
            <a:pPr marL="338658" indent="-338658" algn="l" rtl="0">
              <a:lnSpc>
                <a:spcPts val="3200"/>
              </a:lnSpc>
              <a:buSzPct val="100000"/>
              <a:buChar char="•"/>
            </a:pPr>
            <a:r>
              <a:rPr lang="en-US" sz="1867" b="1" dirty="0">
                <a:solidFill>
                  <a:srgbClr val="444444"/>
                </a:solidFill>
                <a:ea typeface="Arial" pitchFamily="34" charset="-122"/>
                <a:cs typeface="Arial" pitchFamily="34" charset="-120"/>
              </a:rPr>
              <a:t>Exogenous: </a:t>
            </a:r>
            <a:r>
              <a:rPr lang="en-US" sz="1867" dirty="0" err="1">
                <a:solidFill>
                  <a:srgbClr val="444444"/>
                </a:solidFill>
                <a:ea typeface="Arial" pitchFamily="34" charset="-122"/>
                <a:cs typeface="Arial" pitchFamily="34" charset="-120"/>
              </a:rPr>
              <a:t>FinBERT</a:t>
            </a:r>
            <a:r>
              <a:rPr lang="en-US" sz="1867" dirty="0">
                <a:solidFill>
                  <a:srgbClr val="444444"/>
                </a:solidFill>
                <a:ea typeface="Arial" pitchFamily="34" charset="-122"/>
                <a:cs typeface="Arial" pitchFamily="34" charset="-120"/>
              </a:rPr>
              <a:t> Sentiment (Stratified) + VIX + Market Index.</a:t>
            </a:r>
            <a:endParaRPr lang="he-IL" sz="1867" dirty="0"/>
          </a:p>
          <a:p>
            <a:pPr marL="338658" indent="-338658" algn="l" rtl="0">
              <a:lnSpc>
                <a:spcPts val="3200"/>
              </a:lnSpc>
              <a:buSzPct val="100000"/>
              <a:buChar char="•"/>
            </a:pPr>
            <a:r>
              <a:rPr lang="en-US" sz="1867" b="1" dirty="0">
                <a:solidFill>
                  <a:srgbClr val="444444"/>
                </a:solidFill>
                <a:ea typeface="Arial" pitchFamily="34" charset="-122"/>
                <a:cs typeface="Arial" pitchFamily="34" charset="-120"/>
              </a:rPr>
              <a:t>Temporal Logic: </a:t>
            </a:r>
            <a:r>
              <a:rPr lang="en-US" sz="1867" dirty="0">
                <a:solidFill>
                  <a:srgbClr val="444444"/>
                </a:solidFill>
                <a:ea typeface="Arial" pitchFamily="34" charset="-122"/>
                <a:cs typeface="Arial" pitchFamily="34" charset="-120"/>
              </a:rPr>
              <a:t>Lagged Features (Windowing) to capture trends.</a:t>
            </a:r>
            <a:endParaRPr lang="en-US" sz="1867" dirty="0"/>
          </a:p>
          <a:p>
            <a:pPr marL="338658" indent="-338658">
              <a:lnSpc>
                <a:spcPts val="3733"/>
              </a:lnSpc>
              <a:buSzPct val="100000"/>
              <a:buChar char="•"/>
            </a:pPr>
            <a:endParaRPr lang="en-US" sz="1867" dirty="0"/>
          </a:p>
        </p:txBody>
      </p:sp>
      <p:sp>
        <p:nvSpPr>
          <p:cNvPr id="7" name="Text 5"/>
          <p:cNvSpPr/>
          <p:nvPr/>
        </p:nvSpPr>
        <p:spPr>
          <a:xfrm>
            <a:off x="609600" y="4921093"/>
            <a:ext cx="10972800" cy="609600"/>
          </a:xfrm>
          <a:prstGeom prst="rect">
            <a:avLst/>
          </a:prstGeom>
          <a:noFill/>
          <a:ln/>
        </p:spPr>
        <p:txBody>
          <a:bodyPr wrap="square" rtlCol="0" anchor="ctr"/>
          <a:lstStyle/>
          <a:p>
            <a:pPr marL="457189" indent="-457189" algn="l" rtl="0">
              <a:buSzPct val="100000"/>
              <a:buChar char="•"/>
            </a:pPr>
            <a:r>
              <a:rPr lang="en-US" sz="2400" b="1" dirty="0">
                <a:solidFill>
                  <a:srgbClr val="222222"/>
                </a:solidFill>
                <a:ea typeface="Arial" pitchFamily="34" charset="-122"/>
                <a:cs typeface="Arial" pitchFamily="34" charset="-120"/>
              </a:rPr>
              <a:t>Evaluation Strategy</a:t>
            </a:r>
            <a:endParaRPr lang="en-US" sz="2400" dirty="0"/>
          </a:p>
        </p:txBody>
      </p:sp>
      <p:sp>
        <p:nvSpPr>
          <p:cNvPr id="8" name="Text 6"/>
          <p:cNvSpPr/>
          <p:nvPr/>
        </p:nvSpPr>
        <p:spPr>
          <a:xfrm>
            <a:off x="1219200" y="5276693"/>
            <a:ext cx="10363200" cy="1219200"/>
          </a:xfrm>
          <a:prstGeom prst="rect">
            <a:avLst/>
          </a:prstGeom>
          <a:noFill/>
          <a:ln/>
        </p:spPr>
        <p:txBody>
          <a:bodyPr wrap="square" rtlCol="0" anchor="ctr"/>
          <a:lstStyle/>
          <a:p>
            <a:pPr marL="338658" indent="-338658" algn="l" rtl="0">
              <a:lnSpc>
                <a:spcPts val="3200"/>
              </a:lnSpc>
              <a:buSzPct val="100000"/>
              <a:buChar char="•"/>
            </a:pPr>
            <a:r>
              <a:rPr lang="en-US" sz="1867" b="1" dirty="0">
                <a:solidFill>
                  <a:srgbClr val="444444"/>
                </a:solidFill>
                <a:ea typeface="Arial" pitchFamily="34" charset="-122"/>
                <a:cs typeface="Arial" pitchFamily="34" charset="-120"/>
              </a:rPr>
              <a:t>Validation: </a:t>
            </a:r>
            <a:r>
              <a:rPr lang="en-US" sz="1867" dirty="0">
                <a:solidFill>
                  <a:srgbClr val="444444"/>
                </a:solidFill>
                <a:ea typeface="Arial" pitchFamily="34" charset="-122"/>
                <a:cs typeface="Arial" pitchFamily="34" charset="-120"/>
              </a:rPr>
              <a:t>Strict Temporal Split (No Look-Ahead Bias).</a:t>
            </a:r>
            <a:endParaRPr lang="he-IL" sz="1867" dirty="0"/>
          </a:p>
          <a:p>
            <a:pPr marL="338658" indent="-338658" algn="l" rtl="0">
              <a:lnSpc>
                <a:spcPts val="3200"/>
              </a:lnSpc>
              <a:buSzPct val="100000"/>
              <a:buChar char="•"/>
            </a:pPr>
            <a:r>
              <a:rPr lang="en-US" sz="1867" b="1" dirty="0">
                <a:solidFill>
                  <a:srgbClr val="444444"/>
                </a:solidFill>
                <a:ea typeface="Arial" pitchFamily="34" charset="-122"/>
                <a:cs typeface="Arial" pitchFamily="34" charset="-120"/>
              </a:rPr>
              <a:t>Metrics: </a:t>
            </a:r>
            <a:r>
              <a:rPr lang="en-US" sz="1867" dirty="0">
                <a:solidFill>
                  <a:srgbClr val="444444"/>
                </a:solidFill>
                <a:ea typeface="Arial" pitchFamily="34" charset="-122"/>
                <a:cs typeface="Arial" pitchFamily="34" charset="-120"/>
              </a:rPr>
              <a:t>MSE (Stat), Sharpe Ratio (Fin), Directional Accuracy (Util).</a:t>
            </a:r>
            <a:endParaRPr lang="en-US" sz="1867" dirty="0"/>
          </a:p>
        </p:txBody>
      </p:sp>
      <p:pic>
        <p:nvPicPr>
          <p:cNvPr id="11" name="תמונה 10">
            <a:hlinkClick r:id="" action="ppaction://hlinkshowjump?jump=nextslide"/>
            <a:extLst>
              <a:ext uri="{FF2B5EF4-FFF2-40B4-BE49-F238E27FC236}">
                <a16:creationId xmlns:a16="http://schemas.microsoft.com/office/drawing/2014/main" id="{310B9414-BC6D-0E9A-CBC7-55CD6E226160}"/>
              </a:ext>
            </a:extLst>
          </p:cNvPr>
          <p:cNvPicPr>
            <a:picLocks noChangeAspect="1"/>
          </p:cNvPicPr>
          <p:nvPr/>
        </p:nvPicPr>
        <p:blipFill>
          <a:blip r:embed="rId4"/>
          <a:stretch>
            <a:fillRect/>
          </a:stretch>
        </p:blipFill>
        <p:spPr>
          <a:xfrm>
            <a:off x="639856" y="1581307"/>
            <a:ext cx="10332944" cy="5102547"/>
          </a:xfrm>
          <a:prstGeom prst="rect">
            <a:avLst/>
          </a:prstGeom>
        </p:spPr>
      </p:pic>
      <p:pic>
        <p:nvPicPr>
          <p:cNvPr id="12" name="תמונה 11">
            <a:hlinkClick r:id="rId5" action="ppaction://hlinksldjump"/>
            <a:extLst>
              <a:ext uri="{FF2B5EF4-FFF2-40B4-BE49-F238E27FC236}">
                <a16:creationId xmlns:a16="http://schemas.microsoft.com/office/drawing/2014/main" id="{50DD7305-0707-76B8-315A-5781480808E2}"/>
              </a:ext>
            </a:extLst>
          </p:cNvPr>
          <p:cNvPicPr>
            <a:picLocks noChangeAspect="1"/>
          </p:cNvPicPr>
          <p:nvPr/>
        </p:nvPicPr>
        <p:blipFill>
          <a:blip r:embed="rId6"/>
          <a:stretch>
            <a:fillRect/>
          </a:stretch>
        </p:blipFill>
        <p:spPr>
          <a:xfrm>
            <a:off x="1884679" y="1581307"/>
            <a:ext cx="7843296" cy="5349633"/>
          </a:xfrm>
          <a:prstGeom prst="rect">
            <a:avLst/>
          </a:prstGeom>
        </p:spPr>
      </p:pic>
      <p:pic>
        <p:nvPicPr>
          <p:cNvPr id="13" name="תמונה 12">
            <a:hlinkClick r:id="rId7" action="ppaction://hlinksldjump"/>
            <a:extLst>
              <a:ext uri="{FF2B5EF4-FFF2-40B4-BE49-F238E27FC236}">
                <a16:creationId xmlns:a16="http://schemas.microsoft.com/office/drawing/2014/main" id="{BFA74756-7B0B-01B4-E5D3-C2206A986B28}"/>
              </a:ext>
            </a:extLst>
          </p:cNvPr>
          <p:cNvPicPr>
            <a:picLocks noChangeAspect="1"/>
          </p:cNvPicPr>
          <p:nvPr/>
        </p:nvPicPr>
        <p:blipFill>
          <a:blip r:embed="rId8"/>
          <a:stretch>
            <a:fillRect/>
          </a:stretch>
        </p:blipFill>
        <p:spPr>
          <a:xfrm>
            <a:off x="974341" y="1597660"/>
            <a:ext cx="9841773" cy="52745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278</TotalTime>
  <Words>1038</Words>
  <Application>Microsoft Office PowerPoint</Application>
  <PresentationFormat>מסך רחב</PresentationFormat>
  <Paragraphs>125</Paragraphs>
  <Slides>9</Slides>
  <Notes>6</Notes>
  <HiddenSlides>0</HiddenSlides>
  <MMClips>0</MMClips>
  <ScaleCrop>false</ScaleCrop>
  <HeadingPairs>
    <vt:vector size="6" baseType="variant">
      <vt:variant>
        <vt:lpstr>גופנים בשימוש</vt:lpstr>
      </vt:variant>
      <vt:variant>
        <vt:i4>6</vt:i4>
      </vt:variant>
      <vt:variant>
        <vt:lpstr>ערכת נושא</vt:lpstr>
      </vt:variant>
      <vt:variant>
        <vt:i4>2</vt:i4>
      </vt:variant>
      <vt:variant>
        <vt:lpstr>כותרות שקופיות</vt:lpstr>
      </vt:variant>
      <vt:variant>
        <vt:i4>9</vt:i4>
      </vt:variant>
    </vt:vector>
  </HeadingPairs>
  <TitlesOfParts>
    <vt:vector size="17" baseType="lpstr">
      <vt:lpstr>Aptos</vt:lpstr>
      <vt:lpstr>Aptos Display</vt:lpstr>
      <vt:lpstr>Arial</vt:lpstr>
      <vt:lpstr>Calibri</vt:lpstr>
      <vt:lpstr>Cambria Math</vt:lpstr>
      <vt:lpstr>Open Sans Bold</vt:lpstr>
      <vt:lpstr>ערכת נושא Office</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אורי מוצפי</dc:creator>
  <cp:lastModifiedBy>Itay Mutzafi</cp:lastModifiedBy>
  <cp:revision>2</cp:revision>
  <dcterms:created xsi:type="dcterms:W3CDTF">2025-12-14T11:17:02Z</dcterms:created>
  <dcterms:modified xsi:type="dcterms:W3CDTF">2025-12-14T15:55:23Z</dcterms:modified>
</cp:coreProperties>
</file>