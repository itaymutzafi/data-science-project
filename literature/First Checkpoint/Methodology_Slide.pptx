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8"/>
    <p:restoredTop sz="93447" autoAdjust="0"/>
  </p:normalViewPr>
  <p:slideViewPr>
    <p:cSldViewPr snapToGrid="0" snapToObjects="1">
      <p:cViewPr varScale="1">
        <p:scale>
          <a:sx n="84" d="100"/>
          <a:sy n="84" d="100"/>
        </p:scale>
        <p:origin x="72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8602902"/>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r>
              <a:rPr lang="en" sz="1200" b="1" kern="1200" dirty="0">
                <a:solidFill>
                  <a:schemeClr val="tx1"/>
                </a:solidFill>
                <a:effectLst/>
                <a:latin typeface="+mn-lt"/>
                <a:ea typeface="+mn-ea"/>
                <a:cs typeface="+mn-cs"/>
              </a:rPr>
              <a:t>Script for Shaked: Methodology &amp; Feature Engineering</a:t>
            </a:r>
          </a:p>
          <a:p>
            <a:pPr algn="l" rtl="0"/>
            <a:r>
              <a:rPr lang="en" sz="1200" b="1" kern="1200" dirty="0">
                <a:solidFill>
                  <a:schemeClr val="tx1"/>
                </a:solidFill>
                <a:effectLst/>
                <a:latin typeface="+mn-lt"/>
                <a:ea typeface="+mn-ea"/>
                <a:cs typeface="+mn-cs"/>
              </a:rPr>
              <a:t>(Transition: Moran finishes speaking about Data Sources)</a:t>
            </a:r>
            <a:endParaRPr lang="en" sz="1200" kern="1200" dirty="0">
              <a:solidFill>
                <a:schemeClr val="tx1"/>
              </a:solidFill>
              <a:effectLst/>
              <a:latin typeface="+mn-lt"/>
              <a:ea typeface="+mn-ea"/>
              <a:cs typeface="+mn-cs"/>
            </a:endParaRPr>
          </a:p>
          <a:p>
            <a:pPr algn="l" rtl="0"/>
            <a:r>
              <a:rPr lang="en" sz="1200" b="1" kern="1200" dirty="0">
                <a:solidFill>
                  <a:schemeClr val="tx1"/>
                </a:solidFill>
                <a:effectLst/>
                <a:latin typeface="+mn-lt"/>
                <a:ea typeface="+mn-ea"/>
                <a:cs typeface="+mn-cs"/>
              </a:rPr>
              <a:t>1. Opening &amp; Problem Formulation (approx. 1 min)</a:t>
            </a:r>
          </a:p>
          <a:p>
            <a:pPr algn="l" rtl="0"/>
            <a:r>
              <a:rPr lang="en" sz="1200" kern="1200" dirty="0">
                <a:solidFill>
                  <a:schemeClr val="tx1"/>
                </a:solidFill>
                <a:effectLst/>
                <a:latin typeface="+mn-lt"/>
                <a:ea typeface="+mn-ea"/>
                <a:cs typeface="+mn-cs"/>
              </a:rPr>
              <a:t>Action: </a:t>
            </a:r>
            <a:r>
              <a:rPr lang="he-IL" sz="1200" kern="1200" dirty="0">
                <a:solidFill>
                  <a:schemeClr val="tx1"/>
                </a:solidFill>
                <a:effectLst/>
                <a:latin typeface="+mn-lt"/>
                <a:ea typeface="+mn-ea"/>
                <a:cs typeface="+mn-cs"/>
              </a:rPr>
              <a:t>גלול במחברת לסעיף 1.2 </a:t>
            </a:r>
            <a:r>
              <a:rPr lang="en" sz="1200" kern="1200" dirty="0">
                <a:solidFill>
                  <a:schemeClr val="tx1"/>
                </a:solidFill>
                <a:effectLst/>
                <a:latin typeface="+mn-lt"/>
                <a:ea typeface="+mn-ea"/>
                <a:cs typeface="+mn-cs"/>
              </a:rPr>
              <a:t>Target Variable Definition.</a:t>
            </a:r>
          </a:p>
          <a:p>
            <a:pPr algn="l" rtl="0"/>
            <a:r>
              <a:rPr lang="en" sz="1200" kern="1200" dirty="0">
                <a:solidFill>
                  <a:schemeClr val="tx1"/>
                </a:solidFill>
                <a:effectLst/>
                <a:latin typeface="+mn-lt"/>
                <a:ea typeface="+mn-ea"/>
                <a:cs typeface="+mn-cs"/>
              </a:rPr>
              <a:t>Visual: </a:t>
            </a:r>
            <a:r>
              <a:rPr lang="he-IL" sz="1200" kern="1200" dirty="0">
                <a:solidFill>
                  <a:schemeClr val="tx1"/>
                </a:solidFill>
                <a:effectLst/>
                <a:latin typeface="+mn-lt"/>
                <a:ea typeface="+mn-ea"/>
                <a:cs typeface="+mn-cs"/>
              </a:rPr>
              <a:t>תראה את הנוסחה של </a:t>
            </a:r>
            <a:r>
              <a:rPr lang="en" sz="1200" kern="1200" dirty="0">
                <a:solidFill>
                  <a:schemeClr val="tx1"/>
                </a:solidFill>
                <a:effectLst/>
                <a:latin typeface="+mn-lt"/>
                <a:ea typeface="+mn-ea"/>
                <a:cs typeface="+mn-cs"/>
              </a:rPr>
              <a:t>Log Returns </a:t>
            </a:r>
            <a:r>
              <a:rPr lang="he-IL" sz="1200" kern="1200" dirty="0">
                <a:solidFill>
                  <a:schemeClr val="tx1"/>
                </a:solidFill>
                <a:effectLst/>
                <a:latin typeface="+mn-lt"/>
                <a:ea typeface="+mn-ea"/>
                <a:cs typeface="+mn-cs"/>
              </a:rPr>
              <a:t>או את הגרף שמראה שהמחיר לא </a:t>
            </a:r>
            <a:r>
              <a:rPr lang="he-IL" sz="1200" kern="1200" dirty="0" err="1">
                <a:solidFill>
                  <a:schemeClr val="tx1"/>
                </a:solidFill>
                <a:effectLst/>
                <a:latin typeface="+mn-lt"/>
                <a:ea typeface="+mn-ea"/>
                <a:cs typeface="+mn-cs"/>
              </a:rPr>
              <a:t>סטציונרי</a:t>
            </a:r>
            <a:r>
              <a:rPr lang="he-IL" sz="1200" kern="1200" dirty="0">
                <a:solidFill>
                  <a:schemeClr val="tx1"/>
                </a:solidFill>
                <a:effectLst/>
                <a:latin typeface="+mn-lt"/>
                <a:ea typeface="+mn-ea"/>
                <a:cs typeface="+mn-cs"/>
              </a:rPr>
              <a:t>.</a:t>
            </a:r>
          </a:p>
          <a:p>
            <a:pPr algn="l" rtl="0"/>
            <a:r>
              <a:rPr lang="en" sz="1200" kern="1200" dirty="0">
                <a:solidFill>
                  <a:schemeClr val="tx1"/>
                </a:solidFill>
                <a:effectLst/>
                <a:latin typeface="+mn-lt"/>
                <a:ea typeface="+mn-ea"/>
                <a:cs typeface="+mn-cs"/>
              </a:rPr>
              <a:t>You Say:</a:t>
            </a:r>
          </a:p>
          <a:p>
            <a:pPr algn="l" rtl="0"/>
            <a:r>
              <a:rPr lang="en" sz="1200" kern="1200" dirty="0">
                <a:solidFill>
                  <a:schemeClr val="tx1"/>
                </a:solidFill>
                <a:effectLst/>
                <a:latin typeface="+mn-lt"/>
                <a:ea typeface="+mn-ea"/>
                <a:cs typeface="+mn-cs"/>
              </a:rPr>
              <a:t>"Thank you, Moran.</a:t>
            </a:r>
          </a:p>
          <a:p>
            <a:pPr algn="l" rtl="0"/>
            <a:r>
              <a:rPr lang="en" sz="1200" kern="1200" dirty="0">
                <a:solidFill>
                  <a:schemeClr val="tx1"/>
                </a:solidFill>
                <a:effectLst/>
                <a:latin typeface="+mn-lt"/>
                <a:ea typeface="+mn-ea"/>
                <a:cs typeface="+mn-cs"/>
              </a:rPr>
              <a:t>So, moving from the raw data to our Methodology. My goal was to translate these datasets into a solvable optimization problem.</a:t>
            </a:r>
          </a:p>
          <a:p>
            <a:pPr algn="l" rtl="0"/>
            <a:r>
              <a:rPr lang="en" sz="1200" kern="1200" dirty="0">
                <a:solidFill>
                  <a:schemeClr val="tx1"/>
                </a:solidFill>
                <a:effectLst/>
                <a:latin typeface="+mn-lt"/>
                <a:ea typeface="+mn-ea"/>
                <a:cs typeface="+mn-cs"/>
              </a:rPr>
              <a:t>First, let's look at the Task Definition on the slide.</a:t>
            </a:r>
          </a:p>
          <a:p>
            <a:pPr algn="l" rtl="0"/>
            <a:r>
              <a:rPr lang="en" sz="1200" kern="1200" dirty="0">
                <a:solidFill>
                  <a:schemeClr val="tx1"/>
                </a:solidFill>
                <a:effectLst/>
                <a:latin typeface="+mn-lt"/>
                <a:ea typeface="+mn-ea"/>
                <a:cs typeface="+mn-cs"/>
              </a:rPr>
              <a:t>Initially, we considered a simple binary classification—Up or Down. However, we realized that raw stock prices are non-stationary, meaning their statistical properties change over time, which confuses ML models.</a:t>
            </a:r>
          </a:p>
          <a:p>
            <a:pPr algn="l" rtl="0"/>
            <a:r>
              <a:rPr lang="en" sz="1200" kern="1200" dirty="0">
                <a:solidFill>
                  <a:schemeClr val="tx1"/>
                </a:solidFill>
                <a:effectLst/>
                <a:latin typeface="+mn-lt"/>
                <a:ea typeface="+mn-ea"/>
                <a:cs typeface="+mn-cs"/>
              </a:rPr>
              <a:t>To fix this, we shifted to a Regression on Log-Returns.</a:t>
            </a:r>
          </a:p>
          <a:p>
            <a:pPr algn="l" rtl="0"/>
            <a:r>
              <a:rPr lang="en" sz="1200" kern="1200" dirty="0">
                <a:solidFill>
                  <a:schemeClr val="tx1"/>
                </a:solidFill>
                <a:effectLst/>
                <a:latin typeface="+mn-lt"/>
                <a:ea typeface="+mn-ea"/>
                <a:cs typeface="+mn-cs"/>
              </a:rPr>
              <a:t>As you can see in section 1.2, this transformation makes the data stationary while preserving the magnitude of the movement, not just the direction. This allows us to model the intensity of the market reaction, which is critical for a trading strategy."</a:t>
            </a:r>
          </a:p>
          <a:p>
            <a:pPr algn="l" rtl="0"/>
            <a:r>
              <a:rPr lang="en" sz="1200" b="1" kern="1200" dirty="0">
                <a:solidFill>
                  <a:schemeClr val="tx1"/>
                </a:solidFill>
                <a:effectLst/>
                <a:latin typeface="+mn-lt"/>
                <a:ea typeface="+mn-ea"/>
                <a:cs typeface="+mn-cs"/>
              </a:rPr>
              <a:t>2. Feature Engineering &amp; Challenges (approx. 1.5 - 2 mins)</a:t>
            </a:r>
          </a:p>
          <a:p>
            <a:pPr algn="l" rtl="0"/>
            <a:r>
              <a:rPr lang="en" sz="1200" kern="1200" dirty="0">
                <a:solidFill>
                  <a:schemeClr val="tx1"/>
                </a:solidFill>
                <a:effectLst/>
                <a:latin typeface="+mn-lt"/>
                <a:ea typeface="+mn-ea"/>
                <a:cs typeface="+mn-cs"/>
              </a:rPr>
              <a:t>Action: </a:t>
            </a:r>
            <a:r>
              <a:rPr lang="he-IL" sz="1200" kern="1200" dirty="0">
                <a:solidFill>
                  <a:schemeClr val="tx1"/>
                </a:solidFill>
                <a:effectLst/>
                <a:latin typeface="+mn-lt"/>
                <a:ea typeface="+mn-ea"/>
                <a:cs typeface="+mn-cs"/>
              </a:rPr>
              <a:t>גלול לסעיף 3.3 </a:t>
            </a:r>
            <a:r>
              <a:rPr lang="en" sz="1200" kern="1200" dirty="0">
                <a:solidFill>
                  <a:schemeClr val="tx1"/>
                </a:solidFill>
                <a:effectLst/>
                <a:latin typeface="+mn-lt"/>
                <a:ea typeface="+mn-ea"/>
                <a:cs typeface="+mn-cs"/>
              </a:rPr>
              <a:t>Sentiment Analysis (</a:t>
            </a:r>
            <a:r>
              <a:rPr lang="he-IL" sz="1200" kern="1200" dirty="0">
                <a:solidFill>
                  <a:schemeClr val="tx1"/>
                </a:solidFill>
                <a:effectLst/>
                <a:latin typeface="+mn-lt"/>
                <a:ea typeface="+mn-ea"/>
                <a:cs typeface="+mn-cs"/>
              </a:rPr>
              <a:t>ואח"כ דפדף מעט למטה לראות את הקוד של ה-</a:t>
            </a:r>
            <a:r>
              <a:rPr lang="en" sz="1200" kern="1200" dirty="0">
                <a:solidFill>
                  <a:schemeClr val="tx1"/>
                </a:solidFill>
                <a:effectLst/>
                <a:latin typeface="+mn-lt"/>
                <a:ea typeface="+mn-ea"/>
                <a:cs typeface="+mn-cs"/>
              </a:rPr>
              <a:t>Sampling).</a:t>
            </a:r>
          </a:p>
          <a:p>
            <a:pPr algn="l" rtl="0"/>
            <a:r>
              <a:rPr lang="en" sz="1200" kern="1200" dirty="0">
                <a:solidFill>
                  <a:schemeClr val="tx1"/>
                </a:solidFill>
                <a:effectLst/>
                <a:latin typeface="+mn-lt"/>
                <a:ea typeface="+mn-ea"/>
                <a:cs typeface="+mn-cs"/>
              </a:rPr>
              <a:t>Visual: </a:t>
            </a:r>
            <a:r>
              <a:rPr lang="he-IL" sz="1200" kern="1200" dirty="0">
                <a:solidFill>
                  <a:schemeClr val="tx1"/>
                </a:solidFill>
                <a:effectLst/>
                <a:latin typeface="+mn-lt"/>
                <a:ea typeface="+mn-ea"/>
                <a:cs typeface="+mn-cs"/>
              </a:rPr>
              <a:t>תראה את הקוד של ה-</a:t>
            </a:r>
            <a:r>
              <a:rPr lang="en" sz="1200" kern="1200" dirty="0">
                <a:solidFill>
                  <a:schemeClr val="tx1"/>
                </a:solidFill>
                <a:effectLst/>
                <a:latin typeface="+mn-lt"/>
                <a:ea typeface="+mn-ea"/>
                <a:cs typeface="+mn-cs"/>
              </a:rPr>
              <a:t>Stratified Sampling </a:t>
            </a:r>
            <a:r>
              <a:rPr lang="he-IL" sz="1200" kern="1200" dirty="0">
                <a:solidFill>
                  <a:schemeClr val="tx1"/>
                </a:solidFill>
                <a:effectLst/>
                <a:latin typeface="+mn-lt"/>
                <a:ea typeface="+mn-ea"/>
                <a:cs typeface="+mn-cs"/>
              </a:rPr>
              <a:t>או גרף סנטימנט.</a:t>
            </a:r>
          </a:p>
          <a:p>
            <a:pPr algn="l" rtl="0"/>
            <a:r>
              <a:rPr lang="en" sz="1200" kern="1200" dirty="0">
                <a:solidFill>
                  <a:schemeClr val="tx1"/>
                </a:solidFill>
                <a:effectLst/>
                <a:latin typeface="+mn-lt"/>
                <a:ea typeface="+mn-ea"/>
                <a:cs typeface="+mn-cs"/>
              </a:rPr>
              <a:t>You Say:</a:t>
            </a:r>
          </a:p>
          <a:p>
            <a:pPr algn="l" rtl="0"/>
            <a:r>
              <a:rPr lang="en" sz="1200" kern="1200" dirty="0">
                <a:solidFill>
                  <a:schemeClr val="tx1"/>
                </a:solidFill>
                <a:effectLst/>
                <a:latin typeface="+mn-lt"/>
                <a:ea typeface="+mn-ea"/>
                <a:cs typeface="+mn-cs"/>
              </a:rPr>
              <a:t>"Next, I want to discuss Feature Engineering, specifically the challenge we faced with the News Data.</a:t>
            </a:r>
          </a:p>
          <a:p>
            <a:pPr algn="l" rtl="0"/>
            <a:r>
              <a:rPr lang="en" sz="1200" kern="1200" dirty="0">
                <a:solidFill>
                  <a:schemeClr val="tx1"/>
                </a:solidFill>
                <a:effectLst/>
                <a:latin typeface="+mn-lt"/>
                <a:ea typeface="+mn-ea"/>
                <a:cs typeface="+mn-cs"/>
              </a:rPr>
              <a:t>We use </a:t>
            </a:r>
            <a:r>
              <a:rPr lang="en" sz="1200" kern="1200" dirty="0" err="1">
                <a:solidFill>
                  <a:schemeClr val="tx1"/>
                </a:solidFill>
                <a:effectLst/>
                <a:latin typeface="+mn-lt"/>
                <a:ea typeface="+mn-ea"/>
                <a:cs typeface="+mn-cs"/>
              </a:rPr>
              <a:t>FinBERT</a:t>
            </a:r>
            <a:r>
              <a:rPr lang="en" sz="1200" kern="1200" dirty="0">
                <a:solidFill>
                  <a:schemeClr val="tx1"/>
                </a:solidFill>
                <a:effectLst/>
                <a:latin typeface="+mn-lt"/>
                <a:ea typeface="+mn-ea"/>
                <a:cs typeface="+mn-cs"/>
              </a:rPr>
              <a:t> to extract sentiment. The problem was the sheer volume—processing over 1.4 million headlines is computationally incredibly expensive. It created a major bottleneck in our pipeline.</a:t>
            </a:r>
          </a:p>
          <a:p>
            <a:pPr algn="l" rtl="0"/>
            <a:r>
              <a:rPr lang="en" sz="1200" kern="1200" dirty="0">
                <a:solidFill>
                  <a:schemeClr val="tx1"/>
                </a:solidFill>
                <a:effectLst/>
                <a:latin typeface="+mn-lt"/>
                <a:ea typeface="+mn-ea"/>
                <a:cs typeface="+mn-cs"/>
              </a:rPr>
              <a:t>My solution was a Stratified Sampling Strategy.</a:t>
            </a:r>
          </a:p>
          <a:p>
            <a:pPr algn="l" rtl="0"/>
            <a:r>
              <a:rPr lang="en" sz="1200" kern="1200" dirty="0">
                <a:solidFill>
                  <a:schemeClr val="tx1"/>
                </a:solidFill>
                <a:effectLst/>
                <a:latin typeface="+mn-lt"/>
                <a:ea typeface="+mn-ea"/>
                <a:cs typeface="+mn-cs"/>
              </a:rPr>
              <a:t>Instead of processing every single headline, we sample a representative subset per day. This reduced our runtime from hours to minutes, while still approximating the daily 'Market Sentiment' signal effectively.</a:t>
            </a:r>
          </a:p>
          <a:p>
            <a:pPr algn="l" rtl="0"/>
            <a:r>
              <a:rPr lang="en" sz="1200" kern="1200" dirty="0">
                <a:solidFill>
                  <a:schemeClr val="tx1"/>
                </a:solidFill>
                <a:effectLst/>
                <a:latin typeface="+mn-lt"/>
                <a:ea typeface="+mn-ea"/>
                <a:cs typeface="+mn-cs"/>
              </a:rPr>
              <a:t>In addition to sentiment, we enriched the feature space with Exogenous Signals:</a:t>
            </a:r>
          </a:p>
          <a:p>
            <a:pPr algn="l" rtl="0"/>
            <a:r>
              <a:rPr lang="en" sz="1200" kern="1200" dirty="0">
                <a:solidFill>
                  <a:schemeClr val="tx1"/>
                </a:solidFill>
                <a:effectLst/>
                <a:latin typeface="+mn-lt"/>
                <a:ea typeface="+mn-ea"/>
                <a:cs typeface="+mn-cs"/>
              </a:rPr>
              <a:t>We added the VIX index to inject 'market fear' levels, and the S&amp;P 500 to capture systematic market risk.</a:t>
            </a:r>
          </a:p>
          <a:p>
            <a:pPr algn="l" rtl="0"/>
            <a:r>
              <a:rPr lang="en" sz="1200" kern="1200" dirty="0">
                <a:solidFill>
                  <a:schemeClr val="tx1"/>
                </a:solidFill>
                <a:effectLst/>
                <a:latin typeface="+mn-lt"/>
                <a:ea typeface="+mn-ea"/>
                <a:cs typeface="+mn-cs"/>
              </a:rPr>
              <a:t>Crucially, we structure the input using Lagged Features—meaning the model sees a window of past days (t-1, t-2) to predict the future, capturing the temporal trends."</a:t>
            </a:r>
          </a:p>
          <a:p>
            <a:pPr algn="l" rtl="0"/>
            <a:r>
              <a:rPr lang="en" sz="1200" b="1" kern="1200" dirty="0">
                <a:solidFill>
                  <a:schemeClr val="tx1"/>
                </a:solidFill>
                <a:effectLst/>
                <a:latin typeface="+mn-lt"/>
                <a:ea typeface="+mn-ea"/>
                <a:cs typeface="+mn-cs"/>
              </a:rPr>
              <a:t>3. Evaluation &amp; Validation Strategy (approx. 1.5 mins)</a:t>
            </a:r>
          </a:p>
          <a:p>
            <a:pPr algn="l" rtl="0"/>
            <a:r>
              <a:rPr lang="en" sz="1200" kern="1200" dirty="0">
                <a:solidFill>
                  <a:schemeClr val="tx1"/>
                </a:solidFill>
                <a:effectLst/>
                <a:latin typeface="+mn-lt"/>
                <a:ea typeface="+mn-ea"/>
                <a:cs typeface="+mn-cs"/>
              </a:rPr>
              <a:t>Action: </a:t>
            </a:r>
            <a:r>
              <a:rPr lang="he-IL" sz="1200" kern="1200" dirty="0">
                <a:solidFill>
                  <a:schemeClr val="tx1"/>
                </a:solidFill>
                <a:effectLst/>
                <a:latin typeface="+mn-lt"/>
                <a:ea typeface="+mn-ea"/>
                <a:cs typeface="+mn-cs"/>
              </a:rPr>
              <a:t>גלול לסעיף 5.1 </a:t>
            </a:r>
            <a:r>
              <a:rPr lang="en" sz="1200" kern="1200" dirty="0">
                <a:solidFill>
                  <a:schemeClr val="tx1"/>
                </a:solidFill>
                <a:effectLst/>
                <a:latin typeface="+mn-lt"/>
                <a:ea typeface="+mn-ea"/>
                <a:cs typeface="+mn-cs"/>
              </a:rPr>
              <a:t>Baseline Models </a:t>
            </a:r>
            <a:r>
              <a:rPr lang="he-IL" sz="1200" kern="1200" dirty="0">
                <a:solidFill>
                  <a:schemeClr val="tx1"/>
                </a:solidFill>
                <a:effectLst/>
                <a:latin typeface="+mn-lt"/>
                <a:ea typeface="+mn-ea"/>
                <a:cs typeface="+mn-cs"/>
              </a:rPr>
              <a:t>או 5.2 </a:t>
            </a:r>
            <a:r>
              <a:rPr lang="en" sz="1200" kern="1200" dirty="0">
                <a:solidFill>
                  <a:schemeClr val="tx1"/>
                </a:solidFill>
                <a:effectLst/>
                <a:latin typeface="+mn-lt"/>
                <a:ea typeface="+mn-ea"/>
                <a:cs typeface="+mn-cs"/>
              </a:rPr>
              <a:t>Evaluation Metrics.</a:t>
            </a:r>
          </a:p>
          <a:p>
            <a:pPr algn="l" rtl="0"/>
            <a:r>
              <a:rPr lang="en" sz="1200" kern="1200" dirty="0">
                <a:solidFill>
                  <a:schemeClr val="tx1"/>
                </a:solidFill>
                <a:effectLst/>
                <a:latin typeface="+mn-lt"/>
                <a:ea typeface="+mn-ea"/>
                <a:cs typeface="+mn-cs"/>
              </a:rPr>
              <a:t>Visual: </a:t>
            </a:r>
            <a:r>
              <a:rPr lang="he-IL" sz="1200" kern="1200" dirty="0">
                <a:solidFill>
                  <a:schemeClr val="tx1"/>
                </a:solidFill>
                <a:effectLst/>
                <a:latin typeface="+mn-lt"/>
                <a:ea typeface="+mn-ea"/>
                <a:cs typeface="+mn-cs"/>
              </a:rPr>
              <a:t>תראה את הטבלה של </a:t>
            </a:r>
            <a:r>
              <a:rPr lang="he-IL" sz="1200" kern="1200" dirty="0" err="1">
                <a:solidFill>
                  <a:schemeClr val="tx1"/>
                </a:solidFill>
                <a:effectLst/>
                <a:latin typeface="+mn-lt"/>
                <a:ea typeface="+mn-ea"/>
                <a:cs typeface="+mn-cs"/>
              </a:rPr>
              <a:t>המטריקות</a:t>
            </a:r>
            <a:r>
              <a:rPr lang="he-IL" sz="1200" kern="1200" dirty="0">
                <a:solidFill>
                  <a:schemeClr val="tx1"/>
                </a:solidFill>
                <a:effectLst/>
                <a:latin typeface="+mn-lt"/>
                <a:ea typeface="+mn-ea"/>
                <a:cs typeface="+mn-cs"/>
              </a:rPr>
              <a:t> או הגדרת ה-</a:t>
            </a:r>
            <a:r>
              <a:rPr lang="en" sz="1200" kern="1200" dirty="0">
                <a:solidFill>
                  <a:schemeClr val="tx1"/>
                </a:solidFill>
                <a:effectLst/>
                <a:latin typeface="+mn-lt"/>
                <a:ea typeface="+mn-ea"/>
                <a:cs typeface="+mn-cs"/>
              </a:rPr>
              <a:t>Time Split.</a:t>
            </a:r>
          </a:p>
          <a:p>
            <a:pPr algn="l" rtl="0"/>
            <a:r>
              <a:rPr lang="en" sz="1200" kern="1200" dirty="0">
                <a:solidFill>
                  <a:schemeClr val="tx1"/>
                </a:solidFill>
                <a:effectLst/>
                <a:latin typeface="+mn-lt"/>
                <a:ea typeface="+mn-ea"/>
                <a:cs typeface="+mn-cs"/>
              </a:rPr>
              <a:t>You Say:</a:t>
            </a:r>
          </a:p>
          <a:p>
            <a:pPr algn="l" rtl="0"/>
            <a:r>
              <a:rPr lang="en" sz="1200" kern="1200" dirty="0">
                <a:solidFill>
                  <a:schemeClr val="tx1"/>
                </a:solidFill>
                <a:effectLst/>
                <a:latin typeface="+mn-lt"/>
                <a:ea typeface="+mn-ea"/>
                <a:cs typeface="+mn-cs"/>
              </a:rPr>
              <a:t>"Finally, how do we evaluate success?</a:t>
            </a:r>
          </a:p>
          <a:p>
            <a:pPr algn="l" rtl="0"/>
            <a:r>
              <a:rPr lang="en" sz="1200" kern="1200" dirty="0">
                <a:solidFill>
                  <a:schemeClr val="tx1"/>
                </a:solidFill>
                <a:effectLst/>
                <a:latin typeface="+mn-lt"/>
                <a:ea typeface="+mn-ea"/>
                <a:cs typeface="+mn-cs"/>
              </a:rPr>
              <a:t>A common pitfall in financial ML is 'Look-Ahead Bias'. To prevent this, we strictly adhere to a Temporal Split validation—we train strictly on the past and test on the future.</a:t>
            </a:r>
          </a:p>
          <a:p>
            <a:pPr algn="l" rtl="0"/>
            <a:r>
              <a:rPr lang="en" sz="1200" kern="1200" dirty="0">
                <a:solidFill>
                  <a:schemeClr val="tx1"/>
                </a:solidFill>
                <a:effectLst/>
                <a:latin typeface="+mn-lt"/>
                <a:ea typeface="+mn-ea"/>
                <a:cs typeface="+mn-cs"/>
              </a:rPr>
              <a:t>We designed a </a:t>
            </a:r>
            <a:r>
              <a:rPr lang="en" sz="1200" b="1" kern="1200" dirty="0">
                <a:solidFill>
                  <a:schemeClr val="tx1"/>
                </a:solidFill>
                <a:effectLst/>
                <a:latin typeface="+mn-lt"/>
                <a:ea typeface="+mn-ea"/>
                <a:cs typeface="+mn-cs"/>
              </a:rPr>
              <a:t>Three-Layer Evaluation Framework</a:t>
            </a:r>
            <a:r>
              <a:rPr lang="en" sz="1200" kern="1200" dirty="0">
                <a:solidFill>
                  <a:schemeClr val="tx1"/>
                </a:solidFill>
                <a:effectLst/>
                <a:latin typeface="+mn-lt"/>
                <a:ea typeface="+mn-ea"/>
                <a:cs typeface="+mn-cs"/>
              </a:rPr>
              <a:t>:</a:t>
            </a:r>
          </a:p>
          <a:p>
            <a:pPr algn="l" rtl="0"/>
            <a:r>
              <a:rPr lang="en" sz="1200" b="1" kern="1200" dirty="0">
                <a:solidFill>
                  <a:schemeClr val="tx1"/>
                </a:solidFill>
                <a:effectLst/>
                <a:latin typeface="+mn-lt"/>
                <a:ea typeface="+mn-ea"/>
                <a:cs typeface="+mn-cs"/>
              </a:rPr>
              <a:t>Statistical:</a:t>
            </a:r>
            <a:r>
              <a:rPr lang="en" sz="1200" kern="1200" dirty="0">
                <a:solidFill>
                  <a:schemeClr val="tx1"/>
                </a:solidFill>
                <a:effectLst/>
                <a:latin typeface="+mn-lt"/>
                <a:ea typeface="+mn-ea"/>
                <a:cs typeface="+mn-cs"/>
              </a:rPr>
              <a:t> We use </a:t>
            </a:r>
            <a:r>
              <a:rPr lang="en" sz="1200" b="1" kern="1200" dirty="0">
                <a:solidFill>
                  <a:schemeClr val="tx1"/>
                </a:solidFill>
                <a:effectLst/>
                <a:latin typeface="+mn-lt"/>
                <a:ea typeface="+mn-ea"/>
                <a:cs typeface="+mn-cs"/>
              </a:rPr>
              <a:t>MSE</a:t>
            </a:r>
            <a:r>
              <a:rPr lang="en" sz="1200" kern="1200" dirty="0">
                <a:solidFill>
                  <a:schemeClr val="tx1"/>
                </a:solidFill>
                <a:effectLst/>
                <a:latin typeface="+mn-lt"/>
                <a:ea typeface="+mn-ea"/>
                <a:cs typeface="+mn-cs"/>
              </a:rPr>
              <a:t> to measure the raw regression error.</a:t>
            </a:r>
          </a:p>
          <a:p>
            <a:pPr algn="l" rtl="0"/>
            <a:r>
              <a:rPr lang="en" sz="1200" b="1" kern="1200" dirty="0">
                <a:solidFill>
                  <a:schemeClr val="tx1"/>
                </a:solidFill>
                <a:effectLst/>
                <a:latin typeface="+mn-lt"/>
                <a:ea typeface="+mn-ea"/>
                <a:cs typeface="+mn-cs"/>
              </a:rPr>
              <a:t>Financial:</a:t>
            </a:r>
            <a:r>
              <a:rPr lang="en" sz="1200" kern="1200" dirty="0">
                <a:solidFill>
                  <a:schemeClr val="tx1"/>
                </a:solidFill>
                <a:effectLst/>
                <a:latin typeface="+mn-lt"/>
                <a:ea typeface="+mn-ea"/>
                <a:cs typeface="+mn-cs"/>
              </a:rPr>
              <a:t> We calculate the </a:t>
            </a:r>
            <a:r>
              <a:rPr lang="en" sz="1200" b="1" kern="1200" dirty="0">
                <a:solidFill>
                  <a:schemeClr val="tx1"/>
                </a:solidFill>
                <a:effectLst/>
                <a:latin typeface="+mn-lt"/>
                <a:ea typeface="+mn-ea"/>
                <a:cs typeface="+mn-cs"/>
              </a:rPr>
              <a:t>Sharpe Ratio</a:t>
            </a:r>
            <a:r>
              <a:rPr lang="en" sz="1200" kern="1200" dirty="0">
                <a:solidFill>
                  <a:schemeClr val="tx1"/>
                </a:solidFill>
                <a:effectLst/>
                <a:latin typeface="+mn-lt"/>
                <a:ea typeface="+mn-ea"/>
                <a:cs typeface="+mn-cs"/>
              </a:rPr>
              <a:t> to see if the returns justify the risk involved.</a:t>
            </a:r>
          </a:p>
          <a:p>
            <a:pPr algn="l" rtl="0"/>
            <a:r>
              <a:rPr lang="en" sz="1200" b="1" kern="1200" dirty="0">
                <a:solidFill>
                  <a:schemeClr val="tx1"/>
                </a:solidFill>
                <a:effectLst/>
                <a:latin typeface="+mn-lt"/>
                <a:ea typeface="+mn-ea"/>
                <a:cs typeface="+mn-cs"/>
              </a:rPr>
              <a:t>Utility:</a:t>
            </a:r>
            <a:r>
              <a:rPr lang="en" sz="1200" kern="1200" dirty="0">
                <a:solidFill>
                  <a:schemeClr val="tx1"/>
                </a:solidFill>
                <a:effectLst/>
                <a:latin typeface="+mn-lt"/>
                <a:ea typeface="+mn-ea"/>
                <a:cs typeface="+mn-cs"/>
              </a:rPr>
              <a:t> We measure </a:t>
            </a:r>
            <a:r>
              <a:rPr lang="en" sz="1200" b="1" kern="1200" dirty="0">
                <a:solidFill>
                  <a:schemeClr val="tx1"/>
                </a:solidFill>
                <a:effectLst/>
                <a:latin typeface="+mn-lt"/>
                <a:ea typeface="+mn-ea"/>
                <a:cs typeface="+mn-cs"/>
              </a:rPr>
              <a:t>Directional Accuracy</a:t>
            </a:r>
            <a:r>
              <a:rPr lang="en" sz="1200" kern="1200" dirty="0">
                <a:solidFill>
                  <a:schemeClr val="tx1"/>
                </a:solidFill>
                <a:effectLst/>
                <a:latin typeface="+mn-lt"/>
                <a:ea typeface="+mn-ea"/>
                <a:cs typeface="+mn-cs"/>
              </a:rPr>
              <a:t>. Even though we are doing regression, knowing the correct </a:t>
            </a:r>
            <a:r>
              <a:rPr lang="en" sz="1200" i="1" kern="1200" dirty="0">
                <a:solidFill>
                  <a:schemeClr val="tx1"/>
                </a:solidFill>
                <a:effectLst/>
                <a:latin typeface="+mn-lt"/>
                <a:ea typeface="+mn-ea"/>
                <a:cs typeface="+mn-cs"/>
              </a:rPr>
              <a:t>sign</a:t>
            </a:r>
            <a:r>
              <a:rPr lang="en" sz="1200" kern="1200" dirty="0">
                <a:solidFill>
                  <a:schemeClr val="tx1"/>
                </a:solidFill>
                <a:effectLst/>
                <a:latin typeface="+mn-lt"/>
                <a:ea typeface="+mn-ea"/>
                <a:cs typeface="+mn-cs"/>
              </a:rPr>
              <a:t> (+/-) is what ultimately triggers a Buy or Sell signal.</a:t>
            </a:r>
          </a:p>
          <a:p>
            <a:pPr algn="l" rtl="0"/>
            <a:r>
              <a:rPr lang="en" sz="1200" kern="1200" dirty="0">
                <a:solidFill>
                  <a:schemeClr val="tx1"/>
                </a:solidFill>
                <a:effectLst/>
                <a:latin typeface="+mn-lt"/>
                <a:ea typeface="+mn-ea"/>
                <a:cs typeface="+mn-cs"/>
              </a:rPr>
              <a:t>We are comparing our results against a </a:t>
            </a:r>
            <a:r>
              <a:rPr lang="en" sz="1200" b="1" kern="1200" dirty="0">
                <a:solidFill>
                  <a:schemeClr val="tx1"/>
                </a:solidFill>
                <a:effectLst/>
                <a:latin typeface="+mn-lt"/>
                <a:ea typeface="+mn-ea"/>
                <a:cs typeface="+mn-cs"/>
              </a:rPr>
              <a:t>Naive Martingale Baseline</a:t>
            </a:r>
            <a:r>
              <a:rPr lang="en" sz="1200" kern="1200" dirty="0">
                <a:solidFill>
                  <a:schemeClr val="tx1"/>
                </a:solidFill>
                <a:effectLst/>
                <a:latin typeface="+mn-lt"/>
                <a:ea typeface="+mn-ea"/>
                <a:cs typeface="+mn-cs"/>
              </a:rPr>
              <a:t> (predicting zero change) and the </a:t>
            </a:r>
            <a:r>
              <a:rPr lang="en" sz="1200" b="1" kern="1200" dirty="0">
                <a:solidFill>
                  <a:schemeClr val="tx1"/>
                </a:solidFill>
                <a:effectLst/>
                <a:latin typeface="+mn-lt"/>
                <a:ea typeface="+mn-ea"/>
                <a:cs typeface="+mn-cs"/>
              </a:rPr>
              <a:t>CAPM Benchmark</a:t>
            </a:r>
            <a:r>
              <a:rPr lang="en" sz="1200" kern="1200" dirty="0">
                <a:solidFill>
                  <a:schemeClr val="tx1"/>
                </a:solidFill>
                <a:effectLst/>
                <a:latin typeface="+mn-lt"/>
                <a:ea typeface="+mn-ea"/>
                <a:cs typeface="+mn-cs"/>
              </a:rPr>
              <a:t>."</a:t>
            </a:r>
          </a:p>
          <a:p>
            <a:pPr algn="l" rtl="0"/>
            <a:r>
              <a:rPr lang="en" sz="1200" b="1" kern="1200" dirty="0">
                <a:solidFill>
                  <a:schemeClr val="tx1"/>
                </a:solidFill>
                <a:effectLst/>
                <a:latin typeface="+mn-lt"/>
                <a:ea typeface="+mn-ea"/>
                <a:cs typeface="+mn-cs"/>
              </a:rPr>
              <a:t>4. Closing &amp; Handoff (approx. 30 sec)</a:t>
            </a:r>
          </a:p>
          <a:p>
            <a:pPr algn="l" rtl="0"/>
            <a:r>
              <a:rPr lang="en" sz="1200" b="1" kern="1200" dirty="0">
                <a:solidFill>
                  <a:schemeClr val="tx1"/>
                </a:solidFill>
                <a:effectLst/>
                <a:latin typeface="+mn-lt"/>
                <a:ea typeface="+mn-ea"/>
                <a:cs typeface="+mn-cs"/>
              </a:rPr>
              <a:t>Action:</a:t>
            </a:r>
            <a:r>
              <a:rPr lang="en" sz="1200" kern="1200" dirty="0">
                <a:solidFill>
                  <a:schemeClr val="tx1"/>
                </a:solidFill>
                <a:effectLst/>
                <a:latin typeface="+mn-lt"/>
                <a:ea typeface="+mn-ea"/>
                <a:cs typeface="+mn-cs"/>
              </a:rPr>
              <a:t> </a:t>
            </a:r>
            <a:r>
              <a:rPr lang="he-IL" sz="1200" kern="1200" dirty="0">
                <a:solidFill>
                  <a:schemeClr val="tx1"/>
                </a:solidFill>
                <a:effectLst/>
                <a:latin typeface="+mn-lt"/>
                <a:ea typeface="+mn-ea"/>
                <a:cs typeface="+mn-cs"/>
              </a:rPr>
              <a:t>תסתכל על המצלמה/קהל.</a:t>
            </a:r>
          </a:p>
          <a:p>
            <a:pPr algn="l" rtl="0"/>
            <a:r>
              <a:rPr lang="en" sz="1200" kern="1200" dirty="0">
                <a:solidFill>
                  <a:schemeClr val="tx1"/>
                </a:solidFill>
                <a:effectLst/>
                <a:latin typeface="+mn-lt"/>
                <a:ea typeface="+mn-ea"/>
                <a:cs typeface="+mn-cs"/>
              </a:rPr>
              <a:t>You Say:</a:t>
            </a:r>
          </a:p>
          <a:p>
            <a:pPr algn="l" rtl="0"/>
            <a:r>
              <a:rPr lang="en" sz="1200" kern="1200" dirty="0">
                <a:solidFill>
                  <a:schemeClr val="tx1"/>
                </a:solidFill>
                <a:effectLst/>
                <a:latin typeface="+mn-lt"/>
                <a:ea typeface="+mn-ea"/>
                <a:cs typeface="+mn-cs"/>
              </a:rPr>
              <a:t>"To summarize my part: We have a stationary target, a computationally efficient NLP pipeline, and a rigorous, multi-layered evaluation framework.</a:t>
            </a:r>
          </a:p>
          <a:p>
            <a:pPr algn="l" rtl="0"/>
            <a:r>
              <a:rPr lang="en" sz="1200" kern="1200" dirty="0">
                <a:solidFill>
                  <a:schemeClr val="tx1"/>
                </a:solidFill>
                <a:effectLst/>
                <a:latin typeface="+mn-lt"/>
                <a:ea typeface="+mn-ea"/>
                <a:cs typeface="+mn-cs"/>
              </a:rPr>
              <a:t>I will now hand it over to Itay, who will present our current timeline and the challenges ahead."</a:t>
            </a:r>
          </a:p>
          <a:p>
            <a:pPr marL="0" algn="l" defTabSz="914400" rtl="0" eaLnBrk="1" latinLnBrk="0" hangingPunct="1"/>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EA05F-8152-2E04-53B2-D972AA3B1C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B24869-2930-5DC0-D802-83AC8DA499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819CB0-F3E9-2903-9C66-57CEED815CFE}"/>
              </a:ext>
            </a:extLst>
          </p:cNvPr>
          <p:cNvSpPr>
            <a:spLocks noGrp="1"/>
          </p:cNvSpPr>
          <p:nvPr>
            <p:ph type="body" idx="1"/>
          </p:nvPr>
        </p:nvSpPr>
        <p:spPr/>
        <p:txBody>
          <a:bodyPr/>
          <a:lstStyle/>
          <a:p>
            <a:pPr algn="l" rtl="0"/>
            <a:endParaRPr lang="en" sz="1200" kern="1200" dirty="0">
              <a:solidFill>
                <a:schemeClr val="tx1"/>
              </a:solidFill>
              <a:effectLst/>
              <a:latin typeface="+mn-lt"/>
              <a:ea typeface="+mn-ea"/>
              <a:cs typeface="+mn-cs"/>
            </a:endParaRPr>
          </a:p>
          <a:p>
            <a:pPr marL="0" algn="l" defTabSz="914400" rtl="0" eaLnBrk="1" latinLnBrk="0" hangingPunct="1"/>
            <a:endParaRPr lang="en-US" dirty="0"/>
          </a:p>
        </p:txBody>
      </p:sp>
      <p:sp>
        <p:nvSpPr>
          <p:cNvPr id="4" name="Slide Number Placeholder 3">
            <a:extLst>
              <a:ext uri="{FF2B5EF4-FFF2-40B4-BE49-F238E27FC236}">
                <a16:creationId xmlns:a16="http://schemas.microsoft.com/office/drawing/2014/main" id="{2176C527-C25E-D803-AC37-ECE228CD5FC8}"/>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1702581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A44C0-042B-FD2F-07E2-899CBAF4D0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0C13BD-09E4-126B-77E5-08A3F9AEA5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C36411-CB30-A2E5-A2F8-AA1EED64035B}"/>
              </a:ext>
            </a:extLst>
          </p:cNvPr>
          <p:cNvSpPr>
            <a:spLocks noGrp="1"/>
          </p:cNvSpPr>
          <p:nvPr>
            <p:ph type="body" idx="1"/>
          </p:nvPr>
        </p:nvSpPr>
        <p:spPr/>
        <p:txBody>
          <a:bodyPr/>
          <a:lstStyle/>
          <a:p>
            <a:pPr marL="0" algn="l" defTabSz="914400" rtl="0" eaLnBrk="1" latinLnBrk="0" hangingPunct="1"/>
            <a:endParaRPr lang="en-US" dirty="0"/>
          </a:p>
        </p:txBody>
      </p:sp>
      <p:sp>
        <p:nvSpPr>
          <p:cNvPr id="4" name="Slide Number Placeholder 3">
            <a:extLst>
              <a:ext uri="{FF2B5EF4-FFF2-40B4-BE49-F238E27FC236}">
                <a16:creationId xmlns:a16="http://schemas.microsoft.com/office/drawing/2014/main" id="{6CCC865D-9CE6-48DD-E1B3-AD2FFB55FDD6}"/>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8474209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A4C7D-A1CD-ADDA-C258-4355358DBD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8E4DAC-AA9C-40E9-A849-7861AD00CD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8CBBBB-D963-4630-CC4D-2219F57396EF}"/>
              </a:ext>
            </a:extLst>
          </p:cNvPr>
          <p:cNvSpPr>
            <a:spLocks noGrp="1"/>
          </p:cNvSpPr>
          <p:nvPr>
            <p:ph type="body" idx="1"/>
          </p:nvPr>
        </p:nvSpPr>
        <p:spPr/>
        <p:txBody>
          <a:bodyPr/>
          <a:lstStyle/>
          <a:p>
            <a:pPr marL="0" algn="r" defTabSz="914400" rtl="1" eaLnBrk="1" latinLnBrk="0" hangingPunct="1"/>
            <a:endParaRPr lang="en-US" dirty="0"/>
          </a:p>
        </p:txBody>
      </p:sp>
      <p:sp>
        <p:nvSpPr>
          <p:cNvPr id="4" name="Slide Number Placeholder 3">
            <a:extLst>
              <a:ext uri="{FF2B5EF4-FFF2-40B4-BE49-F238E27FC236}">
                <a16:creationId xmlns:a16="http://schemas.microsoft.com/office/drawing/2014/main" id="{DC434346-BE50-11D9-342E-7CE0589D135E}"/>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6431221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openxmlformats.org/officeDocument/2006/relationships/slide" Target="slide4.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slide" Target="slide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slide" Target="slide3.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69461" y="216100"/>
            <a:ext cx="7405077" cy="914400"/>
          </a:xfrm>
          <a:prstGeom prst="rect">
            <a:avLst/>
          </a:prstGeom>
          <a:noFill/>
          <a:ln/>
        </p:spPr>
        <p:txBody>
          <a:bodyPr wrap="square" rtlCol="0" anchor="ctr"/>
          <a:lstStyle/>
          <a:p>
            <a:pPr algn="ctr"/>
            <a:r>
              <a:rPr lang="en-US" sz="3200" b="1" dirty="0">
                <a:solidFill>
                  <a:srgbClr val="003366"/>
                </a:solidFill>
                <a:ea typeface="Arial" pitchFamily="34" charset="-122"/>
                <a:cs typeface="Arial" pitchFamily="34" charset="-120"/>
              </a:rPr>
              <a:t>Methodology: Formulation, Features &amp; Evaluation</a:t>
            </a:r>
            <a:endParaRPr lang="en-US" sz="3200" dirty="0"/>
          </a:p>
        </p:txBody>
      </p:sp>
      <p:sp>
        <p:nvSpPr>
          <p:cNvPr id="3" name="Text 1"/>
          <p:cNvSpPr/>
          <p:nvPr/>
        </p:nvSpPr>
        <p:spPr>
          <a:xfrm>
            <a:off x="457200" y="1313380"/>
            <a:ext cx="8229600" cy="457200"/>
          </a:xfrm>
          <a:prstGeom prst="rect">
            <a:avLst/>
          </a:prstGeom>
          <a:noFill/>
          <a:ln/>
        </p:spPr>
        <p:txBody>
          <a:bodyPr wrap="square" rtlCol="0" anchor="ctr"/>
          <a:lstStyle/>
          <a:p>
            <a:pPr marL="342900" indent="-342900">
              <a:buSzPct val="100000"/>
              <a:buChar char="•"/>
            </a:pPr>
            <a:r>
              <a:rPr lang="en-US" b="1" dirty="0">
                <a:solidFill>
                  <a:srgbClr val="222222"/>
                </a:solidFill>
                <a:ea typeface="Arial" pitchFamily="34" charset="-122"/>
                <a:cs typeface="Arial" pitchFamily="34" charset="-120"/>
              </a:rPr>
              <a:t>Task Definition: Log-Returns Regression</a:t>
            </a:r>
            <a:endParaRPr lang="en-US" dirty="0"/>
          </a:p>
        </p:txBody>
      </p:sp>
      <mc:AlternateContent xmlns:mc="http://schemas.openxmlformats.org/markup-compatibility/2006" xmlns:a14="http://schemas.microsoft.com/office/drawing/2010/main">
        <mc:Choice Requires="a14">
          <p:sp>
            <p:nvSpPr>
              <p:cNvPr id="4" name="Text 2"/>
              <p:cNvSpPr/>
              <p:nvPr/>
            </p:nvSpPr>
            <p:spPr>
              <a:xfrm>
                <a:off x="914400" y="1541980"/>
                <a:ext cx="7772400" cy="1097280"/>
              </a:xfrm>
              <a:prstGeom prst="rect">
                <a:avLst/>
              </a:prstGeom>
              <a:noFill/>
              <a:ln/>
            </p:spPr>
            <p:txBody>
              <a:bodyPr wrap="square" rtlCol="0" anchor="ctr"/>
              <a:lstStyle/>
              <a:p>
                <a:pPr marL="254000" indent="-254000">
                  <a:lnSpc>
                    <a:spcPts val="2800"/>
                  </a:lnSpc>
                  <a:buSzPct val="100000"/>
                  <a:buChar char="•"/>
                </a:pPr>
                <a:r>
                  <a:rPr lang="en-US" sz="1400" dirty="0">
                    <a:solidFill>
                      <a:srgbClr val="444444"/>
                    </a:solidFill>
                    <a:ea typeface="Arial" pitchFamily="34" charset="-122"/>
                    <a:cs typeface="Arial" pitchFamily="34" charset="-120"/>
                  </a:rPr>
                  <a:t>Shifted from binary classification to </a:t>
                </a:r>
                <a:r>
                  <a:rPr lang="en-US" sz="1400" b="1" dirty="0">
                    <a:solidFill>
                      <a:srgbClr val="444444"/>
                    </a:solidFill>
                    <a:ea typeface="Arial" pitchFamily="34" charset="-122"/>
                    <a:cs typeface="Arial" pitchFamily="34" charset="-120"/>
                  </a:rPr>
                  <a:t>Regression (Daily Log-Returns).</a:t>
                </a:r>
                <a:endParaRPr lang="he-IL" sz="1400" b="1" dirty="0">
                  <a:solidFill>
                    <a:srgbClr val="444444"/>
                  </a:solidFill>
                  <a:ea typeface="Arial" pitchFamily="34" charset="-122"/>
                  <a:cs typeface="Arial" pitchFamily="34" charset="-120"/>
                </a:endParaRPr>
              </a:p>
              <a:p>
                <a:pPr marL="254000" indent="-254000">
                  <a:lnSpc>
                    <a:spcPts val="2800"/>
                  </a:lnSpc>
                  <a:buSzPct val="100000"/>
                  <a:buFontTx/>
                  <a:buChar char="•"/>
                </a:pPr>
                <a:r>
                  <a:rPr lang="en-US" sz="1400" b="1" dirty="0">
                    <a:solidFill>
                      <a:srgbClr val="444444"/>
                    </a:solidFill>
                    <a:ea typeface="Arial" pitchFamily="34" charset="-122"/>
                    <a:cs typeface="Arial" pitchFamily="34" charset="-120"/>
                  </a:rPr>
                  <a:t>Target: </a:t>
                </a:r>
                <a14:m>
                  <m:oMath xmlns:m="http://schemas.openxmlformats.org/officeDocument/2006/math">
                    <m:sSub>
                      <m:sSubPr>
                        <m:ctrlPr>
                          <a:rPr lang="en-US" sz="1400" b="1" i="1" smtClean="0">
                            <a:solidFill>
                              <a:srgbClr val="444444"/>
                            </a:solidFill>
                            <a:latin typeface="Cambria Math" panose="02040503050406030204" pitchFamily="18" charset="0"/>
                            <a:cs typeface="Arial" pitchFamily="34" charset="-120"/>
                          </a:rPr>
                        </m:ctrlPr>
                      </m:sSubPr>
                      <m:e>
                        <m:r>
                          <a:rPr lang="en-US" sz="1400" b="1" i="1" smtClean="0">
                            <a:solidFill>
                              <a:srgbClr val="444444"/>
                            </a:solidFill>
                            <a:latin typeface="Cambria Math" panose="02040503050406030204" pitchFamily="18" charset="0"/>
                            <a:cs typeface="Arial" pitchFamily="34" charset="-120"/>
                          </a:rPr>
                          <m:t>𝒀</m:t>
                        </m:r>
                      </m:e>
                      <m:sub>
                        <m:r>
                          <a:rPr lang="en-US" sz="1400" b="1" i="1" smtClean="0">
                            <a:solidFill>
                              <a:srgbClr val="444444"/>
                            </a:solidFill>
                            <a:latin typeface="Cambria Math" panose="02040503050406030204" pitchFamily="18" charset="0"/>
                            <a:cs typeface="Arial" pitchFamily="34" charset="-120"/>
                          </a:rPr>
                          <m:t>𝒕</m:t>
                        </m:r>
                        <m:r>
                          <a:rPr lang="en-US" sz="1400" b="1" i="1" smtClean="0">
                            <a:solidFill>
                              <a:srgbClr val="444444"/>
                            </a:solidFill>
                            <a:latin typeface="Cambria Math" panose="02040503050406030204" pitchFamily="18" charset="0"/>
                            <a:cs typeface="Arial" pitchFamily="34" charset="-120"/>
                          </a:rPr>
                          <m:t>+</m:t>
                        </m:r>
                        <m:r>
                          <a:rPr lang="en-US" sz="1400" b="1" i="1" smtClean="0">
                            <a:solidFill>
                              <a:srgbClr val="444444"/>
                            </a:solidFill>
                            <a:latin typeface="Cambria Math" panose="02040503050406030204" pitchFamily="18" charset="0"/>
                            <a:cs typeface="Arial" pitchFamily="34" charset="-120"/>
                          </a:rPr>
                          <m:t>𝟏</m:t>
                        </m:r>
                      </m:sub>
                    </m:sSub>
                    <m:r>
                      <a:rPr lang="en-US" sz="1400" b="1" i="1" smtClean="0">
                        <a:solidFill>
                          <a:srgbClr val="444444"/>
                        </a:solidFill>
                        <a:latin typeface="Cambria Math" panose="02040503050406030204" pitchFamily="18" charset="0"/>
                        <a:cs typeface="Arial" pitchFamily="34" charset="-120"/>
                      </a:rPr>
                      <m:t>=</m:t>
                    </m:r>
                    <m:r>
                      <m:rPr>
                        <m:sty m:val="p"/>
                      </m:rPr>
                      <a:rPr lang="en-US" sz="1400" b="1" i="1" smtClean="0">
                        <a:solidFill>
                          <a:srgbClr val="444444"/>
                        </a:solidFill>
                        <a:latin typeface="Cambria Math" panose="02040503050406030204" pitchFamily="18" charset="0"/>
                        <a:cs typeface="Arial" pitchFamily="34" charset="-120"/>
                      </a:rPr>
                      <m:t>ln</m:t>
                    </m:r>
                    <m:r>
                      <a:rPr lang="en-US" sz="1400" b="1" i="1" smtClean="0">
                        <a:solidFill>
                          <a:srgbClr val="444444"/>
                        </a:solidFill>
                        <a:latin typeface="Cambria Math" panose="02040503050406030204" pitchFamily="18" charset="0"/>
                        <a:cs typeface="Arial" pitchFamily="34" charset="-120"/>
                      </a:rPr>
                      <m:t>(</m:t>
                    </m:r>
                    <m:sSub>
                      <m:sSubPr>
                        <m:ctrlPr>
                          <a:rPr lang="en-US" sz="1400" b="1" i="1">
                            <a:solidFill>
                              <a:srgbClr val="444444"/>
                            </a:solidFill>
                            <a:latin typeface="Cambria Math" panose="02040503050406030204" pitchFamily="18" charset="0"/>
                            <a:cs typeface="Arial" pitchFamily="34" charset="-120"/>
                          </a:rPr>
                        </m:ctrlPr>
                      </m:sSubPr>
                      <m:e>
                        <m:r>
                          <m:rPr>
                            <m:sty m:val="p"/>
                          </m:rPr>
                          <a:rPr lang="en-US" sz="1400" b="1" i="1" smtClean="0">
                            <a:solidFill>
                              <a:srgbClr val="444444"/>
                            </a:solidFill>
                            <a:latin typeface="Cambria Math" panose="02040503050406030204" pitchFamily="18" charset="0"/>
                            <a:cs typeface="Arial" pitchFamily="34" charset="-120"/>
                          </a:rPr>
                          <m:t>P</m:t>
                        </m:r>
                      </m:e>
                      <m:sub>
                        <m:r>
                          <a:rPr lang="en-US" sz="1400" b="1" i="1">
                            <a:solidFill>
                              <a:srgbClr val="444444"/>
                            </a:solidFill>
                            <a:latin typeface="Cambria Math" panose="02040503050406030204" pitchFamily="18" charset="0"/>
                            <a:cs typeface="Arial" pitchFamily="34" charset="-120"/>
                          </a:rPr>
                          <m:t>𝒕</m:t>
                        </m:r>
                        <m:r>
                          <a:rPr lang="en-US" sz="1400" b="1" i="1">
                            <a:solidFill>
                              <a:srgbClr val="444444"/>
                            </a:solidFill>
                            <a:latin typeface="Cambria Math" panose="02040503050406030204" pitchFamily="18" charset="0"/>
                            <a:cs typeface="Arial" pitchFamily="34" charset="-120"/>
                          </a:rPr>
                          <m:t>+</m:t>
                        </m:r>
                        <m:r>
                          <a:rPr lang="en-US" sz="1400" b="1" i="1">
                            <a:solidFill>
                              <a:srgbClr val="444444"/>
                            </a:solidFill>
                            <a:latin typeface="Cambria Math" panose="02040503050406030204" pitchFamily="18" charset="0"/>
                            <a:cs typeface="Arial" pitchFamily="34" charset="-120"/>
                          </a:rPr>
                          <m:t>𝟏</m:t>
                        </m:r>
                      </m:sub>
                    </m:sSub>
                    <m:r>
                      <a:rPr lang="en-US" sz="1400" b="1" i="1" smtClean="0">
                        <a:solidFill>
                          <a:srgbClr val="444444"/>
                        </a:solidFill>
                        <a:latin typeface="Cambria Math" panose="02040503050406030204" pitchFamily="18" charset="0"/>
                        <a:cs typeface="Arial" pitchFamily="34" charset="-120"/>
                      </a:rPr>
                      <m:t>) –</m:t>
                    </m:r>
                    <m:r>
                      <m:rPr>
                        <m:sty m:val="p"/>
                      </m:rPr>
                      <a:rPr lang="en-US" sz="1400" b="1" i="1">
                        <a:solidFill>
                          <a:srgbClr val="444444"/>
                        </a:solidFill>
                        <a:latin typeface="Cambria Math" panose="02040503050406030204" pitchFamily="18" charset="0"/>
                        <a:cs typeface="Arial" pitchFamily="34" charset="-120"/>
                      </a:rPr>
                      <m:t>ln</m:t>
                    </m:r>
                    <m:r>
                      <a:rPr lang="en-US" sz="1400" b="1" i="1">
                        <a:solidFill>
                          <a:srgbClr val="444444"/>
                        </a:solidFill>
                        <a:latin typeface="Cambria Math" panose="02040503050406030204" pitchFamily="18" charset="0"/>
                        <a:cs typeface="Arial" pitchFamily="34" charset="-120"/>
                      </a:rPr>
                      <m:t>(</m:t>
                    </m:r>
                    <m:sSub>
                      <m:sSubPr>
                        <m:ctrlPr>
                          <a:rPr lang="en-US" sz="1400" b="1" i="1">
                            <a:solidFill>
                              <a:srgbClr val="444444"/>
                            </a:solidFill>
                            <a:latin typeface="Cambria Math" panose="02040503050406030204" pitchFamily="18" charset="0"/>
                            <a:cs typeface="Arial" pitchFamily="34" charset="-120"/>
                          </a:rPr>
                        </m:ctrlPr>
                      </m:sSubPr>
                      <m:e>
                        <m:r>
                          <m:rPr>
                            <m:sty m:val="p"/>
                          </m:rPr>
                          <a:rPr lang="en-US" sz="1400" b="1" i="1">
                            <a:solidFill>
                              <a:srgbClr val="444444"/>
                            </a:solidFill>
                            <a:latin typeface="Cambria Math" panose="02040503050406030204" pitchFamily="18" charset="0"/>
                            <a:cs typeface="Arial" pitchFamily="34" charset="-120"/>
                          </a:rPr>
                          <m:t>P</m:t>
                        </m:r>
                      </m:e>
                      <m:sub>
                        <m:r>
                          <a:rPr lang="en-US" sz="1400" b="1" i="1">
                            <a:solidFill>
                              <a:srgbClr val="444444"/>
                            </a:solidFill>
                            <a:latin typeface="Cambria Math" panose="02040503050406030204" pitchFamily="18" charset="0"/>
                            <a:cs typeface="Arial" pitchFamily="34" charset="-120"/>
                          </a:rPr>
                          <m:t>𝒕</m:t>
                        </m:r>
                      </m:sub>
                    </m:sSub>
                    <m:r>
                      <a:rPr lang="en-US" sz="1400" b="1" i="1">
                        <a:solidFill>
                          <a:srgbClr val="444444"/>
                        </a:solidFill>
                        <a:latin typeface="Cambria Math" panose="02040503050406030204" pitchFamily="18" charset="0"/>
                        <a:cs typeface="Arial" pitchFamily="34" charset="-120"/>
                      </a:rPr>
                      <m:t>)</m:t>
                    </m:r>
                  </m:oMath>
                </a14:m>
                <a:r>
                  <a:rPr lang="en-US" sz="1400" b="1" dirty="0">
                    <a:solidFill>
                      <a:srgbClr val="444444"/>
                    </a:solidFill>
                    <a:ea typeface="Arial" pitchFamily="34" charset="-122"/>
                    <a:cs typeface="Arial" pitchFamily="34" charset="-120"/>
                  </a:rPr>
                  <a:t> </a:t>
                </a:r>
                <a:r>
                  <a:rPr lang="en-US" sz="1400" dirty="0">
                    <a:solidFill>
                      <a:srgbClr val="444444"/>
                    </a:solidFill>
                    <a:ea typeface="Arial" pitchFamily="34" charset="-122"/>
                    <a:cs typeface="Arial" pitchFamily="34" charset="-120"/>
                  </a:rPr>
                  <a:t>(Stationarity &amp; Magnitude).</a:t>
                </a:r>
              </a:p>
            </p:txBody>
          </p:sp>
        </mc:Choice>
        <mc:Fallback xmlns="">
          <p:sp>
            <p:nvSpPr>
              <p:cNvPr id="4" name="Text 2"/>
              <p:cNvSpPr>
                <a:spLocks noRot="1" noChangeAspect="1" noMove="1" noResize="1" noEditPoints="1" noAdjustHandles="1" noChangeArrowheads="1" noChangeShapeType="1" noTextEdit="1"/>
              </p:cNvSpPr>
              <p:nvPr/>
            </p:nvSpPr>
            <p:spPr>
              <a:xfrm>
                <a:off x="914400" y="1541980"/>
                <a:ext cx="7772400" cy="1097280"/>
              </a:xfrm>
              <a:prstGeom prst="rect">
                <a:avLst/>
              </a:prstGeom>
              <a:blipFill>
                <a:blip r:embed="rId3"/>
                <a:stretch>
                  <a:fillRect l="-327"/>
                </a:stretch>
              </a:blipFill>
              <a:ln/>
            </p:spPr>
            <p:txBody>
              <a:bodyPr/>
              <a:lstStyle/>
              <a:p>
                <a:r>
                  <a:rPr lang="he-IL">
                    <a:noFill/>
                  </a:rPr>
                  <a:t> </a:t>
                </a:r>
              </a:p>
            </p:txBody>
          </p:sp>
        </mc:Fallback>
      </mc:AlternateContent>
      <p:sp>
        <p:nvSpPr>
          <p:cNvPr id="5" name="Text 3"/>
          <p:cNvSpPr/>
          <p:nvPr/>
        </p:nvSpPr>
        <p:spPr>
          <a:xfrm>
            <a:off x="457200" y="2593540"/>
            <a:ext cx="8229600" cy="457200"/>
          </a:xfrm>
          <a:prstGeom prst="rect">
            <a:avLst/>
          </a:prstGeom>
          <a:noFill/>
          <a:ln/>
        </p:spPr>
        <p:txBody>
          <a:bodyPr wrap="square" rtlCol="0" anchor="ctr"/>
          <a:lstStyle/>
          <a:p>
            <a:pPr marL="342900" indent="-342900">
              <a:buSzPct val="100000"/>
              <a:buChar char="•"/>
            </a:pPr>
            <a:r>
              <a:rPr lang="en-US" b="1" dirty="0">
                <a:solidFill>
                  <a:srgbClr val="222222"/>
                </a:solidFill>
                <a:ea typeface="Arial" pitchFamily="34" charset="-122"/>
                <a:cs typeface="Arial" pitchFamily="34" charset="-120"/>
              </a:rPr>
              <a:t>Feature Space &amp; Input Structure</a:t>
            </a:r>
            <a:endParaRPr lang="en-US" dirty="0"/>
          </a:p>
        </p:txBody>
      </p:sp>
      <p:sp>
        <p:nvSpPr>
          <p:cNvPr id="6" name="Text 4"/>
          <p:cNvSpPr/>
          <p:nvPr/>
        </p:nvSpPr>
        <p:spPr>
          <a:xfrm>
            <a:off x="914400" y="2822140"/>
            <a:ext cx="7772400" cy="1097280"/>
          </a:xfrm>
          <a:prstGeom prst="rect">
            <a:avLst/>
          </a:prstGeom>
          <a:noFill/>
          <a:ln/>
        </p:spPr>
        <p:txBody>
          <a:bodyPr wrap="square" rtlCol="0" anchor="ctr"/>
          <a:lstStyle/>
          <a:p>
            <a:pPr marL="254000" indent="-254000">
              <a:lnSpc>
                <a:spcPts val="2400"/>
              </a:lnSpc>
              <a:buSzPct val="100000"/>
              <a:buChar char="•"/>
            </a:pPr>
            <a:r>
              <a:rPr lang="en-US" sz="1400" b="1" dirty="0">
                <a:solidFill>
                  <a:srgbClr val="444444"/>
                </a:solidFill>
                <a:ea typeface="Arial" pitchFamily="34" charset="-122"/>
                <a:cs typeface="Arial" pitchFamily="34" charset="-120"/>
              </a:rPr>
              <a:t>Exogenous: </a:t>
            </a:r>
            <a:r>
              <a:rPr lang="en-US" sz="1400" dirty="0" err="1">
                <a:solidFill>
                  <a:srgbClr val="444444"/>
                </a:solidFill>
                <a:ea typeface="Arial" pitchFamily="34" charset="-122"/>
                <a:cs typeface="Arial" pitchFamily="34" charset="-120"/>
              </a:rPr>
              <a:t>FinBERT</a:t>
            </a:r>
            <a:r>
              <a:rPr lang="en-US" sz="1400" dirty="0">
                <a:solidFill>
                  <a:srgbClr val="444444"/>
                </a:solidFill>
                <a:ea typeface="Arial" pitchFamily="34" charset="-122"/>
                <a:cs typeface="Arial" pitchFamily="34" charset="-120"/>
              </a:rPr>
              <a:t> Sentiment (Stratified) + VIX + Market Index.</a:t>
            </a:r>
            <a:endParaRPr lang="he-IL" sz="1400" dirty="0"/>
          </a:p>
          <a:p>
            <a:pPr marL="254000" indent="-254000">
              <a:lnSpc>
                <a:spcPts val="2400"/>
              </a:lnSpc>
              <a:buSzPct val="100000"/>
              <a:buChar char="•"/>
            </a:pPr>
            <a:r>
              <a:rPr lang="en-US" sz="1400" b="1" dirty="0">
                <a:solidFill>
                  <a:srgbClr val="444444"/>
                </a:solidFill>
                <a:ea typeface="Arial" pitchFamily="34" charset="-122"/>
                <a:cs typeface="Arial" pitchFamily="34" charset="-120"/>
              </a:rPr>
              <a:t>Temporal Logic: </a:t>
            </a:r>
            <a:r>
              <a:rPr lang="en-US" sz="1400" dirty="0">
                <a:solidFill>
                  <a:srgbClr val="444444"/>
                </a:solidFill>
                <a:ea typeface="Arial" pitchFamily="34" charset="-122"/>
                <a:cs typeface="Arial" pitchFamily="34" charset="-120"/>
              </a:rPr>
              <a:t>Lagged Features (Windowing) to capture trends.</a:t>
            </a:r>
            <a:endParaRPr lang="en-US" sz="1400" dirty="0"/>
          </a:p>
          <a:p>
            <a:pPr marL="254000" indent="-254000">
              <a:lnSpc>
                <a:spcPts val="2800"/>
              </a:lnSpc>
              <a:buSzPct val="100000"/>
              <a:buChar char="•"/>
            </a:pPr>
            <a:endParaRPr lang="en-US" sz="1400" dirty="0"/>
          </a:p>
        </p:txBody>
      </p:sp>
      <p:sp>
        <p:nvSpPr>
          <p:cNvPr id="7" name="Text 5"/>
          <p:cNvSpPr/>
          <p:nvPr/>
        </p:nvSpPr>
        <p:spPr>
          <a:xfrm>
            <a:off x="457200" y="3690820"/>
            <a:ext cx="8229600" cy="457200"/>
          </a:xfrm>
          <a:prstGeom prst="rect">
            <a:avLst/>
          </a:prstGeom>
          <a:noFill/>
          <a:ln/>
        </p:spPr>
        <p:txBody>
          <a:bodyPr wrap="square" rtlCol="0" anchor="ctr"/>
          <a:lstStyle/>
          <a:p>
            <a:pPr marL="342900" indent="-342900">
              <a:buSzPct val="100000"/>
              <a:buChar char="•"/>
            </a:pPr>
            <a:r>
              <a:rPr lang="en-US" b="1" dirty="0">
                <a:solidFill>
                  <a:srgbClr val="222222"/>
                </a:solidFill>
                <a:ea typeface="Arial" pitchFamily="34" charset="-122"/>
                <a:cs typeface="Arial" pitchFamily="34" charset="-120"/>
              </a:rPr>
              <a:t>Evaluation Strategy</a:t>
            </a:r>
            <a:endParaRPr lang="en-US" dirty="0"/>
          </a:p>
        </p:txBody>
      </p:sp>
      <p:sp>
        <p:nvSpPr>
          <p:cNvPr id="8" name="Text 6"/>
          <p:cNvSpPr/>
          <p:nvPr/>
        </p:nvSpPr>
        <p:spPr>
          <a:xfrm>
            <a:off x="914400" y="4033720"/>
            <a:ext cx="7772400" cy="914400"/>
          </a:xfrm>
          <a:prstGeom prst="rect">
            <a:avLst/>
          </a:prstGeom>
          <a:noFill/>
          <a:ln/>
        </p:spPr>
        <p:txBody>
          <a:bodyPr wrap="square" rtlCol="0" anchor="ctr"/>
          <a:lstStyle/>
          <a:p>
            <a:pPr marL="254000" indent="-254000">
              <a:lnSpc>
                <a:spcPts val="2400"/>
              </a:lnSpc>
              <a:buSzPct val="100000"/>
              <a:buChar char="•"/>
            </a:pPr>
            <a:r>
              <a:rPr lang="en-US" sz="1400" b="1" dirty="0">
                <a:solidFill>
                  <a:srgbClr val="444444"/>
                </a:solidFill>
                <a:ea typeface="Arial" pitchFamily="34" charset="-122"/>
                <a:cs typeface="Arial" pitchFamily="34" charset="-120"/>
              </a:rPr>
              <a:t>Validation: </a:t>
            </a:r>
            <a:r>
              <a:rPr lang="en-US" sz="1400" dirty="0">
                <a:solidFill>
                  <a:srgbClr val="444444"/>
                </a:solidFill>
                <a:ea typeface="Arial" pitchFamily="34" charset="-122"/>
                <a:cs typeface="Arial" pitchFamily="34" charset="-120"/>
              </a:rPr>
              <a:t>Strict Temporal Split (No Look-Ahead Bias).</a:t>
            </a:r>
            <a:endParaRPr lang="he-IL" sz="1400" dirty="0"/>
          </a:p>
          <a:p>
            <a:pPr marL="254000" indent="-254000">
              <a:lnSpc>
                <a:spcPts val="2400"/>
              </a:lnSpc>
              <a:buSzPct val="100000"/>
              <a:buChar char="•"/>
            </a:pPr>
            <a:r>
              <a:rPr lang="en-US" sz="1400" b="1" dirty="0">
                <a:solidFill>
                  <a:srgbClr val="444444"/>
                </a:solidFill>
                <a:ea typeface="Arial" pitchFamily="34" charset="-122"/>
                <a:cs typeface="Arial" pitchFamily="34" charset="-120"/>
              </a:rPr>
              <a:t>Metrics: </a:t>
            </a:r>
            <a:r>
              <a:rPr lang="en-US" sz="1400" dirty="0">
                <a:solidFill>
                  <a:srgbClr val="444444"/>
                </a:solidFill>
                <a:ea typeface="Arial" pitchFamily="34" charset="-122"/>
                <a:cs typeface="Arial" pitchFamily="34" charset="-120"/>
              </a:rPr>
              <a:t>MSE (Stat), Sharpe Ratio (Fin), Directional Accuracy (Util).</a:t>
            </a:r>
            <a:endParaRPr lang="en-US" sz="1400" dirty="0"/>
          </a:p>
        </p:txBody>
      </p:sp>
      <p:pic>
        <p:nvPicPr>
          <p:cNvPr id="11" name="תמונה 10">
            <a:hlinkClick r:id="" action="ppaction://hlinkshowjump?jump=nextslide"/>
            <a:extLst>
              <a:ext uri="{FF2B5EF4-FFF2-40B4-BE49-F238E27FC236}">
                <a16:creationId xmlns:a16="http://schemas.microsoft.com/office/drawing/2014/main" id="{310B9414-BC6D-0E9A-CBC7-55CD6E226160}"/>
              </a:ext>
            </a:extLst>
          </p:cNvPr>
          <p:cNvPicPr>
            <a:picLocks noChangeAspect="1"/>
          </p:cNvPicPr>
          <p:nvPr/>
        </p:nvPicPr>
        <p:blipFill>
          <a:blip r:embed="rId4"/>
          <a:stretch>
            <a:fillRect/>
          </a:stretch>
        </p:blipFill>
        <p:spPr>
          <a:xfrm>
            <a:off x="479892" y="1316590"/>
            <a:ext cx="7749708" cy="3826910"/>
          </a:xfrm>
          <a:prstGeom prst="rect">
            <a:avLst/>
          </a:prstGeom>
        </p:spPr>
      </p:pic>
      <p:pic>
        <p:nvPicPr>
          <p:cNvPr id="12" name="תמונה 11">
            <a:hlinkClick r:id="rId5" action="ppaction://hlinksldjump"/>
            <a:extLst>
              <a:ext uri="{FF2B5EF4-FFF2-40B4-BE49-F238E27FC236}">
                <a16:creationId xmlns:a16="http://schemas.microsoft.com/office/drawing/2014/main" id="{50DD7305-0707-76B8-315A-5781480808E2}"/>
              </a:ext>
            </a:extLst>
          </p:cNvPr>
          <p:cNvPicPr>
            <a:picLocks noChangeAspect="1"/>
          </p:cNvPicPr>
          <p:nvPr/>
        </p:nvPicPr>
        <p:blipFill>
          <a:blip r:embed="rId6"/>
          <a:stretch>
            <a:fillRect/>
          </a:stretch>
        </p:blipFill>
        <p:spPr>
          <a:xfrm>
            <a:off x="1413510" y="1130500"/>
            <a:ext cx="5882472" cy="4012225"/>
          </a:xfrm>
          <a:prstGeom prst="rect">
            <a:avLst/>
          </a:prstGeom>
        </p:spPr>
      </p:pic>
      <p:pic>
        <p:nvPicPr>
          <p:cNvPr id="13" name="תמונה 12">
            <a:hlinkClick r:id="rId7" action="ppaction://hlinksldjump"/>
            <a:extLst>
              <a:ext uri="{FF2B5EF4-FFF2-40B4-BE49-F238E27FC236}">
                <a16:creationId xmlns:a16="http://schemas.microsoft.com/office/drawing/2014/main" id="{BFA74756-7B0B-01B4-E5D3-C2206A986B28}"/>
              </a:ext>
            </a:extLst>
          </p:cNvPr>
          <p:cNvPicPr>
            <a:picLocks noChangeAspect="1"/>
          </p:cNvPicPr>
          <p:nvPr/>
        </p:nvPicPr>
        <p:blipFill>
          <a:blip r:embed="rId8"/>
          <a:stretch>
            <a:fillRect/>
          </a:stretch>
        </p:blipFill>
        <p:spPr>
          <a:xfrm>
            <a:off x="664081" y="1140860"/>
            <a:ext cx="7381330" cy="395592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E2BF097-EDF2-CA7E-87B0-FA0D7F5E845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96256E3-7B8A-AD50-246A-58ABA25991F7}"/>
              </a:ext>
            </a:extLst>
          </p:cNvPr>
          <p:cNvSpPr/>
          <p:nvPr/>
        </p:nvSpPr>
        <p:spPr>
          <a:xfrm>
            <a:off x="869461" y="216100"/>
            <a:ext cx="7405077" cy="914400"/>
          </a:xfrm>
          <a:prstGeom prst="rect">
            <a:avLst/>
          </a:prstGeom>
          <a:noFill/>
          <a:ln/>
        </p:spPr>
        <p:txBody>
          <a:bodyPr wrap="square" rtlCol="0" anchor="ctr"/>
          <a:lstStyle/>
          <a:p>
            <a:pPr algn="ctr"/>
            <a:r>
              <a:rPr lang="en-US" sz="3200" b="1" dirty="0">
                <a:solidFill>
                  <a:srgbClr val="003366"/>
                </a:solidFill>
                <a:ea typeface="Arial" pitchFamily="34" charset="-122"/>
                <a:cs typeface="Arial" pitchFamily="34" charset="-120"/>
              </a:rPr>
              <a:t>Methodology: Formulation, Features &amp; Evaluation</a:t>
            </a:r>
            <a:endParaRPr lang="en-US" sz="3200" dirty="0"/>
          </a:p>
        </p:txBody>
      </p:sp>
      <p:sp>
        <p:nvSpPr>
          <p:cNvPr id="3" name="Text 1">
            <a:extLst>
              <a:ext uri="{FF2B5EF4-FFF2-40B4-BE49-F238E27FC236}">
                <a16:creationId xmlns:a16="http://schemas.microsoft.com/office/drawing/2014/main" id="{D6D742AA-F2F0-D897-C628-D97B3C368A80}"/>
              </a:ext>
            </a:extLst>
          </p:cNvPr>
          <p:cNvSpPr/>
          <p:nvPr/>
        </p:nvSpPr>
        <p:spPr>
          <a:xfrm>
            <a:off x="457200" y="1313380"/>
            <a:ext cx="8229600" cy="457200"/>
          </a:xfrm>
          <a:prstGeom prst="rect">
            <a:avLst/>
          </a:prstGeom>
          <a:noFill/>
          <a:ln/>
        </p:spPr>
        <p:txBody>
          <a:bodyPr wrap="square" rtlCol="0" anchor="ctr"/>
          <a:lstStyle/>
          <a:p>
            <a:pPr marL="342900" indent="-342900">
              <a:buSzPct val="100000"/>
              <a:buChar char="•"/>
            </a:pPr>
            <a:r>
              <a:rPr lang="en-US" b="1" dirty="0">
                <a:solidFill>
                  <a:srgbClr val="222222"/>
                </a:solidFill>
                <a:ea typeface="Arial" pitchFamily="34" charset="-122"/>
                <a:cs typeface="Arial" pitchFamily="34" charset="-120"/>
              </a:rPr>
              <a:t>Task Definition: Log-Returns Regression</a:t>
            </a:r>
            <a:endParaRPr lang="en-US" dirty="0"/>
          </a:p>
        </p:txBody>
      </p:sp>
      <mc:AlternateContent xmlns:mc="http://schemas.openxmlformats.org/markup-compatibility/2006" xmlns:a14="http://schemas.microsoft.com/office/drawing/2010/main">
        <mc:Choice Requires="a14">
          <p:sp>
            <p:nvSpPr>
              <p:cNvPr id="4" name="Text 2">
                <a:extLst>
                  <a:ext uri="{FF2B5EF4-FFF2-40B4-BE49-F238E27FC236}">
                    <a16:creationId xmlns:a16="http://schemas.microsoft.com/office/drawing/2014/main" id="{E64E94B0-2CC2-C061-1A78-094848AC36DB}"/>
                  </a:ext>
                </a:extLst>
              </p:cNvPr>
              <p:cNvSpPr/>
              <p:nvPr/>
            </p:nvSpPr>
            <p:spPr>
              <a:xfrm>
                <a:off x="914400" y="1541980"/>
                <a:ext cx="7772400" cy="1097280"/>
              </a:xfrm>
              <a:prstGeom prst="rect">
                <a:avLst/>
              </a:prstGeom>
              <a:noFill/>
              <a:ln/>
            </p:spPr>
            <p:txBody>
              <a:bodyPr wrap="square" rtlCol="0" anchor="ctr"/>
              <a:lstStyle/>
              <a:p>
                <a:pPr marL="254000" indent="-254000">
                  <a:lnSpc>
                    <a:spcPts val="2800"/>
                  </a:lnSpc>
                  <a:buSzPct val="100000"/>
                  <a:buChar char="•"/>
                </a:pPr>
                <a:r>
                  <a:rPr lang="en-US" sz="1400" dirty="0">
                    <a:solidFill>
                      <a:srgbClr val="444444"/>
                    </a:solidFill>
                    <a:ea typeface="Arial" pitchFamily="34" charset="-122"/>
                    <a:cs typeface="Arial" pitchFamily="34" charset="-120"/>
                  </a:rPr>
                  <a:t>Shifted from binary classification to </a:t>
                </a:r>
                <a:r>
                  <a:rPr lang="en-US" sz="1400" b="1" dirty="0">
                    <a:solidFill>
                      <a:srgbClr val="444444"/>
                    </a:solidFill>
                    <a:ea typeface="Arial" pitchFamily="34" charset="-122"/>
                    <a:cs typeface="Arial" pitchFamily="34" charset="-120"/>
                  </a:rPr>
                  <a:t>Regression (Daily Log-Returns).</a:t>
                </a:r>
                <a:endParaRPr lang="he-IL" sz="1400" b="1" dirty="0">
                  <a:solidFill>
                    <a:srgbClr val="444444"/>
                  </a:solidFill>
                  <a:ea typeface="Arial" pitchFamily="34" charset="-122"/>
                  <a:cs typeface="Arial" pitchFamily="34" charset="-120"/>
                </a:endParaRPr>
              </a:p>
              <a:p>
                <a:pPr marL="254000" indent="-254000">
                  <a:lnSpc>
                    <a:spcPts val="2800"/>
                  </a:lnSpc>
                  <a:buSzPct val="100000"/>
                  <a:buFontTx/>
                  <a:buChar char="•"/>
                </a:pPr>
                <a:r>
                  <a:rPr lang="en-US" sz="1400" b="1" dirty="0">
                    <a:solidFill>
                      <a:srgbClr val="444444"/>
                    </a:solidFill>
                    <a:ea typeface="Arial" pitchFamily="34" charset="-122"/>
                    <a:cs typeface="Arial" pitchFamily="34" charset="-120"/>
                  </a:rPr>
                  <a:t>Target: </a:t>
                </a:r>
                <a14:m>
                  <m:oMath xmlns:m="http://schemas.openxmlformats.org/officeDocument/2006/math">
                    <m:sSub>
                      <m:sSubPr>
                        <m:ctrlPr>
                          <a:rPr lang="en-US" sz="1400" b="1" i="1" smtClean="0">
                            <a:solidFill>
                              <a:srgbClr val="444444"/>
                            </a:solidFill>
                            <a:latin typeface="Cambria Math" panose="02040503050406030204" pitchFamily="18" charset="0"/>
                            <a:cs typeface="Arial" pitchFamily="34" charset="-120"/>
                          </a:rPr>
                        </m:ctrlPr>
                      </m:sSubPr>
                      <m:e>
                        <m:r>
                          <a:rPr lang="en-US" sz="1400" b="1" i="1" smtClean="0">
                            <a:solidFill>
                              <a:srgbClr val="444444"/>
                            </a:solidFill>
                            <a:latin typeface="Cambria Math" panose="02040503050406030204" pitchFamily="18" charset="0"/>
                            <a:cs typeface="Arial" pitchFamily="34" charset="-120"/>
                          </a:rPr>
                          <m:t>𝒀</m:t>
                        </m:r>
                      </m:e>
                      <m:sub>
                        <m:r>
                          <a:rPr lang="en-US" sz="1400" b="1" i="1" smtClean="0">
                            <a:solidFill>
                              <a:srgbClr val="444444"/>
                            </a:solidFill>
                            <a:latin typeface="Cambria Math" panose="02040503050406030204" pitchFamily="18" charset="0"/>
                            <a:cs typeface="Arial" pitchFamily="34" charset="-120"/>
                          </a:rPr>
                          <m:t>𝒕</m:t>
                        </m:r>
                        <m:r>
                          <a:rPr lang="en-US" sz="1400" b="1" i="1" smtClean="0">
                            <a:solidFill>
                              <a:srgbClr val="444444"/>
                            </a:solidFill>
                            <a:latin typeface="Cambria Math" panose="02040503050406030204" pitchFamily="18" charset="0"/>
                            <a:cs typeface="Arial" pitchFamily="34" charset="-120"/>
                          </a:rPr>
                          <m:t>+</m:t>
                        </m:r>
                        <m:r>
                          <a:rPr lang="en-US" sz="1400" b="1" i="1" smtClean="0">
                            <a:solidFill>
                              <a:srgbClr val="444444"/>
                            </a:solidFill>
                            <a:latin typeface="Cambria Math" panose="02040503050406030204" pitchFamily="18" charset="0"/>
                            <a:cs typeface="Arial" pitchFamily="34" charset="-120"/>
                          </a:rPr>
                          <m:t>𝟏</m:t>
                        </m:r>
                      </m:sub>
                    </m:sSub>
                    <m:r>
                      <a:rPr lang="en-US" sz="1400" b="1" i="1" smtClean="0">
                        <a:solidFill>
                          <a:srgbClr val="444444"/>
                        </a:solidFill>
                        <a:latin typeface="Cambria Math" panose="02040503050406030204" pitchFamily="18" charset="0"/>
                        <a:cs typeface="Arial" pitchFamily="34" charset="-120"/>
                      </a:rPr>
                      <m:t>=</m:t>
                    </m:r>
                    <m:r>
                      <m:rPr>
                        <m:sty m:val="p"/>
                      </m:rPr>
                      <a:rPr lang="en-US" sz="1400" b="1" i="1" smtClean="0">
                        <a:solidFill>
                          <a:srgbClr val="444444"/>
                        </a:solidFill>
                        <a:latin typeface="Cambria Math" panose="02040503050406030204" pitchFamily="18" charset="0"/>
                        <a:cs typeface="Arial" pitchFamily="34" charset="-120"/>
                      </a:rPr>
                      <m:t>ln</m:t>
                    </m:r>
                    <m:r>
                      <a:rPr lang="en-US" sz="1400" b="1" i="1" smtClean="0">
                        <a:solidFill>
                          <a:srgbClr val="444444"/>
                        </a:solidFill>
                        <a:latin typeface="Cambria Math" panose="02040503050406030204" pitchFamily="18" charset="0"/>
                        <a:cs typeface="Arial" pitchFamily="34" charset="-120"/>
                      </a:rPr>
                      <m:t>(</m:t>
                    </m:r>
                    <m:sSub>
                      <m:sSubPr>
                        <m:ctrlPr>
                          <a:rPr lang="en-US" sz="1400" b="1" i="1">
                            <a:solidFill>
                              <a:srgbClr val="444444"/>
                            </a:solidFill>
                            <a:latin typeface="Cambria Math" panose="02040503050406030204" pitchFamily="18" charset="0"/>
                            <a:cs typeface="Arial" pitchFamily="34" charset="-120"/>
                          </a:rPr>
                        </m:ctrlPr>
                      </m:sSubPr>
                      <m:e>
                        <m:r>
                          <m:rPr>
                            <m:sty m:val="p"/>
                          </m:rPr>
                          <a:rPr lang="en-US" sz="1400" b="1" i="1" smtClean="0">
                            <a:solidFill>
                              <a:srgbClr val="444444"/>
                            </a:solidFill>
                            <a:latin typeface="Cambria Math" panose="02040503050406030204" pitchFamily="18" charset="0"/>
                            <a:cs typeface="Arial" pitchFamily="34" charset="-120"/>
                          </a:rPr>
                          <m:t>P</m:t>
                        </m:r>
                      </m:e>
                      <m:sub>
                        <m:r>
                          <a:rPr lang="en-US" sz="1400" b="1" i="1">
                            <a:solidFill>
                              <a:srgbClr val="444444"/>
                            </a:solidFill>
                            <a:latin typeface="Cambria Math" panose="02040503050406030204" pitchFamily="18" charset="0"/>
                            <a:cs typeface="Arial" pitchFamily="34" charset="-120"/>
                          </a:rPr>
                          <m:t>𝒕</m:t>
                        </m:r>
                        <m:r>
                          <a:rPr lang="en-US" sz="1400" b="1" i="1">
                            <a:solidFill>
                              <a:srgbClr val="444444"/>
                            </a:solidFill>
                            <a:latin typeface="Cambria Math" panose="02040503050406030204" pitchFamily="18" charset="0"/>
                            <a:cs typeface="Arial" pitchFamily="34" charset="-120"/>
                          </a:rPr>
                          <m:t>+</m:t>
                        </m:r>
                        <m:r>
                          <a:rPr lang="en-US" sz="1400" b="1" i="1">
                            <a:solidFill>
                              <a:srgbClr val="444444"/>
                            </a:solidFill>
                            <a:latin typeface="Cambria Math" panose="02040503050406030204" pitchFamily="18" charset="0"/>
                            <a:cs typeface="Arial" pitchFamily="34" charset="-120"/>
                          </a:rPr>
                          <m:t>𝟏</m:t>
                        </m:r>
                      </m:sub>
                    </m:sSub>
                    <m:r>
                      <a:rPr lang="en-US" sz="1400" b="1" i="1" smtClean="0">
                        <a:solidFill>
                          <a:srgbClr val="444444"/>
                        </a:solidFill>
                        <a:latin typeface="Cambria Math" panose="02040503050406030204" pitchFamily="18" charset="0"/>
                        <a:cs typeface="Arial" pitchFamily="34" charset="-120"/>
                      </a:rPr>
                      <m:t>) –</m:t>
                    </m:r>
                    <m:r>
                      <m:rPr>
                        <m:sty m:val="p"/>
                      </m:rPr>
                      <a:rPr lang="en-US" sz="1400" b="1" i="1">
                        <a:solidFill>
                          <a:srgbClr val="444444"/>
                        </a:solidFill>
                        <a:latin typeface="Cambria Math" panose="02040503050406030204" pitchFamily="18" charset="0"/>
                        <a:cs typeface="Arial" pitchFamily="34" charset="-120"/>
                      </a:rPr>
                      <m:t>ln</m:t>
                    </m:r>
                    <m:r>
                      <a:rPr lang="en-US" sz="1400" b="1" i="1">
                        <a:solidFill>
                          <a:srgbClr val="444444"/>
                        </a:solidFill>
                        <a:latin typeface="Cambria Math" panose="02040503050406030204" pitchFamily="18" charset="0"/>
                        <a:cs typeface="Arial" pitchFamily="34" charset="-120"/>
                      </a:rPr>
                      <m:t>(</m:t>
                    </m:r>
                    <m:sSub>
                      <m:sSubPr>
                        <m:ctrlPr>
                          <a:rPr lang="en-US" sz="1400" b="1" i="1">
                            <a:solidFill>
                              <a:srgbClr val="444444"/>
                            </a:solidFill>
                            <a:latin typeface="Cambria Math" panose="02040503050406030204" pitchFamily="18" charset="0"/>
                            <a:cs typeface="Arial" pitchFamily="34" charset="-120"/>
                          </a:rPr>
                        </m:ctrlPr>
                      </m:sSubPr>
                      <m:e>
                        <m:r>
                          <m:rPr>
                            <m:sty m:val="p"/>
                          </m:rPr>
                          <a:rPr lang="en-US" sz="1400" b="1" i="1">
                            <a:solidFill>
                              <a:srgbClr val="444444"/>
                            </a:solidFill>
                            <a:latin typeface="Cambria Math" panose="02040503050406030204" pitchFamily="18" charset="0"/>
                            <a:cs typeface="Arial" pitchFamily="34" charset="-120"/>
                          </a:rPr>
                          <m:t>P</m:t>
                        </m:r>
                      </m:e>
                      <m:sub>
                        <m:r>
                          <a:rPr lang="en-US" sz="1400" b="1" i="1">
                            <a:solidFill>
                              <a:srgbClr val="444444"/>
                            </a:solidFill>
                            <a:latin typeface="Cambria Math" panose="02040503050406030204" pitchFamily="18" charset="0"/>
                            <a:cs typeface="Arial" pitchFamily="34" charset="-120"/>
                          </a:rPr>
                          <m:t>𝒕</m:t>
                        </m:r>
                      </m:sub>
                    </m:sSub>
                    <m:r>
                      <a:rPr lang="en-US" sz="1400" b="1" i="1">
                        <a:solidFill>
                          <a:srgbClr val="444444"/>
                        </a:solidFill>
                        <a:latin typeface="Cambria Math" panose="02040503050406030204" pitchFamily="18" charset="0"/>
                        <a:cs typeface="Arial" pitchFamily="34" charset="-120"/>
                      </a:rPr>
                      <m:t>)</m:t>
                    </m:r>
                  </m:oMath>
                </a14:m>
                <a:r>
                  <a:rPr lang="en-US" sz="1400" b="1" dirty="0">
                    <a:solidFill>
                      <a:srgbClr val="444444"/>
                    </a:solidFill>
                    <a:ea typeface="Arial" pitchFamily="34" charset="-122"/>
                    <a:cs typeface="Arial" pitchFamily="34" charset="-120"/>
                  </a:rPr>
                  <a:t> </a:t>
                </a:r>
                <a:r>
                  <a:rPr lang="en-US" sz="1400" dirty="0">
                    <a:solidFill>
                      <a:srgbClr val="444444"/>
                    </a:solidFill>
                    <a:ea typeface="Arial" pitchFamily="34" charset="-122"/>
                    <a:cs typeface="Arial" pitchFamily="34" charset="-120"/>
                  </a:rPr>
                  <a:t>(Stationarity &amp; Magnitude).</a:t>
                </a:r>
              </a:p>
            </p:txBody>
          </p:sp>
        </mc:Choice>
        <mc:Fallback xmlns="">
          <p:sp>
            <p:nvSpPr>
              <p:cNvPr id="4" name="Text 2">
                <a:extLst>
                  <a:ext uri="{FF2B5EF4-FFF2-40B4-BE49-F238E27FC236}">
                    <a16:creationId xmlns:a16="http://schemas.microsoft.com/office/drawing/2014/main" id="{E64E94B0-2CC2-C061-1A78-094848AC36DB}"/>
                  </a:ext>
                </a:extLst>
              </p:cNvPr>
              <p:cNvSpPr>
                <a:spLocks noRot="1" noChangeAspect="1" noMove="1" noResize="1" noEditPoints="1" noAdjustHandles="1" noChangeArrowheads="1" noChangeShapeType="1" noTextEdit="1"/>
              </p:cNvSpPr>
              <p:nvPr/>
            </p:nvSpPr>
            <p:spPr>
              <a:xfrm>
                <a:off x="914400" y="1541980"/>
                <a:ext cx="7772400" cy="1097280"/>
              </a:xfrm>
              <a:prstGeom prst="rect">
                <a:avLst/>
              </a:prstGeom>
              <a:blipFill>
                <a:blip r:embed="rId3"/>
                <a:stretch>
                  <a:fillRect l="-327"/>
                </a:stretch>
              </a:blipFill>
              <a:ln/>
            </p:spPr>
            <p:txBody>
              <a:bodyPr/>
              <a:lstStyle/>
              <a:p>
                <a:r>
                  <a:rPr lang="he-IL">
                    <a:noFill/>
                  </a:rPr>
                  <a:t> </a:t>
                </a:r>
              </a:p>
            </p:txBody>
          </p:sp>
        </mc:Fallback>
      </mc:AlternateContent>
      <p:sp>
        <p:nvSpPr>
          <p:cNvPr id="5" name="Text 3">
            <a:extLst>
              <a:ext uri="{FF2B5EF4-FFF2-40B4-BE49-F238E27FC236}">
                <a16:creationId xmlns:a16="http://schemas.microsoft.com/office/drawing/2014/main" id="{6EC299A5-34A5-CA4C-A557-11849A0770EB}"/>
              </a:ext>
            </a:extLst>
          </p:cNvPr>
          <p:cNvSpPr/>
          <p:nvPr/>
        </p:nvSpPr>
        <p:spPr>
          <a:xfrm>
            <a:off x="457200" y="2593540"/>
            <a:ext cx="8229600" cy="457200"/>
          </a:xfrm>
          <a:prstGeom prst="rect">
            <a:avLst/>
          </a:prstGeom>
          <a:noFill/>
          <a:ln/>
        </p:spPr>
        <p:txBody>
          <a:bodyPr wrap="square" rtlCol="0" anchor="ctr"/>
          <a:lstStyle/>
          <a:p>
            <a:pPr marL="342900" indent="-342900">
              <a:buSzPct val="100000"/>
              <a:buChar char="•"/>
            </a:pPr>
            <a:r>
              <a:rPr lang="en-US" b="1" dirty="0">
                <a:solidFill>
                  <a:srgbClr val="222222"/>
                </a:solidFill>
                <a:ea typeface="Arial" pitchFamily="34" charset="-122"/>
                <a:cs typeface="Arial" pitchFamily="34" charset="-120"/>
              </a:rPr>
              <a:t>Feature Space &amp; Input Structure</a:t>
            </a:r>
            <a:endParaRPr lang="en-US" dirty="0"/>
          </a:p>
        </p:txBody>
      </p:sp>
      <p:sp>
        <p:nvSpPr>
          <p:cNvPr id="6" name="Text 4">
            <a:extLst>
              <a:ext uri="{FF2B5EF4-FFF2-40B4-BE49-F238E27FC236}">
                <a16:creationId xmlns:a16="http://schemas.microsoft.com/office/drawing/2014/main" id="{7677E7FE-35C1-9764-6D80-5712617E444B}"/>
              </a:ext>
            </a:extLst>
          </p:cNvPr>
          <p:cNvSpPr/>
          <p:nvPr/>
        </p:nvSpPr>
        <p:spPr>
          <a:xfrm>
            <a:off x="914400" y="2822140"/>
            <a:ext cx="7772400" cy="1097280"/>
          </a:xfrm>
          <a:prstGeom prst="rect">
            <a:avLst/>
          </a:prstGeom>
          <a:noFill/>
          <a:ln/>
        </p:spPr>
        <p:txBody>
          <a:bodyPr wrap="square" rtlCol="0" anchor="ctr"/>
          <a:lstStyle/>
          <a:p>
            <a:pPr marL="254000" indent="-254000">
              <a:lnSpc>
                <a:spcPts val="2400"/>
              </a:lnSpc>
              <a:buSzPct val="100000"/>
              <a:buChar char="•"/>
            </a:pPr>
            <a:r>
              <a:rPr lang="en-US" sz="1400" b="1" dirty="0">
                <a:solidFill>
                  <a:srgbClr val="444444"/>
                </a:solidFill>
                <a:ea typeface="Arial" pitchFamily="34" charset="-122"/>
                <a:cs typeface="Arial" pitchFamily="34" charset="-120"/>
              </a:rPr>
              <a:t>Exogenous: </a:t>
            </a:r>
            <a:r>
              <a:rPr lang="en-US" sz="1400" dirty="0" err="1">
                <a:solidFill>
                  <a:srgbClr val="444444"/>
                </a:solidFill>
                <a:ea typeface="Arial" pitchFamily="34" charset="-122"/>
                <a:cs typeface="Arial" pitchFamily="34" charset="-120"/>
              </a:rPr>
              <a:t>FinBERT</a:t>
            </a:r>
            <a:r>
              <a:rPr lang="en-US" sz="1400" dirty="0">
                <a:solidFill>
                  <a:srgbClr val="444444"/>
                </a:solidFill>
                <a:ea typeface="Arial" pitchFamily="34" charset="-122"/>
                <a:cs typeface="Arial" pitchFamily="34" charset="-120"/>
              </a:rPr>
              <a:t> Sentiment (Stratified) + VIX + Market Index.</a:t>
            </a:r>
            <a:endParaRPr lang="he-IL" sz="1400" dirty="0"/>
          </a:p>
          <a:p>
            <a:pPr marL="254000" indent="-254000">
              <a:lnSpc>
                <a:spcPts val="2400"/>
              </a:lnSpc>
              <a:buSzPct val="100000"/>
              <a:buChar char="•"/>
            </a:pPr>
            <a:r>
              <a:rPr lang="en-US" sz="1400" b="1" dirty="0">
                <a:solidFill>
                  <a:srgbClr val="444444"/>
                </a:solidFill>
                <a:ea typeface="Arial" pitchFamily="34" charset="-122"/>
                <a:cs typeface="Arial" pitchFamily="34" charset="-120"/>
              </a:rPr>
              <a:t>Temporal Logic: </a:t>
            </a:r>
            <a:r>
              <a:rPr lang="en-US" sz="1400" dirty="0">
                <a:solidFill>
                  <a:srgbClr val="444444"/>
                </a:solidFill>
                <a:ea typeface="Arial" pitchFamily="34" charset="-122"/>
                <a:cs typeface="Arial" pitchFamily="34" charset="-120"/>
              </a:rPr>
              <a:t>Lagged Features (Windowing) to capture trends.</a:t>
            </a:r>
            <a:endParaRPr lang="en-US" sz="1400" dirty="0"/>
          </a:p>
          <a:p>
            <a:pPr marL="254000" indent="-254000">
              <a:lnSpc>
                <a:spcPts val="2800"/>
              </a:lnSpc>
              <a:buSzPct val="100000"/>
              <a:buChar char="•"/>
            </a:pPr>
            <a:endParaRPr lang="en-US" sz="1400" dirty="0"/>
          </a:p>
        </p:txBody>
      </p:sp>
      <p:sp>
        <p:nvSpPr>
          <p:cNvPr id="7" name="Text 5">
            <a:extLst>
              <a:ext uri="{FF2B5EF4-FFF2-40B4-BE49-F238E27FC236}">
                <a16:creationId xmlns:a16="http://schemas.microsoft.com/office/drawing/2014/main" id="{962663E7-FF96-FDA8-C369-5E33ECE181EC}"/>
              </a:ext>
            </a:extLst>
          </p:cNvPr>
          <p:cNvSpPr/>
          <p:nvPr/>
        </p:nvSpPr>
        <p:spPr>
          <a:xfrm>
            <a:off x="457200" y="3690820"/>
            <a:ext cx="8229600" cy="457200"/>
          </a:xfrm>
          <a:prstGeom prst="rect">
            <a:avLst/>
          </a:prstGeom>
          <a:noFill/>
          <a:ln/>
        </p:spPr>
        <p:txBody>
          <a:bodyPr wrap="square" rtlCol="0" anchor="ctr"/>
          <a:lstStyle/>
          <a:p>
            <a:pPr marL="342900" indent="-342900">
              <a:buSzPct val="100000"/>
              <a:buChar char="•"/>
            </a:pPr>
            <a:r>
              <a:rPr lang="en-US" b="1" dirty="0">
                <a:solidFill>
                  <a:srgbClr val="222222"/>
                </a:solidFill>
                <a:ea typeface="Arial" pitchFamily="34" charset="-122"/>
                <a:cs typeface="Arial" pitchFamily="34" charset="-120"/>
              </a:rPr>
              <a:t>Evaluation Strategy</a:t>
            </a:r>
            <a:endParaRPr lang="en-US" dirty="0"/>
          </a:p>
        </p:txBody>
      </p:sp>
      <p:sp>
        <p:nvSpPr>
          <p:cNvPr id="8" name="Text 6">
            <a:extLst>
              <a:ext uri="{FF2B5EF4-FFF2-40B4-BE49-F238E27FC236}">
                <a16:creationId xmlns:a16="http://schemas.microsoft.com/office/drawing/2014/main" id="{CBB30C4D-33FA-EF5B-A2C1-D66045BB414D}"/>
              </a:ext>
            </a:extLst>
          </p:cNvPr>
          <p:cNvSpPr/>
          <p:nvPr/>
        </p:nvSpPr>
        <p:spPr>
          <a:xfrm>
            <a:off x="914400" y="4033720"/>
            <a:ext cx="7772400" cy="914400"/>
          </a:xfrm>
          <a:prstGeom prst="rect">
            <a:avLst/>
          </a:prstGeom>
          <a:noFill/>
          <a:ln/>
        </p:spPr>
        <p:txBody>
          <a:bodyPr wrap="square" rtlCol="0" anchor="ctr"/>
          <a:lstStyle/>
          <a:p>
            <a:pPr marL="254000" indent="-254000">
              <a:lnSpc>
                <a:spcPts val="2400"/>
              </a:lnSpc>
              <a:buSzPct val="100000"/>
              <a:buChar char="•"/>
            </a:pPr>
            <a:r>
              <a:rPr lang="en-US" sz="1400" b="1" dirty="0">
                <a:solidFill>
                  <a:srgbClr val="444444"/>
                </a:solidFill>
                <a:ea typeface="Arial" pitchFamily="34" charset="-122"/>
                <a:cs typeface="Arial" pitchFamily="34" charset="-120"/>
              </a:rPr>
              <a:t>Validation: </a:t>
            </a:r>
            <a:r>
              <a:rPr lang="en-US" sz="1400" dirty="0">
                <a:solidFill>
                  <a:srgbClr val="444444"/>
                </a:solidFill>
                <a:ea typeface="Arial" pitchFamily="34" charset="-122"/>
                <a:cs typeface="Arial" pitchFamily="34" charset="-120"/>
              </a:rPr>
              <a:t>Strict Temporal Split (No Look-Ahead Bias).</a:t>
            </a:r>
            <a:endParaRPr lang="he-IL" sz="1400" dirty="0"/>
          </a:p>
          <a:p>
            <a:pPr marL="254000" indent="-254000">
              <a:lnSpc>
                <a:spcPts val="2400"/>
              </a:lnSpc>
              <a:buSzPct val="100000"/>
              <a:buChar char="•"/>
            </a:pPr>
            <a:r>
              <a:rPr lang="en-US" sz="1400" b="1" dirty="0">
                <a:solidFill>
                  <a:srgbClr val="444444"/>
                </a:solidFill>
                <a:ea typeface="Arial" pitchFamily="34" charset="-122"/>
                <a:cs typeface="Arial" pitchFamily="34" charset="-120"/>
              </a:rPr>
              <a:t>Metrics: </a:t>
            </a:r>
            <a:r>
              <a:rPr lang="en-US" sz="1400" dirty="0">
                <a:solidFill>
                  <a:srgbClr val="444444"/>
                </a:solidFill>
                <a:ea typeface="Arial" pitchFamily="34" charset="-122"/>
                <a:cs typeface="Arial" pitchFamily="34" charset="-120"/>
              </a:rPr>
              <a:t>MSE (Stat), Sharpe Ratio (Fin), Directional Accuracy (Util).</a:t>
            </a:r>
            <a:endParaRPr lang="en-US" sz="1400" dirty="0"/>
          </a:p>
        </p:txBody>
      </p:sp>
      <p:pic>
        <p:nvPicPr>
          <p:cNvPr id="12" name="תמונה 11">
            <a:extLst>
              <a:ext uri="{FF2B5EF4-FFF2-40B4-BE49-F238E27FC236}">
                <a16:creationId xmlns:a16="http://schemas.microsoft.com/office/drawing/2014/main" id="{F676302D-D326-0C11-B20B-1E5DF32072EF}"/>
              </a:ext>
            </a:extLst>
          </p:cNvPr>
          <p:cNvPicPr>
            <a:picLocks noChangeAspect="1"/>
          </p:cNvPicPr>
          <p:nvPr/>
        </p:nvPicPr>
        <p:blipFill>
          <a:blip r:embed="rId4"/>
          <a:stretch>
            <a:fillRect/>
          </a:stretch>
        </p:blipFill>
        <p:spPr>
          <a:xfrm>
            <a:off x="6839884" y="1999180"/>
            <a:ext cx="2197100" cy="1562711"/>
          </a:xfrm>
          <a:prstGeom prst="rect">
            <a:avLst/>
          </a:prstGeom>
        </p:spPr>
      </p:pic>
      <p:pic>
        <p:nvPicPr>
          <p:cNvPr id="13" name="תמונה 12">
            <a:extLst>
              <a:ext uri="{FF2B5EF4-FFF2-40B4-BE49-F238E27FC236}">
                <a16:creationId xmlns:a16="http://schemas.microsoft.com/office/drawing/2014/main" id="{4C25E8D1-F3AB-F371-A87F-4AE059F43FBA}"/>
              </a:ext>
            </a:extLst>
          </p:cNvPr>
          <p:cNvPicPr>
            <a:picLocks noChangeAspect="1"/>
          </p:cNvPicPr>
          <p:nvPr/>
        </p:nvPicPr>
        <p:blipFill>
          <a:blip r:embed="rId5"/>
          <a:stretch>
            <a:fillRect/>
          </a:stretch>
        </p:blipFill>
        <p:spPr>
          <a:xfrm>
            <a:off x="6858446" y="3690820"/>
            <a:ext cx="2178538" cy="1167558"/>
          </a:xfrm>
          <a:prstGeom prst="rect">
            <a:avLst/>
          </a:prstGeom>
        </p:spPr>
      </p:pic>
      <p:pic>
        <p:nvPicPr>
          <p:cNvPr id="11" name="תמונה 10">
            <a:hlinkClick r:id="" action="ppaction://hlinkshowjump?jump=firstslide"/>
            <a:extLst>
              <a:ext uri="{FF2B5EF4-FFF2-40B4-BE49-F238E27FC236}">
                <a16:creationId xmlns:a16="http://schemas.microsoft.com/office/drawing/2014/main" id="{A197DE9D-E67C-7D76-DA27-9E509A90436B}"/>
              </a:ext>
            </a:extLst>
          </p:cNvPr>
          <p:cNvPicPr>
            <a:picLocks noChangeAspect="1"/>
          </p:cNvPicPr>
          <p:nvPr/>
        </p:nvPicPr>
        <p:blipFill>
          <a:blip r:embed="rId6"/>
          <a:stretch>
            <a:fillRect/>
          </a:stretch>
        </p:blipFill>
        <p:spPr>
          <a:xfrm>
            <a:off x="784840" y="1224080"/>
            <a:ext cx="7574317" cy="3740300"/>
          </a:xfrm>
          <a:prstGeom prst="rect">
            <a:avLst/>
          </a:prstGeom>
        </p:spPr>
      </p:pic>
    </p:spTree>
    <p:extLst>
      <p:ext uri="{BB962C8B-B14F-4D97-AF65-F5344CB8AC3E}">
        <p14:creationId xmlns:p14="http://schemas.microsoft.com/office/powerpoint/2010/main" val="317930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5FAB2E3-3CD7-DE47-DE3F-2BE91C52011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6C88D06-F9B1-486A-954A-8BF31BE6AF0D}"/>
              </a:ext>
            </a:extLst>
          </p:cNvPr>
          <p:cNvSpPr/>
          <p:nvPr/>
        </p:nvSpPr>
        <p:spPr>
          <a:xfrm>
            <a:off x="869461" y="216100"/>
            <a:ext cx="7405077" cy="914400"/>
          </a:xfrm>
          <a:prstGeom prst="rect">
            <a:avLst/>
          </a:prstGeom>
          <a:noFill/>
          <a:ln/>
        </p:spPr>
        <p:txBody>
          <a:bodyPr wrap="square" rtlCol="0" anchor="ctr"/>
          <a:lstStyle/>
          <a:p>
            <a:pPr algn="ctr"/>
            <a:r>
              <a:rPr lang="en-US" sz="3200" b="1" dirty="0">
                <a:solidFill>
                  <a:srgbClr val="003366"/>
                </a:solidFill>
                <a:ea typeface="Arial" pitchFamily="34" charset="-122"/>
                <a:cs typeface="Arial" pitchFamily="34" charset="-120"/>
              </a:rPr>
              <a:t>Methodology: Formulation, Features &amp; Evaluation</a:t>
            </a:r>
            <a:endParaRPr lang="en-US" sz="3200" dirty="0"/>
          </a:p>
        </p:txBody>
      </p:sp>
      <p:sp>
        <p:nvSpPr>
          <p:cNvPr id="3" name="Text 1">
            <a:extLst>
              <a:ext uri="{FF2B5EF4-FFF2-40B4-BE49-F238E27FC236}">
                <a16:creationId xmlns:a16="http://schemas.microsoft.com/office/drawing/2014/main" id="{CC0A4022-1949-7557-0C11-D77764A2A191}"/>
              </a:ext>
            </a:extLst>
          </p:cNvPr>
          <p:cNvSpPr/>
          <p:nvPr/>
        </p:nvSpPr>
        <p:spPr>
          <a:xfrm>
            <a:off x="457200" y="1313380"/>
            <a:ext cx="8229600" cy="457200"/>
          </a:xfrm>
          <a:prstGeom prst="rect">
            <a:avLst/>
          </a:prstGeom>
          <a:noFill/>
          <a:ln/>
        </p:spPr>
        <p:txBody>
          <a:bodyPr wrap="square" rtlCol="0" anchor="ctr"/>
          <a:lstStyle/>
          <a:p>
            <a:pPr marL="342900" indent="-342900">
              <a:buSzPct val="100000"/>
              <a:buChar char="•"/>
            </a:pPr>
            <a:r>
              <a:rPr lang="en-US" b="1" dirty="0">
                <a:solidFill>
                  <a:srgbClr val="222222"/>
                </a:solidFill>
                <a:ea typeface="Arial" pitchFamily="34" charset="-122"/>
                <a:cs typeface="Arial" pitchFamily="34" charset="-120"/>
              </a:rPr>
              <a:t>Task Definition: Log-Returns Regression</a:t>
            </a:r>
            <a:endParaRPr lang="en-US" dirty="0"/>
          </a:p>
        </p:txBody>
      </p:sp>
      <mc:AlternateContent xmlns:mc="http://schemas.openxmlformats.org/markup-compatibility/2006" xmlns:a14="http://schemas.microsoft.com/office/drawing/2010/main">
        <mc:Choice Requires="a14">
          <p:sp>
            <p:nvSpPr>
              <p:cNvPr id="4" name="Text 2">
                <a:extLst>
                  <a:ext uri="{FF2B5EF4-FFF2-40B4-BE49-F238E27FC236}">
                    <a16:creationId xmlns:a16="http://schemas.microsoft.com/office/drawing/2014/main" id="{CF84AA95-F292-02DF-4729-104FDA981132}"/>
                  </a:ext>
                </a:extLst>
              </p:cNvPr>
              <p:cNvSpPr/>
              <p:nvPr/>
            </p:nvSpPr>
            <p:spPr>
              <a:xfrm>
                <a:off x="914400" y="1541980"/>
                <a:ext cx="7772400" cy="1097280"/>
              </a:xfrm>
              <a:prstGeom prst="rect">
                <a:avLst/>
              </a:prstGeom>
              <a:noFill/>
              <a:ln/>
            </p:spPr>
            <p:txBody>
              <a:bodyPr wrap="square" rtlCol="0" anchor="ctr"/>
              <a:lstStyle/>
              <a:p>
                <a:pPr marL="254000" indent="-254000">
                  <a:lnSpc>
                    <a:spcPts val="2800"/>
                  </a:lnSpc>
                  <a:buSzPct val="100000"/>
                  <a:buChar char="•"/>
                </a:pPr>
                <a:r>
                  <a:rPr lang="en-US" sz="1400" dirty="0">
                    <a:solidFill>
                      <a:srgbClr val="444444"/>
                    </a:solidFill>
                    <a:ea typeface="Arial" pitchFamily="34" charset="-122"/>
                    <a:cs typeface="Arial" pitchFamily="34" charset="-120"/>
                  </a:rPr>
                  <a:t>Shifted from binary classification to </a:t>
                </a:r>
                <a:r>
                  <a:rPr lang="en-US" sz="1400" b="1" dirty="0">
                    <a:solidFill>
                      <a:srgbClr val="444444"/>
                    </a:solidFill>
                    <a:ea typeface="Arial" pitchFamily="34" charset="-122"/>
                    <a:cs typeface="Arial" pitchFamily="34" charset="-120"/>
                  </a:rPr>
                  <a:t>Regression (Daily Log-Returns).</a:t>
                </a:r>
                <a:endParaRPr lang="he-IL" sz="1400" b="1" dirty="0">
                  <a:solidFill>
                    <a:srgbClr val="444444"/>
                  </a:solidFill>
                  <a:ea typeface="Arial" pitchFamily="34" charset="-122"/>
                  <a:cs typeface="Arial" pitchFamily="34" charset="-120"/>
                </a:endParaRPr>
              </a:p>
              <a:p>
                <a:pPr marL="254000" indent="-254000">
                  <a:lnSpc>
                    <a:spcPts val="2800"/>
                  </a:lnSpc>
                  <a:buSzPct val="100000"/>
                  <a:buFontTx/>
                  <a:buChar char="•"/>
                </a:pPr>
                <a:r>
                  <a:rPr lang="en-US" sz="1400" b="1" dirty="0">
                    <a:solidFill>
                      <a:srgbClr val="444444"/>
                    </a:solidFill>
                    <a:ea typeface="Arial" pitchFamily="34" charset="-122"/>
                    <a:cs typeface="Arial" pitchFamily="34" charset="-120"/>
                  </a:rPr>
                  <a:t>Target: </a:t>
                </a:r>
                <a14:m>
                  <m:oMath xmlns:m="http://schemas.openxmlformats.org/officeDocument/2006/math">
                    <m:sSub>
                      <m:sSubPr>
                        <m:ctrlPr>
                          <a:rPr lang="en-US" sz="1400" b="1" i="1" smtClean="0">
                            <a:solidFill>
                              <a:srgbClr val="444444"/>
                            </a:solidFill>
                            <a:latin typeface="Cambria Math" panose="02040503050406030204" pitchFamily="18" charset="0"/>
                            <a:cs typeface="Arial" pitchFamily="34" charset="-120"/>
                          </a:rPr>
                        </m:ctrlPr>
                      </m:sSubPr>
                      <m:e>
                        <m:r>
                          <a:rPr lang="en-US" sz="1400" b="1" i="1" smtClean="0">
                            <a:solidFill>
                              <a:srgbClr val="444444"/>
                            </a:solidFill>
                            <a:latin typeface="Cambria Math" panose="02040503050406030204" pitchFamily="18" charset="0"/>
                            <a:cs typeface="Arial" pitchFamily="34" charset="-120"/>
                          </a:rPr>
                          <m:t>𝒀</m:t>
                        </m:r>
                      </m:e>
                      <m:sub>
                        <m:r>
                          <a:rPr lang="en-US" sz="1400" b="1" i="1" smtClean="0">
                            <a:solidFill>
                              <a:srgbClr val="444444"/>
                            </a:solidFill>
                            <a:latin typeface="Cambria Math" panose="02040503050406030204" pitchFamily="18" charset="0"/>
                            <a:cs typeface="Arial" pitchFamily="34" charset="-120"/>
                          </a:rPr>
                          <m:t>𝒕</m:t>
                        </m:r>
                        <m:r>
                          <a:rPr lang="en-US" sz="1400" b="1" i="1" smtClean="0">
                            <a:solidFill>
                              <a:srgbClr val="444444"/>
                            </a:solidFill>
                            <a:latin typeface="Cambria Math" panose="02040503050406030204" pitchFamily="18" charset="0"/>
                            <a:cs typeface="Arial" pitchFamily="34" charset="-120"/>
                          </a:rPr>
                          <m:t>+</m:t>
                        </m:r>
                        <m:r>
                          <a:rPr lang="en-US" sz="1400" b="1" i="1" smtClean="0">
                            <a:solidFill>
                              <a:srgbClr val="444444"/>
                            </a:solidFill>
                            <a:latin typeface="Cambria Math" panose="02040503050406030204" pitchFamily="18" charset="0"/>
                            <a:cs typeface="Arial" pitchFamily="34" charset="-120"/>
                          </a:rPr>
                          <m:t>𝟏</m:t>
                        </m:r>
                      </m:sub>
                    </m:sSub>
                    <m:r>
                      <a:rPr lang="en-US" sz="1400" b="1" i="1" smtClean="0">
                        <a:solidFill>
                          <a:srgbClr val="444444"/>
                        </a:solidFill>
                        <a:latin typeface="Cambria Math" panose="02040503050406030204" pitchFamily="18" charset="0"/>
                        <a:cs typeface="Arial" pitchFamily="34" charset="-120"/>
                      </a:rPr>
                      <m:t>=</m:t>
                    </m:r>
                    <m:r>
                      <m:rPr>
                        <m:sty m:val="p"/>
                      </m:rPr>
                      <a:rPr lang="en-US" sz="1400" b="1" i="1" smtClean="0">
                        <a:solidFill>
                          <a:srgbClr val="444444"/>
                        </a:solidFill>
                        <a:latin typeface="Cambria Math" panose="02040503050406030204" pitchFamily="18" charset="0"/>
                        <a:cs typeface="Arial" pitchFamily="34" charset="-120"/>
                      </a:rPr>
                      <m:t>ln</m:t>
                    </m:r>
                    <m:r>
                      <a:rPr lang="en-US" sz="1400" b="1" i="1" smtClean="0">
                        <a:solidFill>
                          <a:srgbClr val="444444"/>
                        </a:solidFill>
                        <a:latin typeface="Cambria Math" panose="02040503050406030204" pitchFamily="18" charset="0"/>
                        <a:cs typeface="Arial" pitchFamily="34" charset="-120"/>
                      </a:rPr>
                      <m:t>(</m:t>
                    </m:r>
                    <m:sSub>
                      <m:sSubPr>
                        <m:ctrlPr>
                          <a:rPr lang="en-US" sz="1400" b="1" i="1">
                            <a:solidFill>
                              <a:srgbClr val="444444"/>
                            </a:solidFill>
                            <a:latin typeface="Cambria Math" panose="02040503050406030204" pitchFamily="18" charset="0"/>
                            <a:cs typeface="Arial" pitchFamily="34" charset="-120"/>
                          </a:rPr>
                        </m:ctrlPr>
                      </m:sSubPr>
                      <m:e>
                        <m:r>
                          <m:rPr>
                            <m:sty m:val="p"/>
                          </m:rPr>
                          <a:rPr lang="en-US" sz="1400" b="1" i="1" smtClean="0">
                            <a:solidFill>
                              <a:srgbClr val="444444"/>
                            </a:solidFill>
                            <a:latin typeface="Cambria Math" panose="02040503050406030204" pitchFamily="18" charset="0"/>
                            <a:cs typeface="Arial" pitchFamily="34" charset="-120"/>
                          </a:rPr>
                          <m:t>P</m:t>
                        </m:r>
                      </m:e>
                      <m:sub>
                        <m:r>
                          <a:rPr lang="en-US" sz="1400" b="1" i="1">
                            <a:solidFill>
                              <a:srgbClr val="444444"/>
                            </a:solidFill>
                            <a:latin typeface="Cambria Math" panose="02040503050406030204" pitchFamily="18" charset="0"/>
                            <a:cs typeface="Arial" pitchFamily="34" charset="-120"/>
                          </a:rPr>
                          <m:t>𝒕</m:t>
                        </m:r>
                        <m:r>
                          <a:rPr lang="en-US" sz="1400" b="1" i="1">
                            <a:solidFill>
                              <a:srgbClr val="444444"/>
                            </a:solidFill>
                            <a:latin typeface="Cambria Math" panose="02040503050406030204" pitchFamily="18" charset="0"/>
                            <a:cs typeface="Arial" pitchFamily="34" charset="-120"/>
                          </a:rPr>
                          <m:t>+</m:t>
                        </m:r>
                        <m:r>
                          <a:rPr lang="en-US" sz="1400" b="1" i="1">
                            <a:solidFill>
                              <a:srgbClr val="444444"/>
                            </a:solidFill>
                            <a:latin typeface="Cambria Math" panose="02040503050406030204" pitchFamily="18" charset="0"/>
                            <a:cs typeface="Arial" pitchFamily="34" charset="-120"/>
                          </a:rPr>
                          <m:t>𝟏</m:t>
                        </m:r>
                      </m:sub>
                    </m:sSub>
                    <m:r>
                      <a:rPr lang="en-US" sz="1400" b="1" i="1" smtClean="0">
                        <a:solidFill>
                          <a:srgbClr val="444444"/>
                        </a:solidFill>
                        <a:latin typeface="Cambria Math" panose="02040503050406030204" pitchFamily="18" charset="0"/>
                        <a:cs typeface="Arial" pitchFamily="34" charset="-120"/>
                      </a:rPr>
                      <m:t>) –</m:t>
                    </m:r>
                    <m:r>
                      <m:rPr>
                        <m:sty m:val="p"/>
                      </m:rPr>
                      <a:rPr lang="en-US" sz="1400" b="1" i="1">
                        <a:solidFill>
                          <a:srgbClr val="444444"/>
                        </a:solidFill>
                        <a:latin typeface="Cambria Math" panose="02040503050406030204" pitchFamily="18" charset="0"/>
                        <a:cs typeface="Arial" pitchFamily="34" charset="-120"/>
                      </a:rPr>
                      <m:t>ln</m:t>
                    </m:r>
                    <m:r>
                      <a:rPr lang="en-US" sz="1400" b="1" i="1">
                        <a:solidFill>
                          <a:srgbClr val="444444"/>
                        </a:solidFill>
                        <a:latin typeface="Cambria Math" panose="02040503050406030204" pitchFamily="18" charset="0"/>
                        <a:cs typeface="Arial" pitchFamily="34" charset="-120"/>
                      </a:rPr>
                      <m:t>(</m:t>
                    </m:r>
                    <m:sSub>
                      <m:sSubPr>
                        <m:ctrlPr>
                          <a:rPr lang="en-US" sz="1400" b="1" i="1">
                            <a:solidFill>
                              <a:srgbClr val="444444"/>
                            </a:solidFill>
                            <a:latin typeface="Cambria Math" panose="02040503050406030204" pitchFamily="18" charset="0"/>
                            <a:cs typeface="Arial" pitchFamily="34" charset="-120"/>
                          </a:rPr>
                        </m:ctrlPr>
                      </m:sSubPr>
                      <m:e>
                        <m:r>
                          <m:rPr>
                            <m:sty m:val="p"/>
                          </m:rPr>
                          <a:rPr lang="en-US" sz="1400" b="1" i="1">
                            <a:solidFill>
                              <a:srgbClr val="444444"/>
                            </a:solidFill>
                            <a:latin typeface="Cambria Math" panose="02040503050406030204" pitchFamily="18" charset="0"/>
                            <a:cs typeface="Arial" pitchFamily="34" charset="-120"/>
                          </a:rPr>
                          <m:t>P</m:t>
                        </m:r>
                      </m:e>
                      <m:sub>
                        <m:r>
                          <a:rPr lang="en-US" sz="1400" b="1" i="1">
                            <a:solidFill>
                              <a:srgbClr val="444444"/>
                            </a:solidFill>
                            <a:latin typeface="Cambria Math" panose="02040503050406030204" pitchFamily="18" charset="0"/>
                            <a:cs typeface="Arial" pitchFamily="34" charset="-120"/>
                          </a:rPr>
                          <m:t>𝒕</m:t>
                        </m:r>
                      </m:sub>
                    </m:sSub>
                    <m:r>
                      <a:rPr lang="en-US" sz="1400" b="1" i="1">
                        <a:solidFill>
                          <a:srgbClr val="444444"/>
                        </a:solidFill>
                        <a:latin typeface="Cambria Math" panose="02040503050406030204" pitchFamily="18" charset="0"/>
                        <a:cs typeface="Arial" pitchFamily="34" charset="-120"/>
                      </a:rPr>
                      <m:t>)</m:t>
                    </m:r>
                  </m:oMath>
                </a14:m>
                <a:r>
                  <a:rPr lang="en-US" sz="1400" b="1" dirty="0">
                    <a:solidFill>
                      <a:srgbClr val="444444"/>
                    </a:solidFill>
                    <a:ea typeface="Arial" pitchFamily="34" charset="-122"/>
                    <a:cs typeface="Arial" pitchFamily="34" charset="-120"/>
                  </a:rPr>
                  <a:t> </a:t>
                </a:r>
                <a:r>
                  <a:rPr lang="en-US" sz="1400" dirty="0">
                    <a:solidFill>
                      <a:srgbClr val="444444"/>
                    </a:solidFill>
                    <a:ea typeface="Arial" pitchFamily="34" charset="-122"/>
                    <a:cs typeface="Arial" pitchFamily="34" charset="-120"/>
                  </a:rPr>
                  <a:t>(Stationarity &amp; Magnitude).</a:t>
                </a:r>
              </a:p>
            </p:txBody>
          </p:sp>
        </mc:Choice>
        <mc:Fallback xmlns="">
          <p:sp>
            <p:nvSpPr>
              <p:cNvPr id="4" name="Text 2">
                <a:extLst>
                  <a:ext uri="{FF2B5EF4-FFF2-40B4-BE49-F238E27FC236}">
                    <a16:creationId xmlns:a16="http://schemas.microsoft.com/office/drawing/2014/main" id="{CF84AA95-F292-02DF-4729-104FDA981132}"/>
                  </a:ext>
                </a:extLst>
              </p:cNvPr>
              <p:cNvSpPr>
                <a:spLocks noRot="1" noChangeAspect="1" noMove="1" noResize="1" noEditPoints="1" noAdjustHandles="1" noChangeArrowheads="1" noChangeShapeType="1" noTextEdit="1"/>
              </p:cNvSpPr>
              <p:nvPr/>
            </p:nvSpPr>
            <p:spPr>
              <a:xfrm>
                <a:off x="914400" y="1541980"/>
                <a:ext cx="7772400" cy="1097280"/>
              </a:xfrm>
              <a:prstGeom prst="rect">
                <a:avLst/>
              </a:prstGeom>
              <a:blipFill>
                <a:blip r:embed="rId3"/>
                <a:stretch>
                  <a:fillRect l="-327"/>
                </a:stretch>
              </a:blipFill>
              <a:ln/>
            </p:spPr>
            <p:txBody>
              <a:bodyPr/>
              <a:lstStyle/>
              <a:p>
                <a:r>
                  <a:rPr lang="he-IL">
                    <a:noFill/>
                  </a:rPr>
                  <a:t> </a:t>
                </a:r>
              </a:p>
            </p:txBody>
          </p:sp>
        </mc:Fallback>
      </mc:AlternateContent>
      <p:sp>
        <p:nvSpPr>
          <p:cNvPr id="5" name="Text 3">
            <a:extLst>
              <a:ext uri="{FF2B5EF4-FFF2-40B4-BE49-F238E27FC236}">
                <a16:creationId xmlns:a16="http://schemas.microsoft.com/office/drawing/2014/main" id="{D6171BDC-F1F0-CA1A-EACB-DB55A588C07A}"/>
              </a:ext>
            </a:extLst>
          </p:cNvPr>
          <p:cNvSpPr/>
          <p:nvPr/>
        </p:nvSpPr>
        <p:spPr>
          <a:xfrm>
            <a:off x="457200" y="2593540"/>
            <a:ext cx="8229600" cy="457200"/>
          </a:xfrm>
          <a:prstGeom prst="rect">
            <a:avLst/>
          </a:prstGeom>
          <a:noFill/>
          <a:ln/>
        </p:spPr>
        <p:txBody>
          <a:bodyPr wrap="square" rtlCol="0" anchor="ctr"/>
          <a:lstStyle/>
          <a:p>
            <a:pPr marL="342900" indent="-342900">
              <a:buSzPct val="100000"/>
              <a:buChar char="•"/>
            </a:pPr>
            <a:r>
              <a:rPr lang="en-US" b="1" dirty="0">
                <a:solidFill>
                  <a:srgbClr val="222222"/>
                </a:solidFill>
                <a:ea typeface="Arial" pitchFamily="34" charset="-122"/>
                <a:cs typeface="Arial" pitchFamily="34" charset="-120"/>
              </a:rPr>
              <a:t>Feature Space &amp; Input Structure</a:t>
            </a:r>
            <a:endParaRPr lang="en-US" dirty="0"/>
          </a:p>
        </p:txBody>
      </p:sp>
      <p:sp>
        <p:nvSpPr>
          <p:cNvPr id="6" name="Text 4">
            <a:extLst>
              <a:ext uri="{FF2B5EF4-FFF2-40B4-BE49-F238E27FC236}">
                <a16:creationId xmlns:a16="http://schemas.microsoft.com/office/drawing/2014/main" id="{95D0FE8B-838F-FA2C-71BB-1FD298CC1FF6}"/>
              </a:ext>
            </a:extLst>
          </p:cNvPr>
          <p:cNvSpPr/>
          <p:nvPr/>
        </p:nvSpPr>
        <p:spPr>
          <a:xfrm>
            <a:off x="914400" y="2822140"/>
            <a:ext cx="7772400" cy="1097280"/>
          </a:xfrm>
          <a:prstGeom prst="rect">
            <a:avLst/>
          </a:prstGeom>
          <a:noFill/>
          <a:ln/>
        </p:spPr>
        <p:txBody>
          <a:bodyPr wrap="square" rtlCol="0" anchor="ctr"/>
          <a:lstStyle/>
          <a:p>
            <a:pPr marL="254000" indent="-254000">
              <a:lnSpc>
                <a:spcPts val="2400"/>
              </a:lnSpc>
              <a:buSzPct val="100000"/>
              <a:buChar char="•"/>
            </a:pPr>
            <a:r>
              <a:rPr lang="en-US" sz="1400" b="1" dirty="0">
                <a:solidFill>
                  <a:srgbClr val="444444"/>
                </a:solidFill>
                <a:ea typeface="Arial" pitchFamily="34" charset="-122"/>
                <a:cs typeface="Arial" pitchFamily="34" charset="-120"/>
              </a:rPr>
              <a:t>Exogenous: </a:t>
            </a:r>
            <a:r>
              <a:rPr lang="en-US" sz="1400" dirty="0" err="1">
                <a:solidFill>
                  <a:srgbClr val="444444"/>
                </a:solidFill>
                <a:ea typeface="Arial" pitchFamily="34" charset="-122"/>
                <a:cs typeface="Arial" pitchFamily="34" charset="-120"/>
              </a:rPr>
              <a:t>FinBERT</a:t>
            </a:r>
            <a:r>
              <a:rPr lang="en-US" sz="1400" dirty="0">
                <a:solidFill>
                  <a:srgbClr val="444444"/>
                </a:solidFill>
                <a:ea typeface="Arial" pitchFamily="34" charset="-122"/>
                <a:cs typeface="Arial" pitchFamily="34" charset="-120"/>
              </a:rPr>
              <a:t> Sentiment (Stratified) + VIX + Market Index.</a:t>
            </a:r>
            <a:endParaRPr lang="he-IL" sz="1400" dirty="0"/>
          </a:p>
          <a:p>
            <a:pPr marL="254000" indent="-254000">
              <a:lnSpc>
                <a:spcPts val="2400"/>
              </a:lnSpc>
              <a:buSzPct val="100000"/>
              <a:buChar char="•"/>
            </a:pPr>
            <a:r>
              <a:rPr lang="en-US" sz="1400" b="1" dirty="0">
                <a:solidFill>
                  <a:srgbClr val="444444"/>
                </a:solidFill>
                <a:ea typeface="Arial" pitchFamily="34" charset="-122"/>
                <a:cs typeface="Arial" pitchFamily="34" charset="-120"/>
              </a:rPr>
              <a:t>Temporal Logic: </a:t>
            </a:r>
            <a:r>
              <a:rPr lang="en-US" sz="1400" dirty="0">
                <a:solidFill>
                  <a:srgbClr val="444444"/>
                </a:solidFill>
                <a:ea typeface="Arial" pitchFamily="34" charset="-122"/>
                <a:cs typeface="Arial" pitchFamily="34" charset="-120"/>
              </a:rPr>
              <a:t>Lagged Features (Windowing) to capture trends.</a:t>
            </a:r>
            <a:endParaRPr lang="en-US" sz="1400" dirty="0"/>
          </a:p>
          <a:p>
            <a:pPr marL="254000" indent="-254000">
              <a:lnSpc>
                <a:spcPts val="2800"/>
              </a:lnSpc>
              <a:buSzPct val="100000"/>
              <a:buChar char="•"/>
            </a:pPr>
            <a:endParaRPr lang="en-US" sz="1400" dirty="0"/>
          </a:p>
        </p:txBody>
      </p:sp>
      <p:sp>
        <p:nvSpPr>
          <p:cNvPr id="7" name="Text 5">
            <a:extLst>
              <a:ext uri="{FF2B5EF4-FFF2-40B4-BE49-F238E27FC236}">
                <a16:creationId xmlns:a16="http://schemas.microsoft.com/office/drawing/2014/main" id="{F342A843-35C5-88EF-3053-146937CE6CFF}"/>
              </a:ext>
            </a:extLst>
          </p:cNvPr>
          <p:cNvSpPr/>
          <p:nvPr/>
        </p:nvSpPr>
        <p:spPr>
          <a:xfrm>
            <a:off x="457200" y="3690820"/>
            <a:ext cx="8229600" cy="457200"/>
          </a:xfrm>
          <a:prstGeom prst="rect">
            <a:avLst/>
          </a:prstGeom>
          <a:noFill/>
          <a:ln/>
        </p:spPr>
        <p:txBody>
          <a:bodyPr wrap="square" rtlCol="0" anchor="ctr"/>
          <a:lstStyle/>
          <a:p>
            <a:pPr marL="342900" indent="-342900">
              <a:buSzPct val="100000"/>
              <a:buChar char="•"/>
            </a:pPr>
            <a:r>
              <a:rPr lang="en-US" b="1" dirty="0">
                <a:solidFill>
                  <a:srgbClr val="222222"/>
                </a:solidFill>
                <a:ea typeface="Arial" pitchFamily="34" charset="-122"/>
                <a:cs typeface="Arial" pitchFamily="34" charset="-120"/>
              </a:rPr>
              <a:t>Evaluation Strategy</a:t>
            </a:r>
            <a:endParaRPr lang="en-US" dirty="0"/>
          </a:p>
        </p:txBody>
      </p:sp>
      <p:sp>
        <p:nvSpPr>
          <p:cNvPr id="8" name="Text 6">
            <a:extLst>
              <a:ext uri="{FF2B5EF4-FFF2-40B4-BE49-F238E27FC236}">
                <a16:creationId xmlns:a16="http://schemas.microsoft.com/office/drawing/2014/main" id="{580488CA-1EDB-6DA6-2E54-AAB210ACE122}"/>
              </a:ext>
            </a:extLst>
          </p:cNvPr>
          <p:cNvSpPr/>
          <p:nvPr/>
        </p:nvSpPr>
        <p:spPr>
          <a:xfrm>
            <a:off x="914400" y="4033720"/>
            <a:ext cx="7772400" cy="914400"/>
          </a:xfrm>
          <a:prstGeom prst="rect">
            <a:avLst/>
          </a:prstGeom>
          <a:noFill/>
          <a:ln/>
        </p:spPr>
        <p:txBody>
          <a:bodyPr wrap="square" rtlCol="0" anchor="ctr"/>
          <a:lstStyle/>
          <a:p>
            <a:pPr marL="254000" indent="-254000">
              <a:lnSpc>
                <a:spcPts val="2400"/>
              </a:lnSpc>
              <a:buSzPct val="100000"/>
              <a:buChar char="•"/>
            </a:pPr>
            <a:r>
              <a:rPr lang="en-US" sz="1400" b="1" dirty="0">
                <a:solidFill>
                  <a:srgbClr val="444444"/>
                </a:solidFill>
                <a:ea typeface="Arial" pitchFamily="34" charset="-122"/>
                <a:cs typeface="Arial" pitchFamily="34" charset="-120"/>
              </a:rPr>
              <a:t>Validation: </a:t>
            </a:r>
            <a:r>
              <a:rPr lang="en-US" sz="1400" dirty="0">
                <a:solidFill>
                  <a:srgbClr val="444444"/>
                </a:solidFill>
                <a:ea typeface="Arial" pitchFamily="34" charset="-122"/>
                <a:cs typeface="Arial" pitchFamily="34" charset="-120"/>
              </a:rPr>
              <a:t>Strict Temporal Split (No Look-Ahead Bias).</a:t>
            </a:r>
            <a:endParaRPr lang="he-IL" sz="1400" dirty="0"/>
          </a:p>
          <a:p>
            <a:pPr marL="254000" indent="-254000">
              <a:lnSpc>
                <a:spcPts val="2400"/>
              </a:lnSpc>
              <a:buSzPct val="100000"/>
              <a:buChar char="•"/>
            </a:pPr>
            <a:r>
              <a:rPr lang="en-US" sz="1400" b="1" dirty="0">
                <a:solidFill>
                  <a:srgbClr val="444444"/>
                </a:solidFill>
                <a:ea typeface="Arial" pitchFamily="34" charset="-122"/>
                <a:cs typeface="Arial" pitchFamily="34" charset="-120"/>
              </a:rPr>
              <a:t>Metrics: </a:t>
            </a:r>
            <a:r>
              <a:rPr lang="en-US" sz="1400" dirty="0">
                <a:solidFill>
                  <a:srgbClr val="444444"/>
                </a:solidFill>
                <a:ea typeface="Arial" pitchFamily="34" charset="-122"/>
                <a:cs typeface="Arial" pitchFamily="34" charset="-120"/>
              </a:rPr>
              <a:t>MSE (Stat), Sharpe Ratio (Fin), Directional Accuracy (Util).</a:t>
            </a:r>
            <a:endParaRPr lang="en-US" sz="1400" dirty="0"/>
          </a:p>
        </p:txBody>
      </p:sp>
      <p:pic>
        <p:nvPicPr>
          <p:cNvPr id="11" name="תמונה 10">
            <a:hlinkClick r:id="" action="ppaction://hlinkshowjump?jump=nextslide"/>
            <a:extLst>
              <a:ext uri="{FF2B5EF4-FFF2-40B4-BE49-F238E27FC236}">
                <a16:creationId xmlns:a16="http://schemas.microsoft.com/office/drawing/2014/main" id="{B5A6F871-1171-AFC4-D13E-DEAF7C679111}"/>
              </a:ext>
            </a:extLst>
          </p:cNvPr>
          <p:cNvPicPr>
            <a:picLocks noChangeAspect="1"/>
          </p:cNvPicPr>
          <p:nvPr/>
        </p:nvPicPr>
        <p:blipFill>
          <a:blip r:embed="rId4"/>
          <a:stretch>
            <a:fillRect/>
          </a:stretch>
        </p:blipFill>
        <p:spPr>
          <a:xfrm>
            <a:off x="6858446" y="825900"/>
            <a:ext cx="2222054" cy="1097280"/>
          </a:xfrm>
          <a:prstGeom prst="rect">
            <a:avLst/>
          </a:prstGeom>
        </p:spPr>
      </p:pic>
      <p:pic>
        <p:nvPicPr>
          <p:cNvPr id="12" name="תמונה 11">
            <a:hlinkClick r:id="" action="ppaction://hlinkshowjump?jump=firstslide"/>
            <a:extLst>
              <a:ext uri="{FF2B5EF4-FFF2-40B4-BE49-F238E27FC236}">
                <a16:creationId xmlns:a16="http://schemas.microsoft.com/office/drawing/2014/main" id="{61EEC893-990D-97D4-D09D-7B0A05C99606}"/>
              </a:ext>
            </a:extLst>
          </p:cNvPr>
          <p:cNvPicPr>
            <a:picLocks noChangeAspect="1"/>
          </p:cNvPicPr>
          <p:nvPr/>
        </p:nvPicPr>
        <p:blipFill>
          <a:blip r:embed="rId5"/>
          <a:stretch>
            <a:fillRect/>
          </a:stretch>
        </p:blipFill>
        <p:spPr>
          <a:xfrm>
            <a:off x="1300816" y="1130500"/>
            <a:ext cx="5207446" cy="3703852"/>
          </a:xfrm>
          <a:prstGeom prst="rect">
            <a:avLst/>
          </a:prstGeom>
        </p:spPr>
      </p:pic>
      <p:pic>
        <p:nvPicPr>
          <p:cNvPr id="13" name="תמונה 12">
            <a:extLst>
              <a:ext uri="{FF2B5EF4-FFF2-40B4-BE49-F238E27FC236}">
                <a16:creationId xmlns:a16="http://schemas.microsoft.com/office/drawing/2014/main" id="{34AD1803-BEF6-BD33-982D-DA2B710A6C71}"/>
              </a:ext>
            </a:extLst>
          </p:cNvPr>
          <p:cNvPicPr>
            <a:picLocks noChangeAspect="1"/>
          </p:cNvPicPr>
          <p:nvPr/>
        </p:nvPicPr>
        <p:blipFill>
          <a:blip r:embed="rId6"/>
          <a:stretch>
            <a:fillRect/>
          </a:stretch>
        </p:blipFill>
        <p:spPr>
          <a:xfrm>
            <a:off x="6858446" y="3690820"/>
            <a:ext cx="2178538" cy="1167558"/>
          </a:xfrm>
          <a:prstGeom prst="rect">
            <a:avLst/>
          </a:prstGeom>
        </p:spPr>
      </p:pic>
    </p:spTree>
    <p:extLst>
      <p:ext uri="{BB962C8B-B14F-4D97-AF65-F5344CB8AC3E}">
        <p14:creationId xmlns:p14="http://schemas.microsoft.com/office/powerpoint/2010/main" val="1729273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06C920B-D258-6C37-F27D-4A3FDDFF9AA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2B9ADBA-9CE2-1DBC-0924-B117722D2B72}"/>
              </a:ext>
            </a:extLst>
          </p:cNvPr>
          <p:cNvSpPr/>
          <p:nvPr/>
        </p:nvSpPr>
        <p:spPr>
          <a:xfrm>
            <a:off x="869461" y="216100"/>
            <a:ext cx="7405077" cy="914400"/>
          </a:xfrm>
          <a:prstGeom prst="rect">
            <a:avLst/>
          </a:prstGeom>
          <a:noFill/>
          <a:ln/>
        </p:spPr>
        <p:txBody>
          <a:bodyPr wrap="square" rtlCol="0" anchor="ctr"/>
          <a:lstStyle/>
          <a:p>
            <a:pPr algn="ctr"/>
            <a:r>
              <a:rPr lang="en-US" sz="3200" b="1" dirty="0">
                <a:solidFill>
                  <a:srgbClr val="003366"/>
                </a:solidFill>
                <a:ea typeface="Arial" pitchFamily="34" charset="-122"/>
                <a:cs typeface="Arial" pitchFamily="34" charset="-120"/>
              </a:rPr>
              <a:t>Methodology: Formulation, Features &amp; Evaluation</a:t>
            </a:r>
            <a:endParaRPr lang="en-US" sz="3200" dirty="0"/>
          </a:p>
        </p:txBody>
      </p:sp>
      <p:sp>
        <p:nvSpPr>
          <p:cNvPr id="3" name="Text 1">
            <a:extLst>
              <a:ext uri="{FF2B5EF4-FFF2-40B4-BE49-F238E27FC236}">
                <a16:creationId xmlns:a16="http://schemas.microsoft.com/office/drawing/2014/main" id="{84F4B2F9-A78C-E084-EDEB-579C8C2A4ADE}"/>
              </a:ext>
            </a:extLst>
          </p:cNvPr>
          <p:cNvSpPr/>
          <p:nvPr/>
        </p:nvSpPr>
        <p:spPr>
          <a:xfrm>
            <a:off x="457200" y="1313380"/>
            <a:ext cx="8229600" cy="457200"/>
          </a:xfrm>
          <a:prstGeom prst="rect">
            <a:avLst/>
          </a:prstGeom>
          <a:noFill/>
          <a:ln/>
        </p:spPr>
        <p:txBody>
          <a:bodyPr wrap="square" rtlCol="0" anchor="ctr"/>
          <a:lstStyle/>
          <a:p>
            <a:pPr marL="342900" indent="-342900">
              <a:buSzPct val="100000"/>
              <a:buChar char="•"/>
            </a:pPr>
            <a:r>
              <a:rPr lang="en-US" b="1" dirty="0">
                <a:solidFill>
                  <a:srgbClr val="222222"/>
                </a:solidFill>
                <a:ea typeface="Arial" pitchFamily="34" charset="-122"/>
                <a:cs typeface="Arial" pitchFamily="34" charset="-120"/>
              </a:rPr>
              <a:t>Task Definition: Log-Returns Regression</a:t>
            </a:r>
            <a:endParaRPr lang="en-US" dirty="0"/>
          </a:p>
        </p:txBody>
      </p:sp>
      <mc:AlternateContent xmlns:mc="http://schemas.openxmlformats.org/markup-compatibility/2006" xmlns:a14="http://schemas.microsoft.com/office/drawing/2010/main">
        <mc:Choice Requires="a14">
          <p:sp>
            <p:nvSpPr>
              <p:cNvPr id="4" name="Text 2">
                <a:extLst>
                  <a:ext uri="{FF2B5EF4-FFF2-40B4-BE49-F238E27FC236}">
                    <a16:creationId xmlns:a16="http://schemas.microsoft.com/office/drawing/2014/main" id="{2EAE238D-7308-9253-8026-87EBE01BF8F9}"/>
                  </a:ext>
                </a:extLst>
              </p:cNvPr>
              <p:cNvSpPr/>
              <p:nvPr/>
            </p:nvSpPr>
            <p:spPr>
              <a:xfrm>
                <a:off x="914400" y="1541980"/>
                <a:ext cx="7772400" cy="1097280"/>
              </a:xfrm>
              <a:prstGeom prst="rect">
                <a:avLst/>
              </a:prstGeom>
              <a:noFill/>
              <a:ln/>
            </p:spPr>
            <p:txBody>
              <a:bodyPr wrap="square" rtlCol="0" anchor="ctr"/>
              <a:lstStyle/>
              <a:p>
                <a:pPr marL="254000" indent="-254000">
                  <a:lnSpc>
                    <a:spcPts val="2800"/>
                  </a:lnSpc>
                  <a:buSzPct val="100000"/>
                  <a:buChar char="•"/>
                </a:pPr>
                <a:r>
                  <a:rPr lang="en-US" sz="1400" dirty="0">
                    <a:solidFill>
                      <a:srgbClr val="444444"/>
                    </a:solidFill>
                    <a:ea typeface="Arial" pitchFamily="34" charset="-122"/>
                    <a:cs typeface="Arial" pitchFamily="34" charset="-120"/>
                  </a:rPr>
                  <a:t>Shifted from binary classification to </a:t>
                </a:r>
                <a:r>
                  <a:rPr lang="en-US" sz="1400" b="1" dirty="0">
                    <a:solidFill>
                      <a:srgbClr val="444444"/>
                    </a:solidFill>
                    <a:ea typeface="Arial" pitchFamily="34" charset="-122"/>
                    <a:cs typeface="Arial" pitchFamily="34" charset="-120"/>
                  </a:rPr>
                  <a:t>Regression (Daily Log-Returns).</a:t>
                </a:r>
                <a:endParaRPr lang="he-IL" sz="1400" b="1" dirty="0">
                  <a:solidFill>
                    <a:srgbClr val="444444"/>
                  </a:solidFill>
                  <a:ea typeface="Arial" pitchFamily="34" charset="-122"/>
                  <a:cs typeface="Arial" pitchFamily="34" charset="-120"/>
                </a:endParaRPr>
              </a:p>
              <a:p>
                <a:pPr marL="254000" indent="-254000">
                  <a:lnSpc>
                    <a:spcPts val="2800"/>
                  </a:lnSpc>
                  <a:buSzPct val="100000"/>
                  <a:buFontTx/>
                  <a:buChar char="•"/>
                </a:pPr>
                <a:r>
                  <a:rPr lang="en-US" sz="1400" b="1" dirty="0">
                    <a:solidFill>
                      <a:srgbClr val="444444"/>
                    </a:solidFill>
                    <a:ea typeface="Arial" pitchFamily="34" charset="-122"/>
                    <a:cs typeface="Arial" pitchFamily="34" charset="-120"/>
                  </a:rPr>
                  <a:t>Target: </a:t>
                </a:r>
                <a14:m>
                  <m:oMath xmlns:m="http://schemas.openxmlformats.org/officeDocument/2006/math">
                    <m:sSub>
                      <m:sSubPr>
                        <m:ctrlPr>
                          <a:rPr lang="en-US" sz="1400" b="1" i="1" smtClean="0">
                            <a:solidFill>
                              <a:srgbClr val="444444"/>
                            </a:solidFill>
                            <a:latin typeface="Cambria Math" panose="02040503050406030204" pitchFamily="18" charset="0"/>
                            <a:cs typeface="Arial" pitchFamily="34" charset="-120"/>
                          </a:rPr>
                        </m:ctrlPr>
                      </m:sSubPr>
                      <m:e>
                        <m:r>
                          <a:rPr lang="en-US" sz="1400" b="1" i="1" smtClean="0">
                            <a:solidFill>
                              <a:srgbClr val="444444"/>
                            </a:solidFill>
                            <a:latin typeface="Cambria Math" panose="02040503050406030204" pitchFamily="18" charset="0"/>
                            <a:cs typeface="Arial" pitchFamily="34" charset="-120"/>
                          </a:rPr>
                          <m:t>𝒀</m:t>
                        </m:r>
                      </m:e>
                      <m:sub>
                        <m:r>
                          <a:rPr lang="en-US" sz="1400" b="1" i="1" smtClean="0">
                            <a:solidFill>
                              <a:srgbClr val="444444"/>
                            </a:solidFill>
                            <a:latin typeface="Cambria Math" panose="02040503050406030204" pitchFamily="18" charset="0"/>
                            <a:cs typeface="Arial" pitchFamily="34" charset="-120"/>
                          </a:rPr>
                          <m:t>𝒕</m:t>
                        </m:r>
                        <m:r>
                          <a:rPr lang="en-US" sz="1400" b="1" i="1" smtClean="0">
                            <a:solidFill>
                              <a:srgbClr val="444444"/>
                            </a:solidFill>
                            <a:latin typeface="Cambria Math" panose="02040503050406030204" pitchFamily="18" charset="0"/>
                            <a:cs typeface="Arial" pitchFamily="34" charset="-120"/>
                          </a:rPr>
                          <m:t>+</m:t>
                        </m:r>
                        <m:r>
                          <a:rPr lang="en-US" sz="1400" b="1" i="1" smtClean="0">
                            <a:solidFill>
                              <a:srgbClr val="444444"/>
                            </a:solidFill>
                            <a:latin typeface="Cambria Math" panose="02040503050406030204" pitchFamily="18" charset="0"/>
                            <a:cs typeface="Arial" pitchFamily="34" charset="-120"/>
                          </a:rPr>
                          <m:t>𝟏</m:t>
                        </m:r>
                      </m:sub>
                    </m:sSub>
                    <m:r>
                      <a:rPr lang="en-US" sz="1400" b="1" i="1" smtClean="0">
                        <a:solidFill>
                          <a:srgbClr val="444444"/>
                        </a:solidFill>
                        <a:latin typeface="Cambria Math" panose="02040503050406030204" pitchFamily="18" charset="0"/>
                        <a:cs typeface="Arial" pitchFamily="34" charset="-120"/>
                      </a:rPr>
                      <m:t>=</m:t>
                    </m:r>
                    <m:r>
                      <m:rPr>
                        <m:sty m:val="p"/>
                      </m:rPr>
                      <a:rPr lang="en-US" sz="1400" b="1" i="1" smtClean="0">
                        <a:solidFill>
                          <a:srgbClr val="444444"/>
                        </a:solidFill>
                        <a:latin typeface="Cambria Math" panose="02040503050406030204" pitchFamily="18" charset="0"/>
                        <a:cs typeface="Arial" pitchFamily="34" charset="-120"/>
                      </a:rPr>
                      <m:t>ln</m:t>
                    </m:r>
                    <m:r>
                      <a:rPr lang="en-US" sz="1400" b="1" i="1" smtClean="0">
                        <a:solidFill>
                          <a:srgbClr val="444444"/>
                        </a:solidFill>
                        <a:latin typeface="Cambria Math" panose="02040503050406030204" pitchFamily="18" charset="0"/>
                        <a:cs typeface="Arial" pitchFamily="34" charset="-120"/>
                      </a:rPr>
                      <m:t>(</m:t>
                    </m:r>
                    <m:sSub>
                      <m:sSubPr>
                        <m:ctrlPr>
                          <a:rPr lang="en-US" sz="1400" b="1" i="1">
                            <a:solidFill>
                              <a:srgbClr val="444444"/>
                            </a:solidFill>
                            <a:latin typeface="Cambria Math" panose="02040503050406030204" pitchFamily="18" charset="0"/>
                            <a:cs typeface="Arial" pitchFamily="34" charset="-120"/>
                          </a:rPr>
                        </m:ctrlPr>
                      </m:sSubPr>
                      <m:e>
                        <m:r>
                          <m:rPr>
                            <m:sty m:val="p"/>
                          </m:rPr>
                          <a:rPr lang="en-US" sz="1400" b="1" i="1" smtClean="0">
                            <a:solidFill>
                              <a:srgbClr val="444444"/>
                            </a:solidFill>
                            <a:latin typeface="Cambria Math" panose="02040503050406030204" pitchFamily="18" charset="0"/>
                            <a:cs typeface="Arial" pitchFamily="34" charset="-120"/>
                          </a:rPr>
                          <m:t>P</m:t>
                        </m:r>
                      </m:e>
                      <m:sub>
                        <m:r>
                          <a:rPr lang="en-US" sz="1400" b="1" i="1">
                            <a:solidFill>
                              <a:srgbClr val="444444"/>
                            </a:solidFill>
                            <a:latin typeface="Cambria Math" panose="02040503050406030204" pitchFamily="18" charset="0"/>
                            <a:cs typeface="Arial" pitchFamily="34" charset="-120"/>
                          </a:rPr>
                          <m:t>𝒕</m:t>
                        </m:r>
                        <m:r>
                          <a:rPr lang="en-US" sz="1400" b="1" i="1">
                            <a:solidFill>
                              <a:srgbClr val="444444"/>
                            </a:solidFill>
                            <a:latin typeface="Cambria Math" panose="02040503050406030204" pitchFamily="18" charset="0"/>
                            <a:cs typeface="Arial" pitchFamily="34" charset="-120"/>
                          </a:rPr>
                          <m:t>+</m:t>
                        </m:r>
                        <m:r>
                          <a:rPr lang="en-US" sz="1400" b="1" i="1">
                            <a:solidFill>
                              <a:srgbClr val="444444"/>
                            </a:solidFill>
                            <a:latin typeface="Cambria Math" panose="02040503050406030204" pitchFamily="18" charset="0"/>
                            <a:cs typeface="Arial" pitchFamily="34" charset="-120"/>
                          </a:rPr>
                          <m:t>𝟏</m:t>
                        </m:r>
                      </m:sub>
                    </m:sSub>
                    <m:r>
                      <a:rPr lang="en-US" sz="1400" b="1" i="1" smtClean="0">
                        <a:solidFill>
                          <a:srgbClr val="444444"/>
                        </a:solidFill>
                        <a:latin typeface="Cambria Math" panose="02040503050406030204" pitchFamily="18" charset="0"/>
                        <a:cs typeface="Arial" pitchFamily="34" charset="-120"/>
                      </a:rPr>
                      <m:t>) –</m:t>
                    </m:r>
                    <m:r>
                      <m:rPr>
                        <m:sty m:val="p"/>
                      </m:rPr>
                      <a:rPr lang="en-US" sz="1400" b="1" i="1">
                        <a:solidFill>
                          <a:srgbClr val="444444"/>
                        </a:solidFill>
                        <a:latin typeface="Cambria Math" panose="02040503050406030204" pitchFamily="18" charset="0"/>
                        <a:cs typeface="Arial" pitchFamily="34" charset="-120"/>
                      </a:rPr>
                      <m:t>ln</m:t>
                    </m:r>
                    <m:r>
                      <a:rPr lang="en-US" sz="1400" b="1" i="1">
                        <a:solidFill>
                          <a:srgbClr val="444444"/>
                        </a:solidFill>
                        <a:latin typeface="Cambria Math" panose="02040503050406030204" pitchFamily="18" charset="0"/>
                        <a:cs typeface="Arial" pitchFamily="34" charset="-120"/>
                      </a:rPr>
                      <m:t>(</m:t>
                    </m:r>
                    <m:sSub>
                      <m:sSubPr>
                        <m:ctrlPr>
                          <a:rPr lang="en-US" sz="1400" b="1" i="1">
                            <a:solidFill>
                              <a:srgbClr val="444444"/>
                            </a:solidFill>
                            <a:latin typeface="Cambria Math" panose="02040503050406030204" pitchFamily="18" charset="0"/>
                            <a:cs typeface="Arial" pitchFamily="34" charset="-120"/>
                          </a:rPr>
                        </m:ctrlPr>
                      </m:sSubPr>
                      <m:e>
                        <m:r>
                          <m:rPr>
                            <m:sty m:val="p"/>
                          </m:rPr>
                          <a:rPr lang="en-US" sz="1400" b="1" i="1">
                            <a:solidFill>
                              <a:srgbClr val="444444"/>
                            </a:solidFill>
                            <a:latin typeface="Cambria Math" panose="02040503050406030204" pitchFamily="18" charset="0"/>
                            <a:cs typeface="Arial" pitchFamily="34" charset="-120"/>
                          </a:rPr>
                          <m:t>P</m:t>
                        </m:r>
                      </m:e>
                      <m:sub>
                        <m:r>
                          <a:rPr lang="en-US" sz="1400" b="1" i="1">
                            <a:solidFill>
                              <a:srgbClr val="444444"/>
                            </a:solidFill>
                            <a:latin typeface="Cambria Math" panose="02040503050406030204" pitchFamily="18" charset="0"/>
                            <a:cs typeface="Arial" pitchFamily="34" charset="-120"/>
                          </a:rPr>
                          <m:t>𝒕</m:t>
                        </m:r>
                      </m:sub>
                    </m:sSub>
                    <m:r>
                      <a:rPr lang="en-US" sz="1400" b="1" i="1">
                        <a:solidFill>
                          <a:srgbClr val="444444"/>
                        </a:solidFill>
                        <a:latin typeface="Cambria Math" panose="02040503050406030204" pitchFamily="18" charset="0"/>
                        <a:cs typeface="Arial" pitchFamily="34" charset="-120"/>
                      </a:rPr>
                      <m:t>)</m:t>
                    </m:r>
                  </m:oMath>
                </a14:m>
                <a:r>
                  <a:rPr lang="en-US" sz="1400" b="1" dirty="0">
                    <a:solidFill>
                      <a:srgbClr val="444444"/>
                    </a:solidFill>
                    <a:ea typeface="Arial" pitchFamily="34" charset="-122"/>
                    <a:cs typeface="Arial" pitchFamily="34" charset="-120"/>
                  </a:rPr>
                  <a:t> </a:t>
                </a:r>
                <a:r>
                  <a:rPr lang="en-US" sz="1400" dirty="0">
                    <a:solidFill>
                      <a:srgbClr val="444444"/>
                    </a:solidFill>
                    <a:ea typeface="Arial" pitchFamily="34" charset="-122"/>
                    <a:cs typeface="Arial" pitchFamily="34" charset="-120"/>
                  </a:rPr>
                  <a:t>(Stationarity &amp; Magnitude).</a:t>
                </a:r>
              </a:p>
            </p:txBody>
          </p:sp>
        </mc:Choice>
        <mc:Fallback xmlns="">
          <p:sp>
            <p:nvSpPr>
              <p:cNvPr id="4" name="Text 2">
                <a:extLst>
                  <a:ext uri="{FF2B5EF4-FFF2-40B4-BE49-F238E27FC236}">
                    <a16:creationId xmlns:a16="http://schemas.microsoft.com/office/drawing/2014/main" id="{2EAE238D-7308-9253-8026-87EBE01BF8F9}"/>
                  </a:ext>
                </a:extLst>
              </p:cNvPr>
              <p:cNvSpPr>
                <a:spLocks noRot="1" noChangeAspect="1" noMove="1" noResize="1" noEditPoints="1" noAdjustHandles="1" noChangeArrowheads="1" noChangeShapeType="1" noTextEdit="1"/>
              </p:cNvSpPr>
              <p:nvPr/>
            </p:nvSpPr>
            <p:spPr>
              <a:xfrm>
                <a:off x="914400" y="1541980"/>
                <a:ext cx="7772400" cy="1097280"/>
              </a:xfrm>
              <a:prstGeom prst="rect">
                <a:avLst/>
              </a:prstGeom>
              <a:blipFill>
                <a:blip r:embed="rId3"/>
                <a:stretch>
                  <a:fillRect l="-327"/>
                </a:stretch>
              </a:blipFill>
              <a:ln/>
            </p:spPr>
            <p:txBody>
              <a:bodyPr/>
              <a:lstStyle/>
              <a:p>
                <a:r>
                  <a:rPr lang="he-IL">
                    <a:noFill/>
                  </a:rPr>
                  <a:t> </a:t>
                </a:r>
              </a:p>
            </p:txBody>
          </p:sp>
        </mc:Fallback>
      </mc:AlternateContent>
      <p:sp>
        <p:nvSpPr>
          <p:cNvPr id="5" name="Text 3">
            <a:extLst>
              <a:ext uri="{FF2B5EF4-FFF2-40B4-BE49-F238E27FC236}">
                <a16:creationId xmlns:a16="http://schemas.microsoft.com/office/drawing/2014/main" id="{C241D8C5-D500-FDC2-F6CF-70D2842E92EF}"/>
              </a:ext>
            </a:extLst>
          </p:cNvPr>
          <p:cNvSpPr/>
          <p:nvPr/>
        </p:nvSpPr>
        <p:spPr>
          <a:xfrm>
            <a:off x="457200" y="2593540"/>
            <a:ext cx="8229600" cy="457200"/>
          </a:xfrm>
          <a:prstGeom prst="rect">
            <a:avLst/>
          </a:prstGeom>
          <a:noFill/>
          <a:ln/>
        </p:spPr>
        <p:txBody>
          <a:bodyPr wrap="square" rtlCol="0" anchor="ctr"/>
          <a:lstStyle/>
          <a:p>
            <a:pPr marL="342900" indent="-342900">
              <a:buSzPct val="100000"/>
              <a:buChar char="•"/>
            </a:pPr>
            <a:r>
              <a:rPr lang="en-US" b="1" dirty="0">
                <a:solidFill>
                  <a:srgbClr val="222222"/>
                </a:solidFill>
                <a:ea typeface="Arial" pitchFamily="34" charset="-122"/>
                <a:cs typeface="Arial" pitchFamily="34" charset="-120"/>
              </a:rPr>
              <a:t>Feature Space &amp; Input Structure</a:t>
            </a:r>
            <a:endParaRPr lang="en-US" dirty="0"/>
          </a:p>
        </p:txBody>
      </p:sp>
      <p:sp>
        <p:nvSpPr>
          <p:cNvPr id="6" name="Text 4">
            <a:extLst>
              <a:ext uri="{FF2B5EF4-FFF2-40B4-BE49-F238E27FC236}">
                <a16:creationId xmlns:a16="http://schemas.microsoft.com/office/drawing/2014/main" id="{6B3D6D6D-E99B-8CEA-3E00-CD8C02C0EC9A}"/>
              </a:ext>
            </a:extLst>
          </p:cNvPr>
          <p:cNvSpPr/>
          <p:nvPr/>
        </p:nvSpPr>
        <p:spPr>
          <a:xfrm>
            <a:off x="914400" y="2822140"/>
            <a:ext cx="7772400" cy="1097280"/>
          </a:xfrm>
          <a:prstGeom prst="rect">
            <a:avLst/>
          </a:prstGeom>
          <a:noFill/>
          <a:ln/>
        </p:spPr>
        <p:txBody>
          <a:bodyPr wrap="square" rtlCol="0" anchor="ctr"/>
          <a:lstStyle/>
          <a:p>
            <a:pPr marL="254000" indent="-254000">
              <a:lnSpc>
                <a:spcPts val="2400"/>
              </a:lnSpc>
              <a:buSzPct val="100000"/>
              <a:buChar char="•"/>
            </a:pPr>
            <a:r>
              <a:rPr lang="en-US" sz="1400" b="1" dirty="0">
                <a:solidFill>
                  <a:srgbClr val="444444"/>
                </a:solidFill>
                <a:ea typeface="Arial" pitchFamily="34" charset="-122"/>
                <a:cs typeface="Arial" pitchFamily="34" charset="-120"/>
              </a:rPr>
              <a:t>Exogenous: </a:t>
            </a:r>
            <a:r>
              <a:rPr lang="en-US" sz="1400" dirty="0" err="1">
                <a:solidFill>
                  <a:srgbClr val="444444"/>
                </a:solidFill>
                <a:ea typeface="Arial" pitchFamily="34" charset="-122"/>
                <a:cs typeface="Arial" pitchFamily="34" charset="-120"/>
              </a:rPr>
              <a:t>FinBERT</a:t>
            </a:r>
            <a:r>
              <a:rPr lang="en-US" sz="1400" dirty="0">
                <a:solidFill>
                  <a:srgbClr val="444444"/>
                </a:solidFill>
                <a:ea typeface="Arial" pitchFamily="34" charset="-122"/>
                <a:cs typeface="Arial" pitchFamily="34" charset="-120"/>
              </a:rPr>
              <a:t> Sentiment (Stratified) + VIX + Market Index.</a:t>
            </a:r>
            <a:endParaRPr lang="he-IL" sz="1400" dirty="0"/>
          </a:p>
          <a:p>
            <a:pPr marL="254000" indent="-254000">
              <a:lnSpc>
                <a:spcPts val="2400"/>
              </a:lnSpc>
              <a:buSzPct val="100000"/>
              <a:buChar char="•"/>
            </a:pPr>
            <a:r>
              <a:rPr lang="en-US" sz="1400" b="1" dirty="0">
                <a:solidFill>
                  <a:srgbClr val="444444"/>
                </a:solidFill>
                <a:ea typeface="Arial" pitchFamily="34" charset="-122"/>
                <a:cs typeface="Arial" pitchFamily="34" charset="-120"/>
              </a:rPr>
              <a:t>Temporal Logic: </a:t>
            </a:r>
            <a:r>
              <a:rPr lang="en-US" sz="1400" dirty="0">
                <a:solidFill>
                  <a:srgbClr val="444444"/>
                </a:solidFill>
                <a:ea typeface="Arial" pitchFamily="34" charset="-122"/>
                <a:cs typeface="Arial" pitchFamily="34" charset="-120"/>
              </a:rPr>
              <a:t>Lagged Features (Windowing) to capture trends.</a:t>
            </a:r>
            <a:endParaRPr lang="en-US" sz="1400" dirty="0"/>
          </a:p>
          <a:p>
            <a:pPr marL="254000" indent="-254000">
              <a:lnSpc>
                <a:spcPts val="2800"/>
              </a:lnSpc>
              <a:buSzPct val="100000"/>
              <a:buChar char="•"/>
            </a:pPr>
            <a:endParaRPr lang="en-US" sz="1400" dirty="0"/>
          </a:p>
        </p:txBody>
      </p:sp>
      <p:sp>
        <p:nvSpPr>
          <p:cNvPr id="7" name="Text 5">
            <a:extLst>
              <a:ext uri="{FF2B5EF4-FFF2-40B4-BE49-F238E27FC236}">
                <a16:creationId xmlns:a16="http://schemas.microsoft.com/office/drawing/2014/main" id="{6AD814BA-0C17-BCA0-94A1-D06FB5841989}"/>
              </a:ext>
            </a:extLst>
          </p:cNvPr>
          <p:cNvSpPr/>
          <p:nvPr/>
        </p:nvSpPr>
        <p:spPr>
          <a:xfrm>
            <a:off x="457200" y="3690820"/>
            <a:ext cx="8229600" cy="457200"/>
          </a:xfrm>
          <a:prstGeom prst="rect">
            <a:avLst/>
          </a:prstGeom>
          <a:noFill/>
          <a:ln/>
        </p:spPr>
        <p:txBody>
          <a:bodyPr wrap="square" rtlCol="0" anchor="ctr"/>
          <a:lstStyle/>
          <a:p>
            <a:pPr marL="342900" indent="-342900">
              <a:buSzPct val="100000"/>
              <a:buChar char="•"/>
            </a:pPr>
            <a:r>
              <a:rPr lang="en-US" b="1" dirty="0">
                <a:solidFill>
                  <a:srgbClr val="222222"/>
                </a:solidFill>
                <a:ea typeface="Arial" pitchFamily="34" charset="-122"/>
                <a:cs typeface="Arial" pitchFamily="34" charset="-120"/>
              </a:rPr>
              <a:t>Evaluation Strategy</a:t>
            </a:r>
            <a:endParaRPr lang="en-US" dirty="0"/>
          </a:p>
        </p:txBody>
      </p:sp>
      <p:sp>
        <p:nvSpPr>
          <p:cNvPr id="8" name="Text 6">
            <a:extLst>
              <a:ext uri="{FF2B5EF4-FFF2-40B4-BE49-F238E27FC236}">
                <a16:creationId xmlns:a16="http://schemas.microsoft.com/office/drawing/2014/main" id="{DB2A49FA-9526-26FA-940D-067A297BAF83}"/>
              </a:ext>
            </a:extLst>
          </p:cNvPr>
          <p:cNvSpPr/>
          <p:nvPr/>
        </p:nvSpPr>
        <p:spPr>
          <a:xfrm>
            <a:off x="914400" y="4033720"/>
            <a:ext cx="7772400" cy="914400"/>
          </a:xfrm>
          <a:prstGeom prst="rect">
            <a:avLst/>
          </a:prstGeom>
          <a:noFill/>
          <a:ln/>
        </p:spPr>
        <p:txBody>
          <a:bodyPr wrap="square" rtlCol="0" anchor="ctr"/>
          <a:lstStyle/>
          <a:p>
            <a:pPr marL="254000" indent="-254000">
              <a:lnSpc>
                <a:spcPts val="2400"/>
              </a:lnSpc>
              <a:buSzPct val="100000"/>
              <a:buChar char="•"/>
            </a:pPr>
            <a:r>
              <a:rPr lang="en-US" sz="1400" b="1" dirty="0">
                <a:solidFill>
                  <a:srgbClr val="444444"/>
                </a:solidFill>
                <a:ea typeface="Arial" pitchFamily="34" charset="-122"/>
                <a:cs typeface="Arial" pitchFamily="34" charset="-120"/>
              </a:rPr>
              <a:t>Validation: </a:t>
            </a:r>
            <a:r>
              <a:rPr lang="en-US" sz="1400" dirty="0">
                <a:solidFill>
                  <a:srgbClr val="444444"/>
                </a:solidFill>
                <a:ea typeface="Arial" pitchFamily="34" charset="-122"/>
                <a:cs typeface="Arial" pitchFamily="34" charset="-120"/>
              </a:rPr>
              <a:t>Strict Temporal Split (No Look-Ahead Bias).</a:t>
            </a:r>
            <a:endParaRPr lang="he-IL" sz="1400" dirty="0"/>
          </a:p>
          <a:p>
            <a:pPr marL="254000" indent="-254000">
              <a:lnSpc>
                <a:spcPts val="2400"/>
              </a:lnSpc>
              <a:buSzPct val="100000"/>
              <a:buChar char="•"/>
            </a:pPr>
            <a:r>
              <a:rPr lang="en-US" sz="1400" b="1" dirty="0">
                <a:solidFill>
                  <a:srgbClr val="444444"/>
                </a:solidFill>
                <a:ea typeface="Arial" pitchFamily="34" charset="-122"/>
                <a:cs typeface="Arial" pitchFamily="34" charset="-120"/>
              </a:rPr>
              <a:t>Metrics: </a:t>
            </a:r>
            <a:r>
              <a:rPr lang="en-US" sz="1400" dirty="0">
                <a:solidFill>
                  <a:srgbClr val="444444"/>
                </a:solidFill>
                <a:ea typeface="Arial" pitchFamily="34" charset="-122"/>
                <a:cs typeface="Arial" pitchFamily="34" charset="-120"/>
              </a:rPr>
              <a:t>MSE (Stat), Sharpe Ratio (Fin), Directional Accuracy (Util).</a:t>
            </a:r>
            <a:endParaRPr lang="en-US" sz="1400" dirty="0"/>
          </a:p>
        </p:txBody>
      </p:sp>
      <p:pic>
        <p:nvPicPr>
          <p:cNvPr id="11" name="תמונה 10">
            <a:hlinkClick r:id="" action="ppaction://hlinkshowjump?jump=nextslide"/>
            <a:extLst>
              <a:ext uri="{FF2B5EF4-FFF2-40B4-BE49-F238E27FC236}">
                <a16:creationId xmlns:a16="http://schemas.microsoft.com/office/drawing/2014/main" id="{B2C1A89A-CE6F-AD63-5686-A303FF8A504C}"/>
              </a:ext>
            </a:extLst>
          </p:cNvPr>
          <p:cNvPicPr>
            <a:picLocks noChangeAspect="1"/>
          </p:cNvPicPr>
          <p:nvPr/>
        </p:nvPicPr>
        <p:blipFill>
          <a:blip r:embed="rId4"/>
          <a:stretch>
            <a:fillRect/>
          </a:stretch>
        </p:blipFill>
        <p:spPr>
          <a:xfrm>
            <a:off x="6858446" y="825900"/>
            <a:ext cx="2222054" cy="1097280"/>
          </a:xfrm>
          <a:prstGeom prst="rect">
            <a:avLst/>
          </a:prstGeom>
        </p:spPr>
      </p:pic>
      <p:pic>
        <p:nvPicPr>
          <p:cNvPr id="12" name="תמונה 11">
            <a:hlinkClick r:id="rId5" action="ppaction://hlinksldjump"/>
            <a:extLst>
              <a:ext uri="{FF2B5EF4-FFF2-40B4-BE49-F238E27FC236}">
                <a16:creationId xmlns:a16="http://schemas.microsoft.com/office/drawing/2014/main" id="{62632A02-6BEB-4CCA-ADD5-E0E5B5117170}"/>
              </a:ext>
            </a:extLst>
          </p:cNvPr>
          <p:cNvPicPr>
            <a:picLocks noChangeAspect="1"/>
          </p:cNvPicPr>
          <p:nvPr/>
        </p:nvPicPr>
        <p:blipFill>
          <a:blip r:embed="rId6"/>
          <a:stretch>
            <a:fillRect/>
          </a:stretch>
        </p:blipFill>
        <p:spPr>
          <a:xfrm>
            <a:off x="6839884" y="1999180"/>
            <a:ext cx="2197100" cy="1562711"/>
          </a:xfrm>
          <a:prstGeom prst="rect">
            <a:avLst/>
          </a:prstGeom>
        </p:spPr>
      </p:pic>
      <p:pic>
        <p:nvPicPr>
          <p:cNvPr id="13" name="תמונה 12">
            <a:hlinkClick r:id="" action="ppaction://hlinkshowjump?jump=firstslide"/>
            <a:extLst>
              <a:ext uri="{FF2B5EF4-FFF2-40B4-BE49-F238E27FC236}">
                <a16:creationId xmlns:a16="http://schemas.microsoft.com/office/drawing/2014/main" id="{93C5B424-E59E-B87B-BD00-814C7C9A4326}"/>
              </a:ext>
            </a:extLst>
          </p:cNvPr>
          <p:cNvPicPr>
            <a:picLocks noChangeAspect="1"/>
          </p:cNvPicPr>
          <p:nvPr/>
        </p:nvPicPr>
        <p:blipFill>
          <a:blip r:embed="rId7"/>
          <a:stretch>
            <a:fillRect/>
          </a:stretch>
        </p:blipFill>
        <p:spPr>
          <a:xfrm>
            <a:off x="1067023" y="1313380"/>
            <a:ext cx="6871411" cy="3682640"/>
          </a:xfrm>
          <a:prstGeom prst="rect">
            <a:avLst/>
          </a:prstGeom>
        </p:spPr>
      </p:pic>
    </p:spTree>
    <p:extLst>
      <p:ext uri="{BB962C8B-B14F-4D97-AF65-F5344CB8AC3E}">
        <p14:creationId xmlns:p14="http://schemas.microsoft.com/office/powerpoint/2010/main" val="1123073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TotalTime>
  <Words>1047</Words>
  <Application>Microsoft Office PowerPoint</Application>
  <PresentationFormat>‫הצגה על המסך (16:9)</PresentationFormat>
  <Paragraphs>83</Paragraphs>
  <Slides>4</Slides>
  <Notes>4</Notes>
  <HiddenSlides>3</HiddenSlides>
  <MMClips>0</MMClips>
  <ScaleCrop>false</ScaleCrop>
  <HeadingPairs>
    <vt:vector size="6" baseType="variant">
      <vt:variant>
        <vt:lpstr>גופנים בשימוש</vt:lpstr>
      </vt:variant>
      <vt:variant>
        <vt:i4>2</vt:i4>
      </vt:variant>
      <vt:variant>
        <vt:lpstr>ערכת נושא</vt:lpstr>
      </vt:variant>
      <vt:variant>
        <vt:i4>1</vt:i4>
      </vt:variant>
      <vt:variant>
        <vt:lpstr>כותרות שקופיות</vt:lpstr>
      </vt:variant>
      <vt:variant>
        <vt:i4>4</vt:i4>
      </vt:variant>
    </vt:vector>
  </HeadingPairs>
  <TitlesOfParts>
    <vt:vector size="7" baseType="lpstr">
      <vt:lpstr>Arial</vt:lpstr>
      <vt:lpstr>Cambria Math</vt:lpstr>
      <vt:lpstr>Office Theme</vt:lpstr>
      <vt:lpstr>מצגת של PowerPoint‏</vt:lpstr>
      <vt:lpstr>מצגת של PowerPoint‏</vt:lpstr>
      <vt:lpstr>מצגת של PowerPoint‏</vt:lpstr>
      <vt:lpstr>מצגת של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Itay Mutzafi</cp:lastModifiedBy>
  <cp:revision>7</cp:revision>
  <dcterms:created xsi:type="dcterms:W3CDTF">2025-12-12T21:34:42Z</dcterms:created>
  <dcterms:modified xsi:type="dcterms:W3CDTF">2025-12-14T15:57:17Z</dcterms:modified>
</cp:coreProperties>
</file>